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35 seconds · 0:00–0:35
Slide 1 — A valid session is not a human decision
On screen:
A valid session is not a human decision.
Small Countersign wordmark and team names; a simple graphic of learner → AI assistant → Submit inside one logged-in session. Put a question mark at Submit, not a “malicious bot” label.
Say:
“We started with the training use case: a Marine working in a distance-learning portal. Their browser assistant can work inside their logged-in session. To the application, the submission still arrives as the learner. But being logged in does not tell us whether the human confirmed this action. We want AI to help—without quietly removing the human from decisions that matter.”
Transition: “So we put the checkpoint in the application.”
PRODUCTION / EVIDENCE NOTES
Lead with the training use case. The question is fresh confirmation, not identifying a malicious bot. Optional: add presenter names to the small brand area after assigning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35 seconds · 0:35–1:10
Slide 2 — Countersign
On screen:
Countersign
AI where it helps. Humans where it matters.
A clean checkpoint graphic: Action → Human confirmation → Decision record. Highlight the human, not an AI-detection score.
Say:
“A sentry's challenge needs a countersign before someone passes. Our version is a fresh passkey confirmation at a governed action. The app's policy decides where to require it; the server checks the proof before allowing the action and records the decision. We use WebAuthn, the standard behind passkeys. We're not asking the AI vendor to enforce our application's rules.”
Technical note, not slide copy: enrollment and the app's authentication establish the credential/session relationship. Countersign verifies presence and policy-required user verification at action time; it does not independently establish a person's real-world identity.
PRODUCTION / EVIDENCE NOTES
Explain the military countersign meaning once. The human/passkey graphic is conceptual, not a native authenticator dialog.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105 seconds · 1:10–2:55
Slide 3 — Same task. Different boundary.
On screen: a large video/demo region, with labels Governance off and Governance on. End on an enlarged crop of the actual accepted-proof event, not the whole log.
This is the main event. Use the same ChatGPT extension, Chrome profile, demo user, and rehearsed quiz request in both instances. Keep the mode indicator visible. The full sequence is in §5.
Current delivery: introduce this as a recorded demo, then play the completed clip and narrate its four beats. The confirmation shown happened in that recording. The clip takes 75.5 seconds of the 1:45 slot, leaving 29.5 seconds for introduction and wrap; live/hybrid delivery is optional.
Narrate four beats:
1. “Without governance, the assistant completes the quiz submission in the learner's session.” Show the real result; do not claim all assistants or all prompts behave this way.
2. “Now the app requires a human. The assistant can prepare the answers, but submission waits for confirmation.” Let the real prompt/status remain visible briefly.
3. “I confirm. The server verifies a fresh proof bound to this submission, and the action proceeds.”
4. “The record shows the rule, the action, and the verified assertion—not just that someone had a session.” Highlight `human-verified`, the actual assertion ID, and UP/UV evidence if legible.
Landing line: “The important part isn't whether the assistant looks human. It's that the application requires human confirmation.”
Do not suggest the quiz is graded, that presence proves the answers are the learner's work, or that a waiting browser prompt is itself a logged `blocked` HTTP request.
PRODUCTION / EVIDENCE NOTES
RECORDED DEMO — 75.5 seconds, embedded in this slide. In Slide Show, click the video itself to play. Narrate live; the MP4 is intentionally silent. Keep Countersign-demo.mp4 as the standalone fallback. Do not call this a live interaction.
Video clock: 0:00–0:30 governance off; 0:30–1:04.5 governance on; 1:04.5–1:15.5 matching audit. Use the remaining 29.5 seconds of the 1:45 slide allocation for introduction and landing line.
The recordings show the real Chrome ChatGPT extension and native Touch ID UI, not a virtual authenticator. Waiting intervals are trimmed. Governed source 34–56.5 seconds remains contiguous at real time; a spatial zoom changes framing only. The final eight seconds are explicitly a still from this same recording's audit at source time 78 seconds. Session data is cropped out and the credential identifier is visibly masked.
Matching actual assertion: asr_20a3eda1-bc17-4d87-ba58-2e44c966eaf8; UP=true, UV=true, age=6775ms. This verifies participation, not authorship, comprehension, or which finger was used. Native prompt, result, and audit are not substituted from another run. See demo-edit.json, demo-video.json, and recording-session.md.
PowerPoint/Keynote playback on the presenting laptop and the timed rehearsal still need a human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45 seconds · 2:55–3:40
Slide 4 — Participation ≠ authorship
On screen: the headline above a large discussion crop: Own work / AI-assisted → Confirm → Published disclosure. A smaller record inset: Masked → Confirm → Revealed.
Say, about 35 seconds on discussion:
“Touching the sensor doesn't prove who wrote the answer. Our discussion page makes that distinction explicit: disclose ‘Own work’ or ‘AI-assisted,’ then confirm the submission. The post carries the disclosure and verified presence. Composition signals can raise a review flag; they are not an AI-writing verdict. The training content uses a ‘post before you read’ discussion model, so this is a concrete place to make participation more accountable.”
Then, about ten seconds on data:
“Protected records are masked until fresh confirmation, with machine-readable markings. Once revealed, an extension can read them—we don't claim otherwise.”
Use prepared screenshots or a very short clip; do not run two more full live workflows. If showing an AI-written discussion, select AI-assisted. Save contradiction/flag demonstrations for Q&amp;A. Do not portray client telemetry as proof of cheating.
PRODUCTION / EVIDENCE NOTES
The published badges are a real app screenshot from an isolated Chrome virtual-authenticator test. The footer says so. They demonstrate UI and disclosure semantics, NOT a physical Touch ID interaction or a ChatGPT-extension run. The record crop shows synthetic fields withheld by default. Discuss disclosure for ~35s and protected records for ~10s. After reveal, an extension can read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50 seconds · 3:40–4:30
Slide 5 — Add a checkpoint, not a new app
On screen: the diagram in §4, rebuilt as simple editable boxes. Gray is the app you already have; teal/mint is Countersign. Caption: New app or existing app. Client + server integration.
Say:
“The learning portal is our demonstration, not the product boundary. Countersign is intended as reusable instrumentation: a small client script provides the confirmation flow; server-side checks sit before the actions you choose to govern. Your app keeps its sign-in, business logic, and data. Approved policy tells the gate what to require, and the decision goes to the log. A new app can add this from the start; an existing app can add it at selected endpoints.”
Important qualification: “This prototype demonstrates that pattern in Express. It is not yet a zero-change installer for every legacy system.”
The server gate is essential: hiding a button or adding a script alone does not secure a directly callable endpoint. There is no implemented general-purpose governance-injection proxy or packaged cross-framework SDK.
PRODUCTION / EVIDENCE NOTES
All diagram elements are editable PowerPoint text/shapes. Gray/white is the existing app; teal/mint is Countersign. Arrows illustrate the governed action, not every possible request. The server gate is mandatory. Express is the demonstrated implementation; no universal SDK or governance-injection proxy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45 seconds · 4:30–5:15
Slide 6 — AI drafts. People approve.
On screen: App pages → AI draft → Human review → Active policy. Place one tightly cropped, real policy-review rule below the flow, with its rationale/approval control visible.
Say:
“AI is also part of our solution. The generator reads the demo app's pages and forms, drafts rules and rationales within our supported policy schema, and uses Registry-backed vocabulary for content markings. A person reviews the draft before activation. Generation alone never changes the active policy. That helps an application owner start from a concrete proposal rather than an empty policy file. At runtime, the gate checks the approved rules and the cryptographic proof—not an LLM's opinion about who clicked.”
Use a saved draft/review view, not a fresh model call or a live change to the known-good demo policy. Say clearly that the current crawler targets the three demo routes; arbitrary-app discovery is future integration work. The documented policy-generation run used OpenAI; configurable provider support is not evidence of a GovCloud deployment.
PRODUCTION / EVIDENCE NOTES
Policy-review images are separate detail crops of the real current UI. Active and draft policies were identical at capture. No model call and no approval were performed for the capture. This shows the approval interface, not a claim of live generation. Do not change the known-good policy on stage. The current crawler covers three demo routes. Runtime verification does not call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45 seconds · 5:15–6:00
Slide 7 — Training is the starting point
On screen: four simple icons/cards, with a visible separation between Built and Potential applications:
- Built: Training — Confirm submission
- Potential: Finance — Release payment
- Potential: Access — Grant privilege
- Potential: Operations — Authorize production change
Say:
“We focused on training because that was the use case. The same boundary becomes even more consequential when an assistant prepares a payment, a privileged-access change, or a production-system change. Let it do the preparation; require the authorized human's fresh confirmation before the final action. These are future integrations, not deployments we've built. Each would still need its own identity, authorization, approval rules, and safety controls.”
Optional Q&amp;A example, not a fifth card: a clinician confirming a medication order. The checkpoint would not establish clinical correctness or replace clinical safeguards. Prefer the three on-slide examples to avoid turning the pitch into a claim of medical or mission-critical readiness.
PRODUCTION / EVIDENCE NOTES
The training portal is built; finance, access, and operations are POTENTIAL integrations. Fresh confirmation does not replace authorization, separation of duties, domain safety, or comprehension. A medication order can be a Q&amp;A example, but do not imply medical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30 seconds · 6:00–6:30
Slide 8 — Choose one action. Require a countersign.
On screen:
Which action in your application needs a human's confirmation?
Choose one action. Require a countersign.
One strong checkpoint/checkmark visual and the Countersign wordmark. No roadmap grid, invented QR code, funding ask, or promised 90-day deployment.
Close:
“We don't have to choose between useful AI and human control. Countersign makes that boundary explicit: let AI assist, require a human where the action matters, and keep the record. Our challenge to you is simple: pick one consequential action in an application you own. That is where to put the first countersign.”
Stop. Leave this slide up for questions.
PRODUCTION / EVIDENCE NOTES
Close at 6:30 and keep 30 seconds for recovery. Leave this slide visible during the separately allocated three minutes of Q&amp;A. Do not add a funding ask or a deployment commitment.
Q&amp;A REFERENCE
## 8. Three-minute Q&amp;A preparation
Answer the question in the first sentence; target 15–20 seconds, then offer detail. The first three are the most important to rehearse.
| Likely question | Answer |
|---|---|
| Does this stop a student using AI to answer everything? | No. It establishes fresh confirmation at submission, not knowledge or authorship. Discussion adds explicit disclosure and advisory evidence for review. Assessment design still matters; continuous/per-question proctoring is not built. |
| Isn't this just MFA? What's different? | It uses a familiar standard at a different boundary: a selected action, not just login. The challenge is bound server-side to the user/session, action, form data, and disclosure. Policy, integration, and the decision record make that boundary reusable. We are not claiming to have invented WebAuthn. |
| Why should an application owner care? | The app, not whichever assistant happens to be used, decides what requires human confirmation. Start with an action where silent delegation would be unacceptable. |
| Can the agent bypass the page and call the endpoint? | The protected server endpoint still requires a valid, fresh proof. A session cookie or replayed assertion is insufficient. This assumes trusted enrollment, authenticators, and server enforcement—not a compromised endpoint or signing key. |
| What if the human approves without reading? | That remains possible. Confirmation is not comprehension or judgment. Stronger review, transaction display, separation of duties, and domain-specific approvals are additional controls, not claims of this prototype. |
| Can the agent still read the protected record? | Not the withheld fields before a successful reveal. After reveal, a co-resident extension can read them. Markings can inform cooperating tools; endpoint/egress controls are needed for stronger read/exfiltration guarantees. |
| Can this work with a legacy app? | The intended pattern is to add client confirmation and a server gate to selected actions while retaining the app. Express is the demonstrated integration. Other stacks need adapters; we have not built a universal no-change proxy. |
| What exactly does the AI do? | It drafts policy and rationales from the three demo pages/forms within a constrained schema; a human reviews before activation. It does not identify who clicked, prove authorship, or adjudicate submissions at runtime. |
| Where does policy-generation data go? | To the configured provider; the documented policy-generation run used OpenAI with synthetic portal content. Other adapters exist, but a production owner must authorize the model/environment before sending application content. We have not demonstrated a GovCloud deployment. |
| Who is the human? Do you integrate with CAC? | The registered credential is associated with the app's user/session. This prototype uses demo login and passkeys, not CAC/PIV or independent identity proofing. Production enrollment and enterprise identity integration are additional work. |
| What about accessibility or non-biometric users? | WebAuthn supports multiple authenticator and verification methods, including device PINs where supported. The chosen enrollment flow and required UP/UV must be tested for the deployment; we have not validated every device or accessibility path. |
| Is the audit log tamper-proof? | No. The server verifies cryptographic proof and writes decision/evidence metadata to JSONL. The log itself is not signed or hash-chained, and a governance approval is not proof of every downstream business outcome. |
| What would production require next? | Real identity and role-based policy administration; hardened credential/audit storage; security and accessibility review; deployment-specific integration and failure handling. Validate one consequential action first, rather than promising a universal rollout. |
Do not open Q&amp;A by apologizing for the prototype. Describe the precise guarantee, then its boundary. Keep the final slide visible unless a specific question warrants opening a prepared artifact.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video" Target="../media/media-3-2.mp4"/><Relationship Id="rId3" Type="http://schemas.microsoft.com/office/2007/relationships/media" Target="../media/media-3-2.mp4"/><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BCF58A"/>
                </a:solidFill>
                <a:latin typeface="Arial" pitchFamily="34" charset="0"/>
                <a:ea typeface="Arial" pitchFamily="34" charset="-122"/>
                <a:cs typeface="Arial" pitchFamily="34" charset="-120"/>
              </a:rPr>
              <a:t>WHAT / THE TRAINING USE CASE</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2D485A"/>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8CA5B6"/>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8CA5B6"/>
                </a:solidFill>
                <a:latin typeface="Arial" pitchFamily="34" charset="0"/>
                <a:ea typeface="Arial" pitchFamily="34" charset="-122"/>
                <a:cs typeface="Arial" pitchFamily="34" charset="-120"/>
              </a:rPr>
              <a:t>01</a:t>
            </a:r>
            <a:endParaRPr lang="en-US" sz="1000" dirty="0"/>
          </a:p>
        </p:txBody>
      </p:sp>
      <p:sp>
        <p:nvSpPr>
          <p:cNvPr id="7" name="Text 5"/>
          <p:cNvSpPr/>
          <p:nvPr/>
        </p:nvSpPr>
        <p:spPr>
          <a:xfrm>
            <a:off x="685800" y="1261872"/>
            <a:ext cx="10698480" cy="713232"/>
          </a:xfrm>
          <a:prstGeom prst="rect">
            <a:avLst/>
          </a:prstGeom>
          <a:noFill/>
          <a:ln/>
        </p:spPr>
        <p:txBody>
          <a:bodyPr wrap="square" lIns="0" tIns="0" rIns="0" bIns="0" rtlCol="0" anchor="ctr"/>
          <a:lstStyle/>
          <a:p>
            <a:pPr indent="0" marL="0">
              <a:buNone/>
            </a:pPr>
            <a:r>
              <a:rPr lang="en-US" sz="4300" b="1" dirty="0">
                <a:solidFill>
                  <a:srgbClr val="FFFFFF"/>
                </a:solidFill>
                <a:latin typeface="Arial" pitchFamily="34" charset="0"/>
                <a:ea typeface="Arial" pitchFamily="34" charset="-122"/>
                <a:cs typeface="Arial" pitchFamily="34" charset="-120"/>
              </a:rPr>
              <a:t>A valid session is not a</a:t>
            </a:r>
            <a:endParaRPr lang="en-US" sz="4300" dirty="0"/>
          </a:p>
        </p:txBody>
      </p:sp>
      <p:sp>
        <p:nvSpPr>
          <p:cNvPr id="8" name="Text 6"/>
          <p:cNvSpPr/>
          <p:nvPr/>
        </p:nvSpPr>
        <p:spPr>
          <a:xfrm>
            <a:off x="685800" y="1993392"/>
            <a:ext cx="10698480" cy="777240"/>
          </a:xfrm>
          <a:prstGeom prst="rect">
            <a:avLst/>
          </a:prstGeom>
          <a:noFill/>
          <a:ln/>
        </p:spPr>
        <p:txBody>
          <a:bodyPr wrap="square" lIns="0" tIns="0" rIns="0" bIns="0" rtlCol="0" anchor="ctr"/>
          <a:lstStyle/>
          <a:p>
            <a:pPr indent="0" marL="0">
              <a:buNone/>
            </a:pPr>
            <a:r>
              <a:rPr lang="en-US" sz="4800" b="1" dirty="0">
                <a:solidFill>
                  <a:srgbClr val="BCF58A"/>
                </a:solidFill>
                <a:latin typeface="Arial" pitchFamily="34" charset="0"/>
                <a:ea typeface="Arial" pitchFamily="34" charset="-122"/>
                <a:cs typeface="Arial" pitchFamily="34" charset="-120"/>
              </a:rPr>
              <a:t>human decision.</a:t>
            </a:r>
            <a:endParaRPr lang="en-US" sz="4800" dirty="0"/>
          </a:p>
        </p:txBody>
      </p:sp>
      <p:sp>
        <p:nvSpPr>
          <p:cNvPr id="9" name="Shape 7"/>
          <p:cNvSpPr/>
          <p:nvPr/>
        </p:nvSpPr>
        <p:spPr>
          <a:xfrm>
            <a:off x="685800" y="3319272"/>
            <a:ext cx="10826496" cy="2606040"/>
          </a:xfrm>
          <a:prstGeom prst="roundRect">
            <a:avLst>
              <a:gd name="adj" fmla="val 4211"/>
            </a:avLst>
          </a:prstGeom>
          <a:solidFill>
            <a:srgbClr val="17354A"/>
          </a:solidFill>
          <a:ln w="12700">
            <a:solidFill>
              <a:srgbClr val="2A485D"/>
            </a:solidFill>
            <a:prstDash val="solid"/>
          </a:ln>
        </p:spPr>
      </p:sp>
      <p:sp>
        <p:nvSpPr>
          <p:cNvPr id="10" name="Text 8"/>
          <p:cNvSpPr/>
          <p:nvPr/>
        </p:nvSpPr>
        <p:spPr>
          <a:xfrm>
            <a:off x="987552" y="3602736"/>
            <a:ext cx="7315200" cy="201168"/>
          </a:xfrm>
          <a:prstGeom prst="rect">
            <a:avLst/>
          </a:prstGeom>
          <a:noFill/>
          <a:ln/>
        </p:spPr>
        <p:txBody>
          <a:bodyPr wrap="square" lIns="0" tIns="0" rIns="0" bIns="0" rtlCol="0" anchor="ctr"/>
          <a:lstStyle/>
          <a:p>
            <a:pPr indent="0" marL="0">
              <a:buNone/>
            </a:pPr>
            <a:r>
              <a:rPr lang="en-US" sz="1150" b="1" spc="120" kern="0" dirty="0">
                <a:solidFill>
                  <a:srgbClr val="8CA5B6"/>
                </a:solidFill>
                <a:latin typeface="Arial" pitchFamily="34" charset="0"/>
                <a:ea typeface="Arial" pitchFamily="34" charset="-122"/>
                <a:cs typeface="Arial" pitchFamily="34" charset="-120"/>
              </a:rPr>
              <a:t>ONE LOGGED-IN SESSION</a:t>
            </a:r>
            <a:endParaRPr lang="en-US" sz="1150" dirty="0"/>
          </a:p>
        </p:txBody>
      </p:sp>
      <p:sp>
        <p:nvSpPr>
          <p:cNvPr id="11" name="Shape 9"/>
          <p:cNvSpPr/>
          <p:nvPr/>
        </p:nvSpPr>
        <p:spPr>
          <a:xfrm>
            <a:off x="3456432" y="4636008"/>
            <a:ext cx="1344168" cy="0"/>
          </a:xfrm>
          <a:prstGeom prst="line">
            <a:avLst/>
          </a:prstGeom>
          <a:noFill/>
          <a:ln w="27940">
            <a:solidFill>
              <a:srgbClr val="8CA5B6"/>
            </a:solidFill>
            <a:prstDash val="solid"/>
            <a:tailEnd type="triangle"/>
          </a:ln>
        </p:spPr>
      </p:sp>
      <p:sp>
        <p:nvSpPr>
          <p:cNvPr id="12" name="Shape 10"/>
          <p:cNvSpPr/>
          <p:nvPr/>
        </p:nvSpPr>
        <p:spPr>
          <a:xfrm>
            <a:off x="7132320" y="4636008"/>
            <a:ext cx="1353312" cy="0"/>
          </a:xfrm>
          <a:prstGeom prst="line">
            <a:avLst/>
          </a:prstGeom>
          <a:noFill/>
          <a:ln w="27940">
            <a:solidFill>
              <a:srgbClr val="8CA5B6"/>
            </a:solidFill>
            <a:prstDash val="solid"/>
            <a:tailEnd type="triangle"/>
          </a:ln>
        </p:spPr>
      </p:sp>
      <p:sp>
        <p:nvSpPr>
          <p:cNvPr id="13" name="Shape 11"/>
          <p:cNvSpPr/>
          <p:nvPr/>
        </p:nvSpPr>
        <p:spPr>
          <a:xfrm>
            <a:off x="2100377" y="4129430"/>
            <a:ext cx="279806" cy="279806"/>
          </a:xfrm>
          <a:prstGeom prst="ellipse">
            <a:avLst/>
          </a:prstGeom>
          <a:solidFill>
            <a:srgbClr val="17354A"/>
          </a:solidFill>
          <a:ln w="25400">
            <a:solidFill>
              <a:srgbClr val="FFFFFF"/>
            </a:solidFill>
            <a:prstDash val="solid"/>
          </a:ln>
        </p:spPr>
      </p:sp>
      <p:sp>
        <p:nvSpPr>
          <p:cNvPr id="14" name="Shape 12"/>
          <p:cNvSpPr/>
          <p:nvPr/>
        </p:nvSpPr>
        <p:spPr>
          <a:xfrm flipV="1">
            <a:off x="1944014" y="4705502"/>
            <a:ext cx="0" cy="139903"/>
          </a:xfrm>
          <a:prstGeom prst="line">
            <a:avLst/>
          </a:prstGeom>
          <a:noFill/>
          <a:ln w="25400">
            <a:solidFill>
              <a:srgbClr val="FFFFFF"/>
            </a:solidFill>
            <a:prstDash val="solid"/>
          </a:ln>
        </p:spPr>
      </p:sp>
      <p:sp>
        <p:nvSpPr>
          <p:cNvPr id="15" name="Shape 13"/>
          <p:cNvSpPr/>
          <p:nvPr/>
        </p:nvSpPr>
        <p:spPr>
          <a:xfrm flipV="1">
            <a:off x="1944014" y="4549140"/>
            <a:ext cx="139903" cy="156362"/>
          </a:xfrm>
          <a:prstGeom prst="line">
            <a:avLst/>
          </a:prstGeom>
          <a:noFill/>
          <a:ln w="25400">
            <a:solidFill>
              <a:srgbClr val="FFFFFF"/>
            </a:solidFill>
            <a:prstDash val="solid"/>
          </a:ln>
        </p:spPr>
      </p:sp>
      <p:sp>
        <p:nvSpPr>
          <p:cNvPr id="16" name="Shape 14"/>
          <p:cNvSpPr/>
          <p:nvPr/>
        </p:nvSpPr>
        <p:spPr>
          <a:xfrm>
            <a:off x="2083918" y="4549140"/>
            <a:ext cx="312725" cy="0"/>
          </a:xfrm>
          <a:prstGeom prst="line">
            <a:avLst/>
          </a:prstGeom>
          <a:noFill/>
          <a:ln w="25400">
            <a:solidFill>
              <a:srgbClr val="FFFFFF"/>
            </a:solidFill>
            <a:prstDash val="solid"/>
          </a:ln>
        </p:spPr>
      </p:sp>
      <p:sp>
        <p:nvSpPr>
          <p:cNvPr id="17" name="Shape 15"/>
          <p:cNvSpPr/>
          <p:nvPr/>
        </p:nvSpPr>
        <p:spPr>
          <a:xfrm>
            <a:off x="2396642" y="4549140"/>
            <a:ext cx="139903" cy="156362"/>
          </a:xfrm>
          <a:prstGeom prst="line">
            <a:avLst/>
          </a:prstGeom>
          <a:noFill/>
          <a:ln w="25400">
            <a:solidFill>
              <a:srgbClr val="FFFFFF"/>
            </a:solidFill>
            <a:prstDash val="solid"/>
          </a:ln>
        </p:spPr>
      </p:sp>
      <p:sp>
        <p:nvSpPr>
          <p:cNvPr id="18" name="Shape 16"/>
          <p:cNvSpPr/>
          <p:nvPr/>
        </p:nvSpPr>
        <p:spPr>
          <a:xfrm>
            <a:off x="2536546" y="4705502"/>
            <a:ext cx="0" cy="139903"/>
          </a:xfrm>
          <a:prstGeom prst="line">
            <a:avLst/>
          </a:prstGeom>
          <a:noFill/>
          <a:ln w="25400">
            <a:solidFill>
              <a:srgbClr val="FFFFFF"/>
            </a:solidFill>
            <a:prstDash val="solid"/>
          </a:ln>
        </p:spPr>
      </p:sp>
      <p:sp>
        <p:nvSpPr>
          <p:cNvPr id="19" name="Text 17"/>
          <p:cNvSpPr/>
          <p:nvPr/>
        </p:nvSpPr>
        <p:spPr>
          <a:xfrm>
            <a:off x="1252728" y="5166360"/>
            <a:ext cx="1984248" cy="338328"/>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Learner</a:t>
            </a:r>
            <a:endParaRPr lang="en-US" sz="2100" dirty="0"/>
          </a:p>
        </p:txBody>
      </p:sp>
      <p:sp>
        <p:nvSpPr>
          <p:cNvPr id="20" name="Shape 18"/>
          <p:cNvSpPr/>
          <p:nvPr/>
        </p:nvSpPr>
        <p:spPr>
          <a:xfrm>
            <a:off x="5916168" y="4129430"/>
            <a:ext cx="98755" cy="263347"/>
          </a:xfrm>
          <a:prstGeom prst="line">
            <a:avLst/>
          </a:prstGeom>
          <a:noFill/>
          <a:ln w="25400">
            <a:solidFill>
              <a:srgbClr val="FFFFFF"/>
            </a:solidFill>
            <a:prstDash val="solid"/>
          </a:ln>
        </p:spPr>
      </p:sp>
      <p:sp>
        <p:nvSpPr>
          <p:cNvPr id="21" name="Shape 19"/>
          <p:cNvSpPr/>
          <p:nvPr/>
        </p:nvSpPr>
        <p:spPr>
          <a:xfrm>
            <a:off x="6014923" y="4392778"/>
            <a:ext cx="263347" cy="98755"/>
          </a:xfrm>
          <a:prstGeom prst="line">
            <a:avLst/>
          </a:prstGeom>
          <a:noFill/>
          <a:ln w="25400">
            <a:solidFill>
              <a:srgbClr val="FFFFFF"/>
            </a:solidFill>
            <a:prstDash val="solid"/>
          </a:ln>
        </p:spPr>
      </p:sp>
      <p:sp>
        <p:nvSpPr>
          <p:cNvPr id="22" name="Shape 20"/>
          <p:cNvSpPr/>
          <p:nvPr/>
        </p:nvSpPr>
        <p:spPr>
          <a:xfrm flipH="1">
            <a:off x="6014923" y="4491533"/>
            <a:ext cx="263347" cy="98755"/>
          </a:xfrm>
          <a:prstGeom prst="line">
            <a:avLst/>
          </a:prstGeom>
          <a:noFill/>
          <a:ln w="25400">
            <a:solidFill>
              <a:srgbClr val="FFFFFF"/>
            </a:solidFill>
            <a:prstDash val="solid"/>
          </a:ln>
        </p:spPr>
      </p:sp>
      <p:sp>
        <p:nvSpPr>
          <p:cNvPr id="23" name="Shape 21"/>
          <p:cNvSpPr/>
          <p:nvPr/>
        </p:nvSpPr>
        <p:spPr>
          <a:xfrm flipH="1">
            <a:off x="5916168" y="4590288"/>
            <a:ext cx="98755" cy="271577"/>
          </a:xfrm>
          <a:prstGeom prst="line">
            <a:avLst/>
          </a:prstGeom>
          <a:noFill/>
          <a:ln w="25400">
            <a:solidFill>
              <a:srgbClr val="FFFFFF"/>
            </a:solidFill>
            <a:prstDash val="solid"/>
          </a:ln>
        </p:spPr>
      </p:sp>
      <p:sp>
        <p:nvSpPr>
          <p:cNvPr id="24" name="Shape 22"/>
          <p:cNvSpPr/>
          <p:nvPr/>
        </p:nvSpPr>
        <p:spPr>
          <a:xfrm flipH="1" flipV="1">
            <a:off x="5817413" y="4590288"/>
            <a:ext cx="98755" cy="271577"/>
          </a:xfrm>
          <a:prstGeom prst="line">
            <a:avLst/>
          </a:prstGeom>
          <a:noFill/>
          <a:ln w="25400">
            <a:solidFill>
              <a:srgbClr val="FFFFFF"/>
            </a:solidFill>
            <a:prstDash val="solid"/>
          </a:ln>
        </p:spPr>
      </p:sp>
      <p:sp>
        <p:nvSpPr>
          <p:cNvPr id="25" name="Shape 23"/>
          <p:cNvSpPr/>
          <p:nvPr/>
        </p:nvSpPr>
        <p:spPr>
          <a:xfrm flipH="1" flipV="1">
            <a:off x="5554066" y="4491533"/>
            <a:ext cx="263347" cy="98755"/>
          </a:xfrm>
          <a:prstGeom prst="line">
            <a:avLst/>
          </a:prstGeom>
          <a:noFill/>
          <a:ln w="25400">
            <a:solidFill>
              <a:srgbClr val="FFFFFF"/>
            </a:solidFill>
            <a:prstDash val="solid"/>
          </a:ln>
        </p:spPr>
      </p:sp>
      <p:sp>
        <p:nvSpPr>
          <p:cNvPr id="26" name="Shape 24"/>
          <p:cNvSpPr/>
          <p:nvPr/>
        </p:nvSpPr>
        <p:spPr>
          <a:xfrm flipV="1">
            <a:off x="5554066" y="4392778"/>
            <a:ext cx="263347" cy="98755"/>
          </a:xfrm>
          <a:prstGeom prst="line">
            <a:avLst/>
          </a:prstGeom>
          <a:noFill/>
          <a:ln w="25400">
            <a:solidFill>
              <a:srgbClr val="FFFFFF"/>
            </a:solidFill>
            <a:prstDash val="solid"/>
          </a:ln>
        </p:spPr>
      </p:sp>
      <p:sp>
        <p:nvSpPr>
          <p:cNvPr id="27" name="Shape 25"/>
          <p:cNvSpPr/>
          <p:nvPr/>
        </p:nvSpPr>
        <p:spPr>
          <a:xfrm flipV="1">
            <a:off x="5817413" y="4129430"/>
            <a:ext cx="98755" cy="263347"/>
          </a:xfrm>
          <a:prstGeom prst="line">
            <a:avLst/>
          </a:prstGeom>
          <a:noFill/>
          <a:ln w="25400">
            <a:solidFill>
              <a:srgbClr val="FFFFFF"/>
            </a:solidFill>
            <a:prstDash val="solid"/>
          </a:ln>
        </p:spPr>
      </p:sp>
      <p:sp>
        <p:nvSpPr>
          <p:cNvPr id="28" name="Text 26"/>
          <p:cNvSpPr/>
          <p:nvPr/>
        </p:nvSpPr>
        <p:spPr>
          <a:xfrm>
            <a:off x="4928616" y="5166360"/>
            <a:ext cx="1984248" cy="338328"/>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AI assistant</a:t>
            </a:r>
            <a:endParaRPr lang="en-US" sz="2100" dirty="0"/>
          </a:p>
        </p:txBody>
      </p:sp>
      <p:sp>
        <p:nvSpPr>
          <p:cNvPr id="29" name="Shape 27"/>
          <p:cNvSpPr/>
          <p:nvPr/>
        </p:nvSpPr>
        <p:spPr>
          <a:xfrm>
            <a:off x="9320479" y="4145890"/>
            <a:ext cx="543154" cy="707746"/>
          </a:xfrm>
          <a:prstGeom prst="roundRect">
            <a:avLst>
              <a:gd name="adj" fmla="val 20202"/>
            </a:avLst>
          </a:prstGeom>
          <a:solidFill>
            <a:srgbClr val="17354A"/>
          </a:solidFill>
          <a:ln w="25400">
            <a:solidFill>
              <a:srgbClr val="F6C66C"/>
            </a:solidFill>
            <a:prstDash val="solid"/>
          </a:ln>
        </p:spPr>
      </p:sp>
      <p:sp>
        <p:nvSpPr>
          <p:cNvPr id="30" name="Shape 28"/>
          <p:cNvSpPr/>
          <p:nvPr/>
        </p:nvSpPr>
        <p:spPr>
          <a:xfrm>
            <a:off x="9435694" y="4343400"/>
            <a:ext cx="304495" cy="0"/>
          </a:xfrm>
          <a:prstGeom prst="line">
            <a:avLst/>
          </a:prstGeom>
          <a:noFill/>
          <a:ln w="25400">
            <a:solidFill>
              <a:srgbClr val="F6C66C"/>
            </a:solidFill>
            <a:prstDash val="solid"/>
          </a:ln>
        </p:spPr>
      </p:sp>
      <p:sp>
        <p:nvSpPr>
          <p:cNvPr id="31" name="Shape 29"/>
          <p:cNvSpPr/>
          <p:nvPr/>
        </p:nvSpPr>
        <p:spPr>
          <a:xfrm>
            <a:off x="9435694" y="4499762"/>
            <a:ext cx="304495" cy="0"/>
          </a:xfrm>
          <a:prstGeom prst="line">
            <a:avLst/>
          </a:prstGeom>
          <a:noFill/>
          <a:ln w="25400">
            <a:solidFill>
              <a:srgbClr val="F6C66C"/>
            </a:solidFill>
            <a:prstDash val="solid"/>
          </a:ln>
        </p:spPr>
      </p:sp>
      <p:sp>
        <p:nvSpPr>
          <p:cNvPr id="32" name="Shape 30"/>
          <p:cNvSpPr/>
          <p:nvPr/>
        </p:nvSpPr>
        <p:spPr>
          <a:xfrm>
            <a:off x="9435694" y="4656125"/>
            <a:ext cx="304495" cy="0"/>
          </a:xfrm>
          <a:prstGeom prst="line">
            <a:avLst/>
          </a:prstGeom>
          <a:noFill/>
          <a:ln w="25400">
            <a:solidFill>
              <a:srgbClr val="F6C66C"/>
            </a:solidFill>
            <a:prstDash val="solid"/>
          </a:ln>
        </p:spPr>
      </p:sp>
      <p:sp>
        <p:nvSpPr>
          <p:cNvPr id="33" name="Text 31"/>
          <p:cNvSpPr/>
          <p:nvPr/>
        </p:nvSpPr>
        <p:spPr>
          <a:xfrm>
            <a:off x="8604504" y="5166360"/>
            <a:ext cx="1984248" cy="338328"/>
          </a:xfrm>
          <a:prstGeom prst="rect">
            <a:avLst/>
          </a:prstGeom>
          <a:noFill/>
          <a:ln/>
        </p:spPr>
        <p:txBody>
          <a:bodyPr wrap="square" lIns="0" tIns="0" rIns="0" bIns="0" rtlCol="0" anchor="ctr"/>
          <a:lstStyle/>
          <a:p>
            <a:pPr algn="ctr" indent="0" marL="0">
              <a:buNone/>
            </a:pPr>
            <a:r>
              <a:rPr lang="en-US" sz="2100" b="1" dirty="0">
                <a:solidFill>
                  <a:srgbClr val="F6C66C"/>
                </a:solidFill>
                <a:latin typeface="Arial" pitchFamily="34" charset="0"/>
                <a:ea typeface="Arial" pitchFamily="34" charset="-122"/>
                <a:cs typeface="Arial" pitchFamily="34" charset="-120"/>
              </a:rPr>
              <a:t>Submit</a:t>
            </a:r>
            <a:endParaRPr lang="en-US" sz="2100" dirty="0"/>
          </a:p>
        </p:txBody>
      </p:sp>
      <p:sp>
        <p:nvSpPr>
          <p:cNvPr id="34" name="Shape 32"/>
          <p:cNvSpPr/>
          <p:nvPr/>
        </p:nvSpPr>
        <p:spPr>
          <a:xfrm>
            <a:off x="10405872" y="3968496"/>
            <a:ext cx="411480" cy="411480"/>
          </a:xfrm>
          <a:prstGeom prst="ellipse">
            <a:avLst/>
          </a:prstGeom>
          <a:solidFill>
            <a:srgbClr val="F6C66C"/>
          </a:solidFill>
          <a:ln w="12700">
            <a:solidFill>
              <a:srgbClr val="F6C66C"/>
            </a:solidFill>
            <a:prstDash val="solid"/>
          </a:ln>
        </p:spPr>
      </p:sp>
      <p:sp>
        <p:nvSpPr>
          <p:cNvPr id="35" name="Text 33"/>
          <p:cNvSpPr/>
          <p:nvPr/>
        </p:nvSpPr>
        <p:spPr>
          <a:xfrm>
            <a:off x="10415016" y="3986784"/>
            <a:ext cx="393192" cy="347472"/>
          </a:xfrm>
          <a:prstGeom prst="rect">
            <a:avLst/>
          </a:prstGeom>
          <a:noFill/>
          <a:ln/>
        </p:spPr>
        <p:txBody>
          <a:bodyPr wrap="square" lIns="0" tIns="0" rIns="0" bIns="0" rtlCol="0" anchor="ctr"/>
          <a:lstStyle/>
          <a:p>
            <a:pPr algn="ctr" indent="0" marL="0">
              <a:buNone/>
            </a:pPr>
            <a:r>
              <a:rPr lang="en-US" sz="1900" b="1" dirty="0">
                <a:solidFill>
                  <a:srgbClr val="10243A"/>
                </a:solidFill>
                <a:latin typeface="Arial" pitchFamily="34" charset="0"/>
                <a:ea typeface="Arial" pitchFamily="34" charset="-122"/>
                <a:cs typeface="Arial" pitchFamily="34" charset="-120"/>
              </a:rPr>
              <a:t>?</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006D68"/>
                </a:solidFill>
                <a:latin typeface="Arial" pitchFamily="34" charset="0"/>
                <a:ea typeface="Arial" pitchFamily="34" charset="-122"/>
                <a:cs typeface="Arial" pitchFamily="34" charset="-120"/>
              </a:rPr>
              <a:t>WHAT / THE HUMAN CHECKPOINT</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10243A"/>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DCE4EE"/>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54647B"/>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54647B"/>
                </a:solidFill>
                <a:latin typeface="Arial" pitchFamily="34" charset="0"/>
                <a:ea typeface="Arial" pitchFamily="34" charset="-122"/>
                <a:cs typeface="Arial" pitchFamily="34" charset="-120"/>
              </a:rPr>
              <a:t>02</a:t>
            </a:r>
            <a:endParaRPr lang="en-US" sz="1000" dirty="0"/>
          </a:p>
        </p:txBody>
      </p:sp>
      <p:sp>
        <p:nvSpPr>
          <p:cNvPr id="7" name="Text 5"/>
          <p:cNvSpPr/>
          <p:nvPr/>
        </p:nvSpPr>
        <p:spPr>
          <a:xfrm>
            <a:off x="667512" y="914400"/>
            <a:ext cx="9601200" cy="758952"/>
          </a:xfrm>
          <a:prstGeom prst="rect">
            <a:avLst/>
          </a:prstGeom>
          <a:noFill/>
          <a:ln/>
        </p:spPr>
        <p:txBody>
          <a:bodyPr wrap="square" lIns="0" tIns="0" rIns="0" bIns="0" rtlCol="0" anchor="ctr"/>
          <a:lstStyle/>
          <a:p>
            <a:pPr indent="0" marL="0">
              <a:buNone/>
            </a:pPr>
            <a:r>
              <a:rPr lang="en-US" sz="4900" b="1" dirty="0">
                <a:solidFill>
                  <a:srgbClr val="10243A"/>
                </a:solidFill>
                <a:latin typeface="Arial" pitchFamily="34" charset="0"/>
                <a:ea typeface="Arial" pitchFamily="34" charset="-122"/>
                <a:cs typeface="Arial" pitchFamily="34" charset="-120"/>
              </a:rPr>
              <a:t>Countersign.</a:t>
            </a:r>
            <a:endParaRPr lang="en-US" sz="4900" dirty="0"/>
          </a:p>
        </p:txBody>
      </p:sp>
      <p:sp>
        <p:nvSpPr>
          <p:cNvPr id="8" name="Text 6"/>
          <p:cNvSpPr/>
          <p:nvPr/>
        </p:nvSpPr>
        <p:spPr>
          <a:xfrm>
            <a:off x="694944" y="1874520"/>
            <a:ext cx="10607040" cy="438912"/>
          </a:xfrm>
          <a:prstGeom prst="rect">
            <a:avLst/>
          </a:prstGeom>
          <a:noFill/>
          <a:ln/>
        </p:spPr>
        <p:txBody>
          <a:bodyPr wrap="square" lIns="0" tIns="0" rIns="0" bIns="0" rtlCol="0" anchor="ctr"/>
          <a:lstStyle/>
          <a:p>
            <a:pPr indent="0" marL="0">
              <a:buNone/>
            </a:pPr>
            <a:r>
              <a:rPr lang="en-US" sz="2500" dirty="0">
                <a:solidFill>
                  <a:srgbClr val="006D68"/>
                </a:solidFill>
                <a:latin typeface="Arial" pitchFamily="34" charset="0"/>
                <a:ea typeface="Arial" pitchFamily="34" charset="-122"/>
                <a:cs typeface="Arial" pitchFamily="34" charset="-120"/>
              </a:rPr>
              <a:t>AI where it helps. Humans where it matters.</a:t>
            </a:r>
            <a:endParaRPr lang="en-US" sz="2500" dirty="0"/>
          </a:p>
        </p:txBody>
      </p:sp>
      <p:sp>
        <p:nvSpPr>
          <p:cNvPr id="9" name="Shape 7"/>
          <p:cNvSpPr/>
          <p:nvPr/>
        </p:nvSpPr>
        <p:spPr>
          <a:xfrm>
            <a:off x="3374136" y="4160520"/>
            <a:ext cx="978408" cy="0"/>
          </a:xfrm>
          <a:prstGeom prst="line">
            <a:avLst/>
          </a:prstGeom>
          <a:noFill/>
          <a:ln w="30480">
            <a:solidFill>
              <a:srgbClr val="006D68"/>
            </a:solidFill>
            <a:prstDash val="solid"/>
            <a:tailEnd type="triangle"/>
          </a:ln>
        </p:spPr>
      </p:sp>
      <p:sp>
        <p:nvSpPr>
          <p:cNvPr id="10" name="Shape 8"/>
          <p:cNvSpPr/>
          <p:nvPr/>
        </p:nvSpPr>
        <p:spPr>
          <a:xfrm>
            <a:off x="7818120" y="4160520"/>
            <a:ext cx="914400" cy="0"/>
          </a:xfrm>
          <a:prstGeom prst="line">
            <a:avLst/>
          </a:prstGeom>
          <a:noFill/>
          <a:ln w="30480">
            <a:solidFill>
              <a:srgbClr val="006D68"/>
            </a:solidFill>
            <a:prstDash val="solid"/>
            <a:tailEnd type="triangle"/>
          </a:ln>
        </p:spPr>
      </p:sp>
      <p:sp>
        <p:nvSpPr>
          <p:cNvPr id="11" name="Shape 9"/>
          <p:cNvSpPr/>
          <p:nvPr/>
        </p:nvSpPr>
        <p:spPr>
          <a:xfrm>
            <a:off x="704088" y="3319272"/>
            <a:ext cx="2697480" cy="1746504"/>
          </a:xfrm>
          <a:prstGeom prst="roundRect">
            <a:avLst>
              <a:gd name="adj" fmla="val 6283"/>
            </a:avLst>
          </a:prstGeom>
          <a:solidFill>
            <a:srgbClr val="FFFFFF"/>
          </a:solidFill>
          <a:ln w="12700">
            <a:solidFill>
              <a:srgbClr val="DCE4EE"/>
            </a:solidFill>
            <a:prstDash val="solid"/>
          </a:ln>
        </p:spPr>
      </p:sp>
      <p:sp>
        <p:nvSpPr>
          <p:cNvPr id="12" name="Shape 10"/>
          <p:cNvSpPr/>
          <p:nvPr/>
        </p:nvSpPr>
        <p:spPr>
          <a:xfrm>
            <a:off x="4416552" y="2862072"/>
            <a:ext cx="3374136" cy="2651760"/>
          </a:xfrm>
          <a:prstGeom prst="roundRect">
            <a:avLst>
              <a:gd name="adj" fmla="val 4138"/>
            </a:avLst>
          </a:prstGeom>
          <a:solidFill>
            <a:srgbClr val="BCF58A"/>
          </a:solidFill>
          <a:ln w="12700">
            <a:solidFill>
              <a:srgbClr val="BCF58A"/>
            </a:solidFill>
            <a:prstDash val="solid"/>
          </a:ln>
        </p:spPr>
      </p:sp>
      <p:sp>
        <p:nvSpPr>
          <p:cNvPr id="13" name="Shape 11"/>
          <p:cNvSpPr/>
          <p:nvPr/>
        </p:nvSpPr>
        <p:spPr>
          <a:xfrm>
            <a:off x="8805672" y="3319272"/>
            <a:ext cx="2697480" cy="1746504"/>
          </a:xfrm>
          <a:prstGeom prst="roundRect">
            <a:avLst>
              <a:gd name="adj" fmla="val 6283"/>
            </a:avLst>
          </a:prstGeom>
          <a:solidFill>
            <a:srgbClr val="FFFFFF"/>
          </a:solidFill>
          <a:ln w="12700">
            <a:solidFill>
              <a:srgbClr val="DCE4EE"/>
            </a:solidFill>
            <a:prstDash val="solid"/>
          </a:ln>
        </p:spPr>
      </p:sp>
      <p:sp>
        <p:nvSpPr>
          <p:cNvPr id="14" name="Shape 12"/>
          <p:cNvSpPr/>
          <p:nvPr/>
        </p:nvSpPr>
        <p:spPr>
          <a:xfrm>
            <a:off x="1788384" y="3652479"/>
            <a:ext cx="446593" cy="581924"/>
          </a:xfrm>
          <a:prstGeom prst="roundRect">
            <a:avLst>
              <a:gd name="adj" fmla="val 24570"/>
            </a:avLst>
          </a:prstGeom>
          <a:solidFill>
            <a:srgbClr val="FFFFFF"/>
          </a:solidFill>
          <a:ln w="25400">
            <a:solidFill>
              <a:srgbClr val="006D68"/>
            </a:solidFill>
            <a:prstDash val="solid"/>
          </a:ln>
        </p:spPr>
      </p:sp>
      <p:sp>
        <p:nvSpPr>
          <p:cNvPr id="15" name="Shape 13"/>
          <p:cNvSpPr/>
          <p:nvPr/>
        </p:nvSpPr>
        <p:spPr>
          <a:xfrm>
            <a:off x="1883115" y="3814877"/>
            <a:ext cx="250363" cy="0"/>
          </a:xfrm>
          <a:prstGeom prst="line">
            <a:avLst/>
          </a:prstGeom>
          <a:noFill/>
          <a:ln w="25400">
            <a:solidFill>
              <a:srgbClr val="006D68"/>
            </a:solidFill>
            <a:prstDash val="solid"/>
          </a:ln>
        </p:spPr>
      </p:sp>
      <p:sp>
        <p:nvSpPr>
          <p:cNvPr id="16" name="Shape 14"/>
          <p:cNvSpPr/>
          <p:nvPr/>
        </p:nvSpPr>
        <p:spPr>
          <a:xfrm>
            <a:off x="1883115" y="3943441"/>
            <a:ext cx="250363" cy="0"/>
          </a:xfrm>
          <a:prstGeom prst="line">
            <a:avLst/>
          </a:prstGeom>
          <a:noFill/>
          <a:ln w="25400">
            <a:solidFill>
              <a:srgbClr val="006D68"/>
            </a:solidFill>
            <a:prstDash val="solid"/>
          </a:ln>
        </p:spPr>
      </p:sp>
      <p:sp>
        <p:nvSpPr>
          <p:cNvPr id="17" name="Shape 15"/>
          <p:cNvSpPr/>
          <p:nvPr/>
        </p:nvSpPr>
        <p:spPr>
          <a:xfrm>
            <a:off x="1883115" y="4072006"/>
            <a:ext cx="250363" cy="0"/>
          </a:xfrm>
          <a:prstGeom prst="line">
            <a:avLst/>
          </a:prstGeom>
          <a:noFill/>
          <a:ln w="25400">
            <a:solidFill>
              <a:srgbClr val="006D68"/>
            </a:solidFill>
            <a:prstDash val="solid"/>
          </a:ln>
        </p:spPr>
      </p:sp>
      <p:sp>
        <p:nvSpPr>
          <p:cNvPr id="18" name="Shape 16"/>
          <p:cNvSpPr/>
          <p:nvPr/>
        </p:nvSpPr>
        <p:spPr>
          <a:xfrm>
            <a:off x="6085332" y="3220608"/>
            <a:ext cx="401147" cy="166329"/>
          </a:xfrm>
          <a:prstGeom prst="line">
            <a:avLst/>
          </a:prstGeom>
          <a:noFill/>
          <a:ln w="30480">
            <a:solidFill>
              <a:srgbClr val="10243A"/>
            </a:solidFill>
            <a:prstDash val="solid"/>
          </a:ln>
        </p:spPr>
      </p:sp>
      <p:sp>
        <p:nvSpPr>
          <p:cNvPr id="19" name="Shape 17"/>
          <p:cNvSpPr/>
          <p:nvPr/>
        </p:nvSpPr>
        <p:spPr>
          <a:xfrm flipH="1">
            <a:off x="6437559" y="3386938"/>
            <a:ext cx="48920" cy="450068"/>
          </a:xfrm>
          <a:prstGeom prst="line">
            <a:avLst/>
          </a:prstGeom>
          <a:noFill/>
          <a:ln w="30480">
            <a:solidFill>
              <a:srgbClr val="10243A"/>
            </a:solidFill>
            <a:prstDash val="solid"/>
          </a:ln>
        </p:spPr>
      </p:sp>
      <p:sp>
        <p:nvSpPr>
          <p:cNvPr id="20" name="Shape 18"/>
          <p:cNvSpPr/>
          <p:nvPr/>
        </p:nvSpPr>
        <p:spPr>
          <a:xfrm flipH="1">
            <a:off x="6281014" y="3837005"/>
            <a:ext cx="156545" cy="176113"/>
          </a:xfrm>
          <a:prstGeom prst="line">
            <a:avLst/>
          </a:prstGeom>
          <a:noFill/>
          <a:ln w="30480">
            <a:solidFill>
              <a:srgbClr val="10243A"/>
            </a:solidFill>
            <a:prstDash val="solid"/>
          </a:ln>
        </p:spPr>
      </p:sp>
      <p:sp>
        <p:nvSpPr>
          <p:cNvPr id="21" name="Shape 19"/>
          <p:cNvSpPr/>
          <p:nvPr/>
        </p:nvSpPr>
        <p:spPr>
          <a:xfrm flipH="1">
            <a:off x="6085332" y="4013119"/>
            <a:ext cx="195682" cy="146761"/>
          </a:xfrm>
          <a:prstGeom prst="line">
            <a:avLst/>
          </a:prstGeom>
          <a:noFill/>
          <a:ln w="30480">
            <a:solidFill>
              <a:srgbClr val="10243A"/>
            </a:solidFill>
            <a:prstDash val="solid"/>
          </a:ln>
        </p:spPr>
      </p:sp>
      <p:sp>
        <p:nvSpPr>
          <p:cNvPr id="22" name="Shape 20"/>
          <p:cNvSpPr/>
          <p:nvPr/>
        </p:nvSpPr>
        <p:spPr>
          <a:xfrm flipH="1" flipV="1">
            <a:off x="5889650" y="4013119"/>
            <a:ext cx="195682" cy="146761"/>
          </a:xfrm>
          <a:prstGeom prst="line">
            <a:avLst/>
          </a:prstGeom>
          <a:noFill/>
          <a:ln w="30480">
            <a:solidFill>
              <a:srgbClr val="10243A"/>
            </a:solidFill>
            <a:prstDash val="solid"/>
          </a:ln>
        </p:spPr>
      </p:sp>
      <p:sp>
        <p:nvSpPr>
          <p:cNvPr id="23" name="Shape 21"/>
          <p:cNvSpPr/>
          <p:nvPr/>
        </p:nvSpPr>
        <p:spPr>
          <a:xfrm flipH="1" flipV="1">
            <a:off x="5733105" y="3837005"/>
            <a:ext cx="156545" cy="176113"/>
          </a:xfrm>
          <a:prstGeom prst="line">
            <a:avLst/>
          </a:prstGeom>
          <a:noFill/>
          <a:ln w="30480">
            <a:solidFill>
              <a:srgbClr val="10243A"/>
            </a:solidFill>
            <a:prstDash val="solid"/>
          </a:ln>
        </p:spPr>
      </p:sp>
      <p:sp>
        <p:nvSpPr>
          <p:cNvPr id="24" name="Shape 22"/>
          <p:cNvSpPr/>
          <p:nvPr/>
        </p:nvSpPr>
        <p:spPr>
          <a:xfrm flipH="1" flipV="1">
            <a:off x="5684185" y="3386938"/>
            <a:ext cx="48920" cy="450068"/>
          </a:xfrm>
          <a:prstGeom prst="line">
            <a:avLst/>
          </a:prstGeom>
          <a:noFill/>
          <a:ln w="30480">
            <a:solidFill>
              <a:srgbClr val="10243A"/>
            </a:solidFill>
            <a:prstDash val="solid"/>
          </a:ln>
        </p:spPr>
      </p:sp>
      <p:sp>
        <p:nvSpPr>
          <p:cNvPr id="25" name="Shape 23"/>
          <p:cNvSpPr/>
          <p:nvPr/>
        </p:nvSpPr>
        <p:spPr>
          <a:xfrm flipV="1">
            <a:off x="5684185" y="3220608"/>
            <a:ext cx="401147" cy="166329"/>
          </a:xfrm>
          <a:prstGeom prst="line">
            <a:avLst/>
          </a:prstGeom>
          <a:noFill/>
          <a:ln w="30480">
            <a:solidFill>
              <a:srgbClr val="10243A"/>
            </a:solidFill>
            <a:prstDash val="solid"/>
          </a:ln>
        </p:spPr>
      </p:sp>
      <p:sp>
        <p:nvSpPr>
          <p:cNvPr id="26" name="Shape 24"/>
          <p:cNvSpPr/>
          <p:nvPr/>
        </p:nvSpPr>
        <p:spPr>
          <a:xfrm>
            <a:off x="5889650" y="3690244"/>
            <a:ext cx="146761" cy="156545"/>
          </a:xfrm>
          <a:prstGeom prst="line">
            <a:avLst/>
          </a:prstGeom>
          <a:noFill/>
          <a:ln w="33020">
            <a:solidFill>
              <a:srgbClr val="10243A"/>
            </a:solidFill>
            <a:prstDash val="solid"/>
          </a:ln>
        </p:spPr>
      </p:sp>
      <p:sp>
        <p:nvSpPr>
          <p:cNvPr id="27" name="Shape 25"/>
          <p:cNvSpPr/>
          <p:nvPr/>
        </p:nvSpPr>
        <p:spPr>
          <a:xfrm flipV="1">
            <a:off x="6036412" y="3543483"/>
            <a:ext cx="273954" cy="303306"/>
          </a:xfrm>
          <a:prstGeom prst="line">
            <a:avLst/>
          </a:prstGeom>
          <a:noFill/>
          <a:ln w="33020">
            <a:solidFill>
              <a:srgbClr val="10243A"/>
            </a:solidFill>
            <a:prstDash val="solid"/>
          </a:ln>
        </p:spPr>
      </p:sp>
      <p:sp>
        <p:nvSpPr>
          <p:cNvPr id="28" name="Shape 26"/>
          <p:cNvSpPr/>
          <p:nvPr/>
        </p:nvSpPr>
        <p:spPr>
          <a:xfrm>
            <a:off x="9935688" y="3652479"/>
            <a:ext cx="446593" cy="581924"/>
          </a:xfrm>
          <a:prstGeom prst="roundRect">
            <a:avLst>
              <a:gd name="adj" fmla="val 24570"/>
            </a:avLst>
          </a:prstGeom>
          <a:solidFill>
            <a:srgbClr val="FFFFFF"/>
          </a:solidFill>
          <a:ln w="25400">
            <a:solidFill>
              <a:srgbClr val="006D68"/>
            </a:solidFill>
            <a:prstDash val="solid"/>
          </a:ln>
        </p:spPr>
      </p:sp>
      <p:sp>
        <p:nvSpPr>
          <p:cNvPr id="29" name="Shape 27"/>
          <p:cNvSpPr/>
          <p:nvPr/>
        </p:nvSpPr>
        <p:spPr>
          <a:xfrm>
            <a:off x="10030419" y="3814877"/>
            <a:ext cx="250363" cy="0"/>
          </a:xfrm>
          <a:prstGeom prst="line">
            <a:avLst/>
          </a:prstGeom>
          <a:noFill/>
          <a:ln w="25400">
            <a:solidFill>
              <a:srgbClr val="006D68"/>
            </a:solidFill>
            <a:prstDash val="solid"/>
          </a:ln>
        </p:spPr>
      </p:sp>
      <p:sp>
        <p:nvSpPr>
          <p:cNvPr id="30" name="Shape 28"/>
          <p:cNvSpPr/>
          <p:nvPr/>
        </p:nvSpPr>
        <p:spPr>
          <a:xfrm>
            <a:off x="10030419" y="3943441"/>
            <a:ext cx="250363" cy="0"/>
          </a:xfrm>
          <a:prstGeom prst="line">
            <a:avLst/>
          </a:prstGeom>
          <a:noFill/>
          <a:ln w="25400">
            <a:solidFill>
              <a:srgbClr val="006D68"/>
            </a:solidFill>
            <a:prstDash val="solid"/>
          </a:ln>
        </p:spPr>
      </p:sp>
      <p:sp>
        <p:nvSpPr>
          <p:cNvPr id="31" name="Shape 29"/>
          <p:cNvSpPr/>
          <p:nvPr/>
        </p:nvSpPr>
        <p:spPr>
          <a:xfrm>
            <a:off x="10030419" y="4072006"/>
            <a:ext cx="169164" cy="0"/>
          </a:xfrm>
          <a:prstGeom prst="line">
            <a:avLst/>
          </a:prstGeom>
          <a:noFill/>
          <a:ln w="25400">
            <a:solidFill>
              <a:srgbClr val="006D68"/>
            </a:solidFill>
            <a:prstDash val="solid"/>
          </a:ln>
        </p:spPr>
      </p:sp>
      <p:sp>
        <p:nvSpPr>
          <p:cNvPr id="32" name="Text 30"/>
          <p:cNvSpPr/>
          <p:nvPr/>
        </p:nvSpPr>
        <p:spPr>
          <a:xfrm>
            <a:off x="950976" y="4507992"/>
            <a:ext cx="2194560" cy="347472"/>
          </a:xfrm>
          <a:prstGeom prst="rect">
            <a:avLst/>
          </a:prstGeom>
          <a:noFill/>
          <a:ln/>
        </p:spPr>
        <p:txBody>
          <a:bodyPr wrap="square" lIns="0" tIns="0" rIns="0" bIns="0" rtlCol="0" anchor="ctr"/>
          <a:lstStyle/>
          <a:p>
            <a:pPr algn="ctr" indent="0" marL="0">
              <a:buNone/>
            </a:pPr>
            <a:r>
              <a:rPr lang="en-US" sz="2200" b="1" dirty="0">
                <a:solidFill>
                  <a:srgbClr val="18283D"/>
                </a:solidFill>
                <a:latin typeface="Arial" pitchFamily="34" charset="0"/>
                <a:ea typeface="Arial" pitchFamily="34" charset="-122"/>
                <a:cs typeface="Arial" pitchFamily="34" charset="-120"/>
              </a:rPr>
              <a:t>Action</a:t>
            </a:r>
            <a:endParaRPr lang="en-US" sz="2200" dirty="0"/>
          </a:p>
        </p:txBody>
      </p:sp>
      <p:sp>
        <p:nvSpPr>
          <p:cNvPr id="33" name="Text 31"/>
          <p:cNvSpPr/>
          <p:nvPr/>
        </p:nvSpPr>
        <p:spPr>
          <a:xfrm>
            <a:off x="4608576" y="4434840"/>
            <a:ext cx="2980944" cy="795528"/>
          </a:xfrm>
          <a:prstGeom prst="rect">
            <a:avLst/>
          </a:prstGeom>
          <a:noFill/>
          <a:ln/>
        </p:spPr>
        <p:txBody>
          <a:bodyPr wrap="square" lIns="0" tIns="0" rIns="0" bIns="0" rtlCol="0" anchor="ctr"/>
          <a:lstStyle/>
          <a:p>
            <a:pPr algn="ctr" indent="0" marL="0">
              <a:buNone/>
            </a:pPr>
            <a:r>
              <a:rPr lang="en-US" sz="2300" b="1" dirty="0">
                <a:solidFill>
                  <a:srgbClr val="10243A"/>
                </a:solidFill>
                <a:latin typeface="Arial" pitchFamily="34" charset="0"/>
                <a:ea typeface="Arial" pitchFamily="34" charset="-122"/>
                <a:cs typeface="Arial" pitchFamily="34" charset="-120"/>
              </a:rPr>
              <a:t>Human</a:t>
            </a:r>
            <a:endParaRPr lang="en-US" sz="2300" dirty="0"/>
          </a:p>
          <a:p>
            <a:pPr algn="ctr" indent="0" marL="0">
              <a:buNone/>
            </a:pPr>
            <a:r>
              <a:rPr lang="en-US" sz="2300" b="1" dirty="0">
                <a:solidFill>
                  <a:srgbClr val="10243A"/>
                </a:solidFill>
                <a:latin typeface="Arial" pitchFamily="34" charset="0"/>
                <a:ea typeface="Arial" pitchFamily="34" charset="-122"/>
                <a:cs typeface="Arial" pitchFamily="34" charset="-120"/>
              </a:rPr>
              <a:t>confirmation</a:t>
            </a:r>
            <a:endParaRPr lang="en-US" sz="2300" dirty="0"/>
          </a:p>
        </p:txBody>
      </p:sp>
      <p:sp>
        <p:nvSpPr>
          <p:cNvPr id="34" name="Text 32"/>
          <p:cNvSpPr/>
          <p:nvPr/>
        </p:nvSpPr>
        <p:spPr>
          <a:xfrm>
            <a:off x="8942832" y="4507992"/>
            <a:ext cx="2423160" cy="347472"/>
          </a:xfrm>
          <a:prstGeom prst="rect">
            <a:avLst/>
          </a:prstGeom>
          <a:noFill/>
          <a:ln/>
        </p:spPr>
        <p:txBody>
          <a:bodyPr wrap="square" lIns="0" tIns="0" rIns="0" bIns="0" rtlCol="0" anchor="ctr"/>
          <a:lstStyle/>
          <a:p>
            <a:pPr algn="ctr" indent="0" marL="0">
              <a:buNone/>
            </a:pPr>
            <a:r>
              <a:rPr lang="en-US" sz="1950" b="1" dirty="0">
                <a:solidFill>
                  <a:srgbClr val="18283D"/>
                </a:solidFill>
                <a:latin typeface="Arial" pitchFamily="34" charset="0"/>
                <a:ea typeface="Arial" pitchFamily="34" charset="-122"/>
                <a:cs typeface="Arial" pitchFamily="34" charset="-120"/>
              </a:rPr>
              <a:t>Decision record</a:t>
            </a:r>
            <a:endParaRPr lang="en-US" sz="1950" dirty="0"/>
          </a:p>
        </p:txBody>
      </p:sp>
      <p:sp>
        <p:nvSpPr>
          <p:cNvPr id="35" name="Text 33"/>
          <p:cNvSpPr/>
          <p:nvPr/>
        </p:nvSpPr>
        <p:spPr>
          <a:xfrm>
            <a:off x="685800" y="5888736"/>
            <a:ext cx="7863840" cy="274320"/>
          </a:xfrm>
          <a:prstGeom prst="rect">
            <a:avLst/>
          </a:prstGeom>
          <a:noFill/>
          <a:ln/>
        </p:spPr>
        <p:txBody>
          <a:bodyPr wrap="square" lIns="0" tIns="0" rIns="0" bIns="0" rtlCol="0" anchor="ctr"/>
          <a:lstStyle/>
          <a:p>
            <a:pPr indent="0" marL="0">
              <a:buNone/>
            </a:pPr>
            <a:r>
              <a:rPr lang="en-US" sz="1700" dirty="0">
                <a:solidFill>
                  <a:srgbClr val="54647B"/>
                </a:solidFill>
                <a:latin typeface="Arial" pitchFamily="34" charset="0"/>
                <a:ea typeface="Arial" pitchFamily="34" charset="-122"/>
                <a:cs typeface="Arial" pitchFamily="34" charset="-120"/>
              </a:rPr>
              <a:t>A challenge. A human response.</a:t>
            </a:r>
            <a:endParaRPr lang="en-US" sz="1700" dirty="0"/>
          </a:p>
        </p:txBody>
      </p:sp>
      <p:sp>
        <p:nvSpPr>
          <p:cNvPr id="36" name="Shape 34"/>
          <p:cNvSpPr/>
          <p:nvPr/>
        </p:nvSpPr>
        <p:spPr>
          <a:xfrm>
            <a:off x="8778240" y="5788152"/>
            <a:ext cx="2715768" cy="384048"/>
          </a:xfrm>
          <a:prstGeom prst="roundRect">
            <a:avLst>
              <a:gd name="adj" fmla="val 28571"/>
            </a:avLst>
          </a:prstGeom>
          <a:solidFill>
            <a:srgbClr val="EAF4EF"/>
          </a:solidFill>
          <a:ln w="12700">
            <a:solidFill>
              <a:srgbClr val="EAF4EF"/>
            </a:solidFill>
            <a:prstDash val="solid"/>
          </a:ln>
        </p:spPr>
      </p:sp>
      <p:sp>
        <p:nvSpPr>
          <p:cNvPr id="37" name="Text 35"/>
          <p:cNvSpPr/>
          <p:nvPr/>
        </p:nvSpPr>
        <p:spPr>
          <a:xfrm>
            <a:off x="8860536" y="5806440"/>
            <a:ext cx="2551176" cy="338328"/>
          </a:xfrm>
          <a:prstGeom prst="rect">
            <a:avLst/>
          </a:prstGeom>
          <a:noFill/>
          <a:ln/>
        </p:spPr>
        <p:txBody>
          <a:bodyPr wrap="square" lIns="0" tIns="0" rIns="0" bIns="0" rtlCol="0" anchor="ctr"/>
          <a:lstStyle/>
          <a:p>
            <a:pPr algn="ctr" indent="0" marL="0">
              <a:buNone/>
            </a:pPr>
            <a:r>
              <a:rPr lang="en-US" sz="1230" b="1" dirty="0">
                <a:solidFill>
                  <a:srgbClr val="006D68"/>
                </a:solidFill>
                <a:latin typeface="Arial" pitchFamily="34" charset="0"/>
                <a:ea typeface="Arial" pitchFamily="34" charset="-122"/>
                <a:cs typeface="Arial" pitchFamily="34" charset="-120"/>
              </a:rPr>
              <a:t>WebAuthn / passkeys</a:t>
            </a:r>
            <a:endParaRPr lang="en-US" sz="12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43A"/>
        </a:solidFill>
      </p:bgPr>
    </p:bg>
    <p:spTree>
      <p:nvGrpSpPr>
        <p:cNvPr id="1" name=""/>
        <p:cNvGrpSpPr/>
        <p:nvPr/>
      </p:nvGrpSpPr>
      <p:grpSpPr>
        <a:xfrm>
          <a:off x="0" y="0"/>
          <a:ext cx="0" cy="0"/>
          <a:chOff x="0" y="0"/>
          <a:chExt cx="0" cy="0"/>
        </a:xfrm>
      </p:grpSpPr>
      <p:sp>
        <p:nvSpPr>
          <p:cNvPr id="2" name="Text 0"/>
          <p:cNvSpPr/>
          <p:nvPr/>
        </p:nvSpPr>
        <p:spPr>
          <a:xfrm>
            <a:off x="493776" y="109728"/>
            <a:ext cx="8887968" cy="32004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Same task. Different boundary.</a:t>
            </a:r>
            <a:endParaRPr lang="en-US" sz="2300" dirty="0"/>
          </a:p>
        </p:txBody>
      </p:sp>
      <p:sp>
        <p:nvSpPr>
          <p:cNvPr id="3" name="Text 1"/>
          <p:cNvSpPr/>
          <p:nvPr/>
        </p:nvSpPr>
        <p:spPr>
          <a:xfrm>
            <a:off x="9646920" y="173736"/>
            <a:ext cx="2029968" cy="219456"/>
          </a:xfrm>
          <a:prstGeom prst="rect">
            <a:avLst/>
          </a:prstGeom>
          <a:noFill/>
          <a:ln/>
        </p:spPr>
        <p:txBody>
          <a:bodyPr wrap="square" lIns="0" tIns="0" rIns="0" bIns="0" rtlCol="0" anchor="ctr"/>
          <a:lstStyle/>
          <a:p>
            <a:pPr algn="r" indent="0" marL="0">
              <a:buNone/>
            </a:pPr>
            <a:r>
              <a:rPr lang="en-US" sz="1200" b="1" dirty="0">
                <a:solidFill>
                  <a:srgbClr val="BCF58A"/>
                </a:solidFill>
                <a:latin typeface="Arial" pitchFamily="34" charset="0"/>
                <a:ea typeface="Arial" pitchFamily="34" charset="-122"/>
                <a:cs typeface="Arial" pitchFamily="34" charset="-120"/>
              </a:rPr>
              <a:t>RECORDED · 1:15</a:t>
            </a:r>
            <a:endParaRPr lang="en-US" sz="1200" dirty="0"/>
          </a:p>
        </p:txBody>
      </p:sp>
      <p:pic>
        <p:nvPicPr>
          <p:cNvPr id="4" name="Image 0" descr="Static preview of the real recorded native prompt; the PPT video overlays this image.">    </p:cNvPr>
          <p:cNvPicPr>
            <a:picLocks noChangeAspect="1"/>
          </p:cNvPicPr>
          <p:nvPr/>
        </p:nvPicPr>
        <p:blipFill>
          <a:blip r:embed="rId1"/>
          <a:stretch>
            <a:fillRect/>
          </a:stretch>
        </p:blipFill>
        <p:spPr>
          <a:xfrm>
            <a:off x="493776" y="557784"/>
            <a:ext cx="11192256" cy="6295644"/>
          </a:xfrm>
          <a:prstGeom prst="rect">
            <a:avLst/>
          </a:prstGeom>
        </p:spPr>
      </p:pic>
      <p:pic>
        <p:nvPicPr>
          <p:cNvPr id="4" name="Recorded quiz demo — governance off/on, native confirmation, matching audit">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93776" y="557784"/>
            <a:ext cx="11192256" cy="62956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006D68"/>
                </a:solidFill>
                <a:latin typeface="Arial" pitchFamily="34" charset="0"/>
                <a:ea typeface="Arial" pitchFamily="34" charset="-122"/>
                <a:cs typeface="Arial" pitchFamily="34" charset="-120"/>
              </a:rPr>
              <a:t>SO WHAT / ACCOUNTABLE PARTICIPATION</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10243A"/>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DCE4EE"/>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54647B"/>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54647B"/>
                </a:solidFill>
                <a:latin typeface="Arial" pitchFamily="34" charset="0"/>
                <a:ea typeface="Arial" pitchFamily="34" charset="-122"/>
                <a:cs typeface="Arial" pitchFamily="34" charset="-120"/>
              </a:rPr>
              <a:t>04</a:t>
            </a:r>
            <a:endParaRPr lang="en-US" sz="1000" dirty="0"/>
          </a:p>
        </p:txBody>
      </p:sp>
      <p:sp>
        <p:nvSpPr>
          <p:cNvPr id="7" name="Text 5"/>
          <p:cNvSpPr/>
          <p:nvPr/>
        </p:nvSpPr>
        <p:spPr>
          <a:xfrm>
            <a:off x="658368" y="969264"/>
            <a:ext cx="10927080" cy="704088"/>
          </a:xfrm>
          <a:prstGeom prst="rect">
            <a:avLst/>
          </a:prstGeom>
          <a:noFill/>
          <a:ln/>
        </p:spPr>
        <p:txBody>
          <a:bodyPr wrap="square" lIns="0" tIns="0" rIns="0" bIns="0" rtlCol="0" anchor="ctr"/>
          <a:lstStyle/>
          <a:p>
            <a:pPr indent="0" marL="0">
              <a:buNone/>
            </a:pPr>
            <a:r>
              <a:rPr lang="en-US" sz="3800" b="1" dirty="0">
                <a:solidFill>
                  <a:srgbClr val="10243A"/>
                </a:solidFill>
                <a:latin typeface="Arial" pitchFamily="34" charset="0"/>
                <a:ea typeface="Arial" pitchFamily="34" charset="-122"/>
                <a:cs typeface="Arial" pitchFamily="34" charset="-120"/>
              </a:rPr>
              <a:t>Participation ≠ authorship.</a:t>
            </a:r>
            <a:endParaRPr lang="en-US" sz="3800" dirty="0"/>
          </a:p>
        </p:txBody>
      </p:sp>
      <p:sp>
        <p:nvSpPr>
          <p:cNvPr id="8" name="Shape 6"/>
          <p:cNvSpPr/>
          <p:nvPr/>
        </p:nvSpPr>
        <p:spPr>
          <a:xfrm>
            <a:off x="685800" y="2048256"/>
            <a:ext cx="7269480" cy="3776472"/>
          </a:xfrm>
          <a:prstGeom prst="roundRect">
            <a:avLst>
              <a:gd name="adj" fmla="val 2906"/>
            </a:avLst>
          </a:prstGeom>
          <a:solidFill>
            <a:srgbClr val="FFFFFF"/>
          </a:solidFill>
          <a:ln w="12700">
            <a:solidFill>
              <a:srgbClr val="DCE4EE"/>
            </a:solidFill>
            <a:prstDash val="solid"/>
          </a:ln>
        </p:spPr>
      </p:sp>
      <p:sp>
        <p:nvSpPr>
          <p:cNvPr id="9" name="Text 7"/>
          <p:cNvSpPr/>
          <p:nvPr/>
        </p:nvSpPr>
        <p:spPr>
          <a:xfrm>
            <a:off x="987552" y="2350008"/>
            <a:ext cx="6126480" cy="201168"/>
          </a:xfrm>
          <a:prstGeom prst="rect">
            <a:avLst/>
          </a:prstGeom>
          <a:noFill/>
          <a:ln/>
        </p:spPr>
        <p:txBody>
          <a:bodyPr wrap="square" lIns="0" tIns="0" rIns="0" bIns="0" rtlCol="0" anchor="ctr"/>
          <a:lstStyle/>
          <a:p>
            <a:pPr indent="0" marL="0">
              <a:buNone/>
            </a:pPr>
            <a:r>
              <a:rPr lang="en-US" sz="1150" b="1" spc="120" kern="0" dirty="0">
                <a:solidFill>
                  <a:srgbClr val="006D68"/>
                </a:solidFill>
                <a:latin typeface="Arial" pitchFamily="34" charset="0"/>
                <a:ea typeface="Arial" pitchFamily="34" charset="-122"/>
                <a:cs typeface="Arial" pitchFamily="34" charset="-120"/>
              </a:rPr>
              <a:t>DISCUSSION</a:t>
            </a:r>
            <a:endParaRPr lang="en-US" sz="1150" dirty="0"/>
          </a:p>
        </p:txBody>
      </p:sp>
      <p:sp>
        <p:nvSpPr>
          <p:cNvPr id="10" name="Shape 8"/>
          <p:cNvSpPr/>
          <p:nvPr/>
        </p:nvSpPr>
        <p:spPr>
          <a:xfrm>
            <a:off x="987552" y="2825496"/>
            <a:ext cx="1874520" cy="384048"/>
          </a:xfrm>
          <a:prstGeom prst="roundRect">
            <a:avLst>
              <a:gd name="adj" fmla="val 28571"/>
            </a:avLst>
          </a:prstGeom>
          <a:solidFill>
            <a:srgbClr val="F3F6FA"/>
          </a:solidFill>
          <a:ln w="12700">
            <a:solidFill>
              <a:srgbClr val="F3F6FA"/>
            </a:solidFill>
            <a:prstDash val="solid"/>
          </a:ln>
        </p:spPr>
      </p:sp>
      <p:sp>
        <p:nvSpPr>
          <p:cNvPr id="11" name="Text 9"/>
          <p:cNvSpPr/>
          <p:nvPr/>
        </p:nvSpPr>
        <p:spPr>
          <a:xfrm>
            <a:off x="1069848" y="2843784"/>
            <a:ext cx="1709928" cy="338328"/>
          </a:xfrm>
          <a:prstGeom prst="rect">
            <a:avLst/>
          </a:prstGeom>
          <a:noFill/>
          <a:ln/>
        </p:spPr>
        <p:txBody>
          <a:bodyPr wrap="square" lIns="0" tIns="0" rIns="0" bIns="0" rtlCol="0" anchor="ctr"/>
          <a:lstStyle/>
          <a:p>
            <a:pPr algn="ctr" indent="0" marL="0">
              <a:buNone/>
            </a:pPr>
            <a:r>
              <a:rPr lang="en-US" sz="1230" b="1" dirty="0">
                <a:solidFill>
                  <a:srgbClr val="54647B"/>
                </a:solidFill>
                <a:latin typeface="Arial" pitchFamily="34" charset="0"/>
                <a:ea typeface="Arial" pitchFamily="34" charset="-122"/>
                <a:cs typeface="Arial" pitchFamily="34" charset="-120"/>
              </a:rPr>
              <a:t>Own work</a:t>
            </a:r>
            <a:endParaRPr lang="en-US" sz="1230" dirty="0"/>
          </a:p>
        </p:txBody>
      </p:sp>
      <p:sp>
        <p:nvSpPr>
          <p:cNvPr id="12" name="Shape 10"/>
          <p:cNvSpPr/>
          <p:nvPr/>
        </p:nvSpPr>
        <p:spPr>
          <a:xfrm>
            <a:off x="3035808" y="2825496"/>
            <a:ext cx="2002536" cy="384048"/>
          </a:xfrm>
          <a:prstGeom prst="roundRect">
            <a:avLst>
              <a:gd name="adj" fmla="val 28571"/>
            </a:avLst>
          </a:prstGeom>
          <a:solidFill>
            <a:srgbClr val="BCF58A"/>
          </a:solidFill>
          <a:ln w="12700">
            <a:solidFill>
              <a:srgbClr val="BCF58A"/>
            </a:solidFill>
            <a:prstDash val="solid"/>
          </a:ln>
        </p:spPr>
      </p:sp>
      <p:sp>
        <p:nvSpPr>
          <p:cNvPr id="13" name="Text 11"/>
          <p:cNvSpPr/>
          <p:nvPr/>
        </p:nvSpPr>
        <p:spPr>
          <a:xfrm>
            <a:off x="3118104" y="2843784"/>
            <a:ext cx="1837944" cy="338328"/>
          </a:xfrm>
          <a:prstGeom prst="rect">
            <a:avLst/>
          </a:prstGeom>
          <a:noFill/>
          <a:ln/>
        </p:spPr>
        <p:txBody>
          <a:bodyPr wrap="square" lIns="0" tIns="0" rIns="0" bIns="0" rtlCol="0" anchor="ctr"/>
          <a:lstStyle/>
          <a:p>
            <a:pPr algn="ctr" indent="0" marL="0">
              <a:buNone/>
            </a:pPr>
            <a:r>
              <a:rPr lang="en-US" sz="1230" b="1" dirty="0">
                <a:solidFill>
                  <a:srgbClr val="10243A"/>
                </a:solidFill>
                <a:latin typeface="Arial" pitchFamily="34" charset="0"/>
                <a:ea typeface="Arial" pitchFamily="34" charset="-122"/>
                <a:cs typeface="Arial" pitchFamily="34" charset="-120"/>
              </a:rPr>
              <a:t>AI-assisted</a:t>
            </a:r>
            <a:endParaRPr lang="en-US" sz="1230" dirty="0"/>
          </a:p>
        </p:txBody>
      </p:sp>
      <p:sp>
        <p:nvSpPr>
          <p:cNvPr id="14" name="Shape 12"/>
          <p:cNvSpPr/>
          <p:nvPr/>
        </p:nvSpPr>
        <p:spPr>
          <a:xfrm>
            <a:off x="5248656" y="3026664"/>
            <a:ext cx="502920" cy="0"/>
          </a:xfrm>
          <a:prstGeom prst="line">
            <a:avLst/>
          </a:prstGeom>
          <a:noFill/>
          <a:ln w="21590">
            <a:solidFill>
              <a:srgbClr val="006D68"/>
            </a:solidFill>
            <a:prstDash val="solid"/>
            <a:tailEnd type="triangle"/>
          </a:ln>
        </p:spPr>
      </p:sp>
      <p:sp>
        <p:nvSpPr>
          <p:cNvPr id="15" name="Text 13"/>
          <p:cNvSpPr/>
          <p:nvPr/>
        </p:nvSpPr>
        <p:spPr>
          <a:xfrm>
            <a:off x="5897880" y="2834640"/>
            <a:ext cx="1536192" cy="347472"/>
          </a:xfrm>
          <a:prstGeom prst="rect">
            <a:avLst/>
          </a:prstGeom>
          <a:noFill/>
          <a:ln/>
        </p:spPr>
        <p:txBody>
          <a:bodyPr wrap="square" lIns="0" tIns="0" rIns="0" bIns="0" rtlCol="0" anchor="ctr"/>
          <a:lstStyle/>
          <a:p>
            <a:pPr indent="0" marL="0">
              <a:buNone/>
            </a:pPr>
            <a:r>
              <a:rPr lang="en-US" sz="2100" b="1" dirty="0">
                <a:solidFill>
                  <a:srgbClr val="006D68"/>
                </a:solidFill>
                <a:latin typeface="Arial" pitchFamily="34" charset="0"/>
                <a:ea typeface="Arial" pitchFamily="34" charset="-122"/>
                <a:cs typeface="Arial" pitchFamily="34" charset="-120"/>
              </a:rPr>
              <a:t>Confirm</a:t>
            </a:r>
            <a:endParaRPr lang="en-US" sz="2100" dirty="0"/>
          </a:p>
        </p:txBody>
      </p:sp>
      <p:sp>
        <p:nvSpPr>
          <p:cNvPr id="16" name="Text 14"/>
          <p:cNvSpPr/>
          <p:nvPr/>
        </p:nvSpPr>
        <p:spPr>
          <a:xfrm>
            <a:off x="1005840" y="3639312"/>
            <a:ext cx="6309360" cy="201168"/>
          </a:xfrm>
          <a:prstGeom prst="rect">
            <a:avLst/>
          </a:prstGeom>
          <a:noFill/>
          <a:ln/>
        </p:spPr>
        <p:txBody>
          <a:bodyPr wrap="square" lIns="0" tIns="0" rIns="0" bIns="0" rtlCol="0" anchor="ctr"/>
          <a:lstStyle/>
          <a:p>
            <a:pPr indent="0" marL="0">
              <a:buNone/>
            </a:pPr>
            <a:r>
              <a:rPr lang="en-US" sz="1150" b="1" spc="120" kern="0" dirty="0">
                <a:solidFill>
                  <a:srgbClr val="54647B"/>
                </a:solidFill>
                <a:latin typeface="Arial" pitchFamily="34" charset="0"/>
                <a:ea typeface="Arial" pitchFamily="34" charset="-122"/>
                <a:cs typeface="Arial" pitchFamily="34" charset="-120"/>
              </a:rPr>
              <a:t>PUBLISHED DISCLOSURE</a:t>
            </a:r>
            <a:endParaRPr lang="en-US" sz="1150" dirty="0"/>
          </a:p>
        </p:txBody>
      </p:sp>
      <p:pic>
        <p:nvPicPr>
          <p:cNvPr id="17" name="Image 0" descr="Published AI-assisted and verified-presence badges; isolated virtual-authenticator UI capture.">    </p:cNvPr>
          <p:cNvPicPr>
            <a:picLocks noChangeAspect="1"/>
          </p:cNvPicPr>
          <p:nvPr/>
        </p:nvPicPr>
        <p:blipFill>
          <a:blip r:embed="rId1"/>
          <a:stretch>
            <a:fillRect/>
          </a:stretch>
        </p:blipFill>
        <p:spPr>
          <a:xfrm>
            <a:off x="996696" y="4050792"/>
            <a:ext cx="6638544" cy="1103681"/>
          </a:xfrm>
          <a:prstGeom prst="rect">
            <a:avLst/>
          </a:prstGeom>
        </p:spPr>
      </p:pic>
      <p:sp>
        <p:nvSpPr>
          <p:cNvPr id="18" name="Text 15"/>
          <p:cNvSpPr/>
          <p:nvPr/>
        </p:nvSpPr>
        <p:spPr>
          <a:xfrm>
            <a:off x="1005840" y="5422392"/>
            <a:ext cx="6492240" cy="228600"/>
          </a:xfrm>
          <a:prstGeom prst="rect">
            <a:avLst/>
          </a:prstGeom>
          <a:noFill/>
          <a:ln/>
        </p:spPr>
        <p:txBody>
          <a:bodyPr wrap="square" lIns="0" tIns="0" rIns="0" bIns="0" rtlCol="0" anchor="ctr"/>
          <a:lstStyle/>
          <a:p>
            <a:pPr indent="0" marL="0">
              <a:buNone/>
            </a:pPr>
            <a:r>
              <a:rPr lang="en-US" sz="1200" dirty="0">
                <a:solidFill>
                  <a:srgbClr val="54647B"/>
                </a:solidFill>
                <a:latin typeface="Arial" pitchFamily="34" charset="0"/>
                <a:ea typeface="Arial" pitchFamily="34" charset="-122"/>
                <a:cs typeface="Arial" pitchFamily="34" charset="-120"/>
              </a:rPr>
              <a:t>Automated UI reference · virtual authenticator</a:t>
            </a:r>
            <a:endParaRPr lang="en-US" sz="1200" dirty="0"/>
          </a:p>
        </p:txBody>
      </p:sp>
      <p:sp>
        <p:nvSpPr>
          <p:cNvPr id="19" name="Shape 16"/>
          <p:cNvSpPr/>
          <p:nvPr/>
        </p:nvSpPr>
        <p:spPr>
          <a:xfrm>
            <a:off x="8238744" y="2048256"/>
            <a:ext cx="3273552" cy="3776472"/>
          </a:xfrm>
          <a:prstGeom prst="roundRect">
            <a:avLst>
              <a:gd name="adj" fmla="val 3352"/>
            </a:avLst>
          </a:prstGeom>
          <a:solidFill>
            <a:srgbClr val="EAF4EF"/>
          </a:solidFill>
          <a:ln w="12700">
            <a:solidFill>
              <a:srgbClr val="D2E4DD"/>
            </a:solidFill>
            <a:prstDash val="solid"/>
          </a:ln>
        </p:spPr>
      </p:sp>
      <p:sp>
        <p:nvSpPr>
          <p:cNvPr id="20" name="Shape 17"/>
          <p:cNvSpPr/>
          <p:nvPr/>
        </p:nvSpPr>
        <p:spPr>
          <a:xfrm flipV="1">
            <a:off x="9704344" y="2548616"/>
            <a:ext cx="0" cy="145938"/>
          </a:xfrm>
          <a:prstGeom prst="line">
            <a:avLst/>
          </a:prstGeom>
          <a:noFill/>
          <a:ln w="25400">
            <a:solidFill>
              <a:srgbClr val="006D68"/>
            </a:solidFill>
            <a:prstDash val="solid"/>
          </a:ln>
        </p:spPr>
      </p:sp>
      <p:sp>
        <p:nvSpPr>
          <p:cNvPr id="21" name="Shape 18"/>
          <p:cNvSpPr/>
          <p:nvPr/>
        </p:nvSpPr>
        <p:spPr>
          <a:xfrm flipV="1">
            <a:off x="9704344" y="2465222"/>
            <a:ext cx="69494" cy="83393"/>
          </a:xfrm>
          <a:prstGeom prst="line">
            <a:avLst/>
          </a:prstGeom>
          <a:noFill/>
          <a:ln w="25400">
            <a:solidFill>
              <a:srgbClr val="006D68"/>
            </a:solidFill>
            <a:prstDash val="solid"/>
          </a:ln>
        </p:spPr>
      </p:sp>
      <p:sp>
        <p:nvSpPr>
          <p:cNvPr id="22" name="Shape 19"/>
          <p:cNvSpPr/>
          <p:nvPr/>
        </p:nvSpPr>
        <p:spPr>
          <a:xfrm>
            <a:off x="9773839" y="2465222"/>
            <a:ext cx="166787" cy="0"/>
          </a:xfrm>
          <a:prstGeom prst="line">
            <a:avLst/>
          </a:prstGeom>
          <a:noFill/>
          <a:ln w="25400">
            <a:solidFill>
              <a:srgbClr val="006D68"/>
            </a:solidFill>
            <a:prstDash val="solid"/>
          </a:ln>
        </p:spPr>
      </p:sp>
      <p:sp>
        <p:nvSpPr>
          <p:cNvPr id="23" name="Shape 20"/>
          <p:cNvSpPr/>
          <p:nvPr/>
        </p:nvSpPr>
        <p:spPr>
          <a:xfrm>
            <a:off x="9940625" y="2465222"/>
            <a:ext cx="69494" cy="83393"/>
          </a:xfrm>
          <a:prstGeom prst="line">
            <a:avLst/>
          </a:prstGeom>
          <a:noFill/>
          <a:ln w="25400">
            <a:solidFill>
              <a:srgbClr val="006D68"/>
            </a:solidFill>
            <a:prstDash val="solid"/>
          </a:ln>
        </p:spPr>
      </p:sp>
      <p:sp>
        <p:nvSpPr>
          <p:cNvPr id="24" name="Shape 21"/>
          <p:cNvSpPr/>
          <p:nvPr/>
        </p:nvSpPr>
        <p:spPr>
          <a:xfrm>
            <a:off x="10010120" y="2548616"/>
            <a:ext cx="0" cy="145938"/>
          </a:xfrm>
          <a:prstGeom prst="line">
            <a:avLst/>
          </a:prstGeom>
          <a:noFill/>
          <a:ln w="25400">
            <a:solidFill>
              <a:srgbClr val="006D68"/>
            </a:solidFill>
            <a:prstDash val="solid"/>
          </a:ln>
        </p:spPr>
      </p:sp>
      <p:sp>
        <p:nvSpPr>
          <p:cNvPr id="25" name="Shape 22"/>
          <p:cNvSpPr/>
          <p:nvPr/>
        </p:nvSpPr>
        <p:spPr>
          <a:xfrm>
            <a:off x="9600103" y="2680655"/>
            <a:ext cx="514259" cy="340523"/>
          </a:xfrm>
          <a:prstGeom prst="roundRect">
            <a:avLst>
              <a:gd name="adj" fmla="val 32223"/>
            </a:avLst>
          </a:prstGeom>
          <a:solidFill>
            <a:srgbClr val="EAF4EF"/>
          </a:solidFill>
          <a:ln w="25400">
            <a:solidFill>
              <a:srgbClr val="006D68"/>
            </a:solidFill>
            <a:prstDash val="solid"/>
          </a:ln>
        </p:spPr>
      </p:sp>
      <p:sp>
        <p:nvSpPr>
          <p:cNvPr id="26" name="Shape 23"/>
          <p:cNvSpPr/>
          <p:nvPr/>
        </p:nvSpPr>
        <p:spPr>
          <a:xfrm>
            <a:off x="9857232" y="2798796"/>
            <a:ext cx="0" cy="104242"/>
          </a:xfrm>
          <a:prstGeom prst="line">
            <a:avLst/>
          </a:prstGeom>
          <a:noFill/>
          <a:ln w="25400">
            <a:solidFill>
              <a:srgbClr val="006D68"/>
            </a:solidFill>
            <a:prstDash val="solid"/>
          </a:ln>
        </p:spPr>
      </p:sp>
      <p:sp>
        <p:nvSpPr>
          <p:cNvPr id="27" name="Text 24"/>
          <p:cNvSpPr/>
          <p:nvPr/>
        </p:nvSpPr>
        <p:spPr>
          <a:xfrm>
            <a:off x="8485632" y="3300984"/>
            <a:ext cx="2770632" cy="338328"/>
          </a:xfrm>
          <a:prstGeom prst="rect">
            <a:avLst/>
          </a:prstGeom>
          <a:noFill/>
          <a:ln/>
        </p:spPr>
        <p:txBody>
          <a:bodyPr wrap="square" lIns="0" tIns="0" rIns="0" bIns="0" rtlCol="0" anchor="ctr"/>
          <a:lstStyle/>
          <a:p>
            <a:pPr algn="ctr" indent="0" marL="0">
              <a:buNone/>
            </a:pPr>
            <a:r>
              <a:rPr lang="en-US" sz="2100" b="1" dirty="0">
                <a:solidFill>
                  <a:srgbClr val="10243A"/>
                </a:solidFill>
                <a:latin typeface="Arial" pitchFamily="34" charset="0"/>
                <a:ea typeface="Arial" pitchFamily="34" charset="-122"/>
                <a:cs typeface="Arial" pitchFamily="34" charset="-120"/>
              </a:rPr>
              <a:t>Protected record</a:t>
            </a:r>
            <a:endParaRPr lang="en-US" sz="2100" dirty="0"/>
          </a:p>
        </p:txBody>
      </p:sp>
      <p:pic>
        <p:nvPicPr>
          <p:cNvPr id="28" name="Image 1" descr="Real synthetic SSN and DoD ID fields withheld by default; UI reference.">    </p:cNvPr>
          <p:cNvPicPr>
            <a:picLocks noChangeAspect="1"/>
          </p:cNvPicPr>
          <p:nvPr/>
        </p:nvPicPr>
        <p:blipFill>
          <a:blip r:embed="rId2"/>
          <a:stretch>
            <a:fillRect/>
          </a:stretch>
        </p:blipFill>
        <p:spPr>
          <a:xfrm>
            <a:off x="8494776" y="3813048"/>
            <a:ext cx="2761488" cy="786384"/>
          </a:xfrm>
          <a:prstGeom prst="rect">
            <a:avLst/>
          </a:prstGeom>
        </p:spPr>
      </p:pic>
      <p:sp>
        <p:nvSpPr>
          <p:cNvPr id="29" name="Text 25"/>
          <p:cNvSpPr/>
          <p:nvPr/>
        </p:nvSpPr>
        <p:spPr>
          <a:xfrm>
            <a:off x="8467344" y="4937760"/>
            <a:ext cx="2816352" cy="283464"/>
          </a:xfrm>
          <a:prstGeom prst="rect">
            <a:avLst/>
          </a:prstGeom>
          <a:noFill/>
          <a:ln/>
        </p:spPr>
        <p:txBody>
          <a:bodyPr wrap="square" lIns="0" tIns="0" rIns="0" bIns="0" rtlCol="0" anchor="ctr"/>
          <a:lstStyle/>
          <a:p>
            <a:pPr algn="ctr" indent="0" marL="0">
              <a:buNone/>
            </a:pPr>
            <a:r>
              <a:rPr lang="en-US" sz="1380" b="1" dirty="0">
                <a:solidFill>
                  <a:srgbClr val="006D68"/>
                </a:solidFill>
                <a:latin typeface="Arial" pitchFamily="34" charset="0"/>
                <a:ea typeface="Arial" pitchFamily="34" charset="-122"/>
                <a:cs typeface="Arial" pitchFamily="34" charset="-120"/>
              </a:rPr>
              <a:t>Masked → Confirm → Reveal</a:t>
            </a:r>
            <a:endParaRPr lang="en-US" sz="1380" dirty="0"/>
          </a:p>
        </p:txBody>
      </p:sp>
      <p:sp>
        <p:nvSpPr>
          <p:cNvPr id="30" name="Text 26"/>
          <p:cNvSpPr/>
          <p:nvPr/>
        </p:nvSpPr>
        <p:spPr>
          <a:xfrm>
            <a:off x="8458200" y="5458968"/>
            <a:ext cx="2843784" cy="201168"/>
          </a:xfrm>
          <a:prstGeom prst="rect">
            <a:avLst/>
          </a:prstGeom>
          <a:noFill/>
          <a:ln/>
        </p:spPr>
        <p:txBody>
          <a:bodyPr wrap="square" lIns="0" tIns="0" rIns="0" bIns="0" rtlCol="0" anchor="ctr"/>
          <a:lstStyle/>
          <a:p>
            <a:pPr algn="ctr" indent="0" marL="0">
              <a:buNone/>
            </a:pPr>
            <a:r>
              <a:rPr lang="en-US" sz="1050" dirty="0">
                <a:solidFill>
                  <a:srgbClr val="54647B"/>
                </a:solidFill>
                <a:latin typeface="Arial" pitchFamily="34" charset="0"/>
                <a:ea typeface="Arial" pitchFamily="34" charset="-122"/>
                <a:cs typeface="Arial" pitchFamily="34" charset="-120"/>
              </a:rPr>
              <a:t>Extensions can read after reveal.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006D68"/>
                </a:solidFill>
                <a:latin typeface="Arial" pitchFamily="34" charset="0"/>
                <a:ea typeface="Arial" pitchFamily="34" charset="-122"/>
                <a:cs typeface="Arial" pitchFamily="34" charset="-120"/>
              </a:rPr>
              <a:t>NOW WHAT / REUSABLE INTEGRATION</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10243A"/>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DCE4EE"/>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54647B"/>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54647B"/>
                </a:solidFill>
                <a:latin typeface="Arial" pitchFamily="34" charset="0"/>
                <a:ea typeface="Arial" pitchFamily="34" charset="-122"/>
                <a:cs typeface="Arial" pitchFamily="34" charset="-120"/>
              </a:rPr>
              <a:t>05</a:t>
            </a:r>
            <a:endParaRPr lang="en-US" sz="1000" dirty="0"/>
          </a:p>
        </p:txBody>
      </p:sp>
      <p:sp>
        <p:nvSpPr>
          <p:cNvPr id="7" name="Text 5"/>
          <p:cNvSpPr/>
          <p:nvPr/>
        </p:nvSpPr>
        <p:spPr>
          <a:xfrm>
            <a:off x="658368" y="969264"/>
            <a:ext cx="10927080" cy="704088"/>
          </a:xfrm>
          <a:prstGeom prst="rect">
            <a:avLst/>
          </a:prstGeom>
          <a:noFill/>
          <a:ln/>
        </p:spPr>
        <p:txBody>
          <a:bodyPr wrap="square" lIns="0" tIns="0" rIns="0" bIns="0" rtlCol="0" anchor="ctr"/>
          <a:lstStyle/>
          <a:p>
            <a:pPr indent="0" marL="0">
              <a:buNone/>
            </a:pPr>
            <a:r>
              <a:rPr lang="en-US" sz="3600" b="1" dirty="0">
                <a:solidFill>
                  <a:srgbClr val="10243A"/>
                </a:solidFill>
                <a:latin typeface="Arial" pitchFamily="34" charset="0"/>
                <a:ea typeface="Arial" pitchFamily="34" charset="-122"/>
                <a:cs typeface="Arial" pitchFamily="34" charset="-120"/>
              </a:rPr>
              <a:t>Add a checkpoint, not a new app.</a:t>
            </a:r>
            <a:endParaRPr lang="en-US" sz="3600" dirty="0"/>
          </a:p>
        </p:txBody>
      </p:sp>
      <p:sp>
        <p:nvSpPr>
          <p:cNvPr id="8" name="Text 6"/>
          <p:cNvSpPr/>
          <p:nvPr/>
        </p:nvSpPr>
        <p:spPr>
          <a:xfrm>
            <a:off x="694944" y="1719072"/>
            <a:ext cx="9875520" cy="292608"/>
          </a:xfrm>
          <a:prstGeom prst="rect">
            <a:avLst/>
          </a:prstGeom>
          <a:noFill/>
          <a:ln/>
        </p:spPr>
        <p:txBody>
          <a:bodyPr wrap="square" lIns="0" tIns="0" rIns="0" bIns="0" rtlCol="0" anchor="ctr"/>
          <a:lstStyle/>
          <a:p>
            <a:pPr indent="0" marL="0">
              <a:buNone/>
            </a:pPr>
            <a:r>
              <a:rPr lang="en-US" sz="1800" dirty="0">
                <a:solidFill>
                  <a:srgbClr val="54647B"/>
                </a:solidFill>
                <a:latin typeface="Arial" pitchFamily="34" charset="0"/>
                <a:ea typeface="Arial" pitchFamily="34" charset="-122"/>
                <a:cs typeface="Arial" pitchFamily="34" charset="-120"/>
              </a:rPr>
              <a:t>New application or existing application</a:t>
            </a:r>
            <a:endParaRPr lang="en-US" sz="1800" dirty="0"/>
          </a:p>
        </p:txBody>
      </p:sp>
      <p:sp>
        <p:nvSpPr>
          <p:cNvPr id="9" name="Shape 7"/>
          <p:cNvSpPr/>
          <p:nvPr/>
        </p:nvSpPr>
        <p:spPr>
          <a:xfrm>
            <a:off x="694944" y="2322576"/>
            <a:ext cx="2926080" cy="3328416"/>
          </a:xfrm>
          <a:prstGeom prst="roundRect">
            <a:avLst>
              <a:gd name="adj" fmla="val 3750"/>
            </a:avLst>
          </a:prstGeom>
          <a:solidFill>
            <a:srgbClr val="FFFFFF"/>
          </a:solidFill>
          <a:ln w="12700">
            <a:solidFill>
              <a:srgbClr val="DCE4EE"/>
            </a:solidFill>
            <a:prstDash val="solid"/>
          </a:ln>
        </p:spPr>
      </p:sp>
      <p:sp>
        <p:nvSpPr>
          <p:cNvPr id="10" name="Shape 8"/>
          <p:cNvSpPr/>
          <p:nvPr/>
        </p:nvSpPr>
        <p:spPr>
          <a:xfrm>
            <a:off x="4142232" y="2322576"/>
            <a:ext cx="7360920" cy="3328416"/>
          </a:xfrm>
          <a:prstGeom prst="roundRect">
            <a:avLst>
              <a:gd name="adj" fmla="val 3297"/>
            </a:avLst>
          </a:prstGeom>
          <a:solidFill>
            <a:srgbClr val="EAF0F4"/>
          </a:solidFill>
          <a:ln w="12700">
            <a:solidFill>
              <a:srgbClr val="DCE4EE"/>
            </a:solidFill>
            <a:prstDash val="solid"/>
          </a:ln>
        </p:spPr>
      </p:sp>
      <p:sp>
        <p:nvSpPr>
          <p:cNvPr id="11" name="Text 9"/>
          <p:cNvSpPr/>
          <p:nvPr/>
        </p:nvSpPr>
        <p:spPr>
          <a:xfrm>
            <a:off x="960120" y="2587752"/>
            <a:ext cx="2331720" cy="201168"/>
          </a:xfrm>
          <a:prstGeom prst="rect">
            <a:avLst/>
          </a:prstGeom>
          <a:noFill/>
          <a:ln/>
        </p:spPr>
        <p:txBody>
          <a:bodyPr wrap="square" lIns="0" tIns="0" rIns="0" bIns="0" rtlCol="0" anchor="ctr"/>
          <a:lstStyle/>
          <a:p>
            <a:pPr indent="0" marL="0">
              <a:buNone/>
            </a:pPr>
            <a:r>
              <a:rPr lang="en-US" sz="1150" b="1" spc="120" kern="0" dirty="0">
                <a:solidFill>
                  <a:srgbClr val="54647B"/>
                </a:solidFill>
                <a:latin typeface="Arial" pitchFamily="34" charset="0"/>
                <a:ea typeface="Arial" pitchFamily="34" charset="-122"/>
                <a:cs typeface="Arial" pitchFamily="34" charset="-120"/>
              </a:rPr>
              <a:t>BROWSER</a:t>
            </a:r>
            <a:endParaRPr lang="en-US" sz="1150" dirty="0"/>
          </a:p>
        </p:txBody>
      </p:sp>
      <p:sp>
        <p:nvSpPr>
          <p:cNvPr id="12" name="Text 10"/>
          <p:cNvSpPr/>
          <p:nvPr/>
        </p:nvSpPr>
        <p:spPr>
          <a:xfrm>
            <a:off x="4425696" y="2587752"/>
            <a:ext cx="6309360" cy="201168"/>
          </a:xfrm>
          <a:prstGeom prst="rect">
            <a:avLst/>
          </a:prstGeom>
          <a:noFill/>
          <a:ln/>
        </p:spPr>
        <p:txBody>
          <a:bodyPr wrap="square" lIns="0" tIns="0" rIns="0" bIns="0" rtlCol="0" anchor="ctr"/>
          <a:lstStyle/>
          <a:p>
            <a:pPr indent="0" marL="0">
              <a:buNone/>
            </a:pPr>
            <a:r>
              <a:rPr lang="en-US" sz="1150" b="1" spc="120" kern="0" dirty="0">
                <a:solidFill>
                  <a:srgbClr val="54647B"/>
                </a:solidFill>
                <a:latin typeface="Arial" pitchFamily="34" charset="0"/>
                <a:ea typeface="Arial" pitchFamily="34" charset="-122"/>
                <a:cs typeface="Arial" pitchFamily="34" charset="-120"/>
              </a:rPr>
              <a:t>YOUR APPLICATION SERVER</a:t>
            </a:r>
            <a:endParaRPr lang="en-US" sz="1150" dirty="0"/>
          </a:p>
        </p:txBody>
      </p:sp>
      <p:sp>
        <p:nvSpPr>
          <p:cNvPr id="13" name="Shape 11"/>
          <p:cNvSpPr/>
          <p:nvPr/>
        </p:nvSpPr>
        <p:spPr>
          <a:xfrm>
            <a:off x="3337560" y="3621024"/>
            <a:ext cx="1252728" cy="0"/>
          </a:xfrm>
          <a:prstGeom prst="line">
            <a:avLst/>
          </a:prstGeom>
          <a:noFill/>
          <a:ln w="27940">
            <a:solidFill>
              <a:srgbClr val="006D68"/>
            </a:solidFill>
            <a:prstDash val="solid"/>
            <a:tailEnd type="triangle"/>
          </a:ln>
        </p:spPr>
      </p:sp>
      <p:sp>
        <p:nvSpPr>
          <p:cNvPr id="14" name="Shape 12"/>
          <p:cNvSpPr/>
          <p:nvPr/>
        </p:nvSpPr>
        <p:spPr>
          <a:xfrm>
            <a:off x="7370064" y="3621024"/>
            <a:ext cx="969264" cy="0"/>
          </a:xfrm>
          <a:prstGeom prst="line">
            <a:avLst/>
          </a:prstGeom>
          <a:noFill/>
          <a:ln w="27940">
            <a:solidFill>
              <a:srgbClr val="006D68"/>
            </a:solidFill>
            <a:prstDash val="solid"/>
            <a:tailEnd type="triangle"/>
          </a:ln>
        </p:spPr>
      </p:sp>
      <p:sp>
        <p:nvSpPr>
          <p:cNvPr id="15" name="Text 13"/>
          <p:cNvSpPr/>
          <p:nvPr/>
        </p:nvSpPr>
        <p:spPr>
          <a:xfrm>
            <a:off x="7406640" y="3246120"/>
            <a:ext cx="905256" cy="210312"/>
          </a:xfrm>
          <a:prstGeom prst="rect">
            <a:avLst/>
          </a:prstGeom>
          <a:noFill/>
          <a:ln/>
        </p:spPr>
        <p:txBody>
          <a:bodyPr wrap="square" lIns="0" tIns="0" rIns="0" bIns="0" rtlCol="0" anchor="ctr"/>
          <a:lstStyle/>
          <a:p>
            <a:pPr algn="ctr" indent="0" marL="0">
              <a:buNone/>
            </a:pPr>
            <a:r>
              <a:rPr lang="en-US" sz="1080" b="1" dirty="0">
                <a:solidFill>
                  <a:srgbClr val="006D68"/>
                </a:solidFill>
                <a:latin typeface="Arial" pitchFamily="34" charset="0"/>
                <a:ea typeface="Arial" pitchFamily="34" charset="-122"/>
                <a:cs typeface="Arial" pitchFamily="34" charset="-120"/>
              </a:rPr>
              <a:t>Verified</a:t>
            </a:r>
            <a:endParaRPr lang="en-US" sz="1080" dirty="0"/>
          </a:p>
        </p:txBody>
      </p:sp>
      <p:sp>
        <p:nvSpPr>
          <p:cNvPr id="16" name="Shape 14"/>
          <p:cNvSpPr/>
          <p:nvPr/>
        </p:nvSpPr>
        <p:spPr>
          <a:xfrm>
            <a:off x="960120" y="3118104"/>
            <a:ext cx="2359152" cy="1005840"/>
          </a:xfrm>
          <a:prstGeom prst="roundRect">
            <a:avLst>
              <a:gd name="adj" fmla="val 10909"/>
            </a:avLst>
          </a:prstGeom>
          <a:solidFill>
            <a:srgbClr val="F3F6FA"/>
          </a:solidFill>
          <a:ln w="12700">
            <a:solidFill>
              <a:srgbClr val="DCE4EE"/>
            </a:solidFill>
            <a:prstDash val="solid"/>
          </a:ln>
        </p:spPr>
      </p:sp>
      <p:sp>
        <p:nvSpPr>
          <p:cNvPr id="17" name="Text 15"/>
          <p:cNvSpPr/>
          <p:nvPr/>
        </p:nvSpPr>
        <p:spPr>
          <a:xfrm>
            <a:off x="1115568" y="3300984"/>
            <a:ext cx="2048256" cy="301752"/>
          </a:xfrm>
          <a:prstGeom prst="rect">
            <a:avLst/>
          </a:prstGeom>
          <a:noFill/>
          <a:ln/>
        </p:spPr>
        <p:txBody>
          <a:bodyPr wrap="square" lIns="0" tIns="0" rIns="0" bIns="0" rtlCol="0" anchor="ctr"/>
          <a:lstStyle/>
          <a:p>
            <a:pPr algn="ctr" indent="0" marL="0">
              <a:buNone/>
            </a:pPr>
            <a:r>
              <a:rPr lang="en-US" sz="2100" b="1" dirty="0">
                <a:solidFill>
                  <a:srgbClr val="10243A"/>
                </a:solidFill>
                <a:latin typeface="Arial" pitchFamily="34" charset="0"/>
                <a:ea typeface="Arial" pitchFamily="34" charset="-122"/>
                <a:cs typeface="Arial" pitchFamily="34" charset="-120"/>
              </a:rPr>
              <a:t>Your page</a:t>
            </a:r>
            <a:endParaRPr lang="en-US" sz="2100" dirty="0"/>
          </a:p>
        </p:txBody>
      </p:sp>
      <p:sp>
        <p:nvSpPr>
          <p:cNvPr id="18" name="Text 16"/>
          <p:cNvSpPr/>
          <p:nvPr/>
        </p:nvSpPr>
        <p:spPr>
          <a:xfrm>
            <a:off x="1097280" y="3694176"/>
            <a:ext cx="2084832" cy="246888"/>
          </a:xfrm>
          <a:prstGeom prst="rect">
            <a:avLst/>
          </a:prstGeom>
          <a:noFill/>
          <a:ln/>
        </p:spPr>
        <p:txBody>
          <a:bodyPr wrap="square" lIns="0" tIns="0" rIns="0" bIns="0" rtlCol="0" anchor="ctr"/>
          <a:lstStyle/>
          <a:p>
            <a:pPr algn="ctr" indent="0" marL="0">
              <a:buNone/>
            </a:pPr>
            <a:r>
              <a:rPr lang="en-US" sz="1400" dirty="0">
                <a:solidFill>
                  <a:srgbClr val="006D68"/>
                </a:solidFill>
                <a:latin typeface="Arial" pitchFamily="34" charset="0"/>
                <a:ea typeface="Arial" pitchFamily="34" charset="-122"/>
                <a:cs typeface="Arial" pitchFamily="34" charset="-120"/>
              </a:rPr>
              <a:t>+ countersign.js</a:t>
            </a:r>
            <a:endParaRPr lang="en-US" sz="1400" dirty="0"/>
          </a:p>
        </p:txBody>
      </p:sp>
      <p:sp>
        <p:nvSpPr>
          <p:cNvPr id="19" name="Shape 17"/>
          <p:cNvSpPr/>
          <p:nvPr/>
        </p:nvSpPr>
        <p:spPr>
          <a:xfrm>
            <a:off x="4626864" y="3118104"/>
            <a:ext cx="2715768" cy="1005840"/>
          </a:xfrm>
          <a:prstGeom prst="roundRect">
            <a:avLst>
              <a:gd name="adj" fmla="val 10909"/>
            </a:avLst>
          </a:prstGeom>
          <a:solidFill>
            <a:srgbClr val="10243A"/>
          </a:solidFill>
          <a:ln w="12700">
            <a:solidFill>
              <a:srgbClr val="10243A"/>
            </a:solidFill>
            <a:prstDash val="solid"/>
          </a:ln>
        </p:spPr>
      </p:sp>
      <p:sp>
        <p:nvSpPr>
          <p:cNvPr id="20" name="Text 18"/>
          <p:cNvSpPr/>
          <p:nvPr/>
        </p:nvSpPr>
        <p:spPr>
          <a:xfrm>
            <a:off x="4791456" y="3264408"/>
            <a:ext cx="2386584" cy="694944"/>
          </a:xfrm>
          <a:prstGeom prst="rect">
            <a:avLst/>
          </a:prstGeom>
          <a:noFill/>
          <a:ln/>
        </p:spPr>
        <p:txBody>
          <a:bodyPr wrap="square" lIns="0" tIns="0" rIns="0" bIns="0" rtlCol="0" anchor="ctr"/>
          <a:lstStyle/>
          <a:p>
            <a:pPr algn="ctr" indent="0" marL="0">
              <a:buNone/>
            </a:pPr>
            <a:r>
              <a:rPr lang="en-US" sz="2100" b="1" dirty="0">
                <a:solidFill>
                  <a:srgbClr val="BCF58A"/>
                </a:solidFill>
                <a:latin typeface="Arial" pitchFamily="34" charset="0"/>
                <a:ea typeface="Arial" pitchFamily="34" charset="-122"/>
                <a:cs typeface="Arial" pitchFamily="34" charset="-120"/>
              </a:rPr>
              <a:t>Countersign</a:t>
            </a:r>
            <a:endParaRPr lang="en-US" sz="2100" dirty="0"/>
          </a:p>
          <a:p>
            <a:pPr algn="ctr" indent="0" marL="0">
              <a:buNone/>
            </a:pPr>
            <a:r>
              <a:rPr lang="en-US" sz="2100" b="1" dirty="0">
                <a:solidFill>
                  <a:srgbClr val="BCF58A"/>
                </a:solidFill>
                <a:latin typeface="Arial" pitchFamily="34" charset="0"/>
                <a:ea typeface="Arial" pitchFamily="34" charset="-122"/>
                <a:cs typeface="Arial" pitchFamily="34" charset="-120"/>
              </a:rPr>
              <a:t>server gate</a:t>
            </a:r>
            <a:endParaRPr lang="en-US" sz="2100" dirty="0"/>
          </a:p>
        </p:txBody>
      </p:sp>
      <p:sp>
        <p:nvSpPr>
          <p:cNvPr id="21" name="Shape 19"/>
          <p:cNvSpPr/>
          <p:nvPr/>
        </p:nvSpPr>
        <p:spPr>
          <a:xfrm>
            <a:off x="8385048" y="3118104"/>
            <a:ext cx="2770632" cy="1005840"/>
          </a:xfrm>
          <a:prstGeom prst="roundRect">
            <a:avLst>
              <a:gd name="adj" fmla="val 10909"/>
            </a:avLst>
          </a:prstGeom>
          <a:solidFill>
            <a:srgbClr val="FFFFFF"/>
          </a:solidFill>
          <a:ln w="12700">
            <a:solidFill>
              <a:srgbClr val="DCE4EE"/>
            </a:solidFill>
            <a:prstDash val="solid"/>
          </a:ln>
        </p:spPr>
      </p:sp>
      <p:sp>
        <p:nvSpPr>
          <p:cNvPr id="22" name="Text 20"/>
          <p:cNvSpPr/>
          <p:nvPr/>
        </p:nvSpPr>
        <p:spPr>
          <a:xfrm>
            <a:off x="8558784" y="3291840"/>
            <a:ext cx="2423160" cy="649224"/>
          </a:xfrm>
          <a:prstGeom prst="rect">
            <a:avLst/>
          </a:prstGeom>
          <a:noFill/>
          <a:ln/>
        </p:spPr>
        <p:txBody>
          <a:bodyPr wrap="square" lIns="0" tIns="0" rIns="0" bIns="0" rtlCol="0" anchor="ctr"/>
          <a:lstStyle/>
          <a:p>
            <a:pPr algn="ctr" indent="0" marL="0">
              <a:buNone/>
            </a:pPr>
            <a:r>
              <a:rPr lang="en-US" sz="2100" b="1" dirty="0">
                <a:solidFill>
                  <a:srgbClr val="10243A"/>
                </a:solidFill>
                <a:latin typeface="Arial" pitchFamily="34" charset="0"/>
                <a:ea typeface="Arial" pitchFamily="34" charset="-122"/>
                <a:cs typeface="Arial" pitchFamily="34" charset="-120"/>
              </a:rPr>
              <a:t>Your action</a:t>
            </a:r>
            <a:endParaRPr lang="en-US" sz="2100" dirty="0"/>
          </a:p>
          <a:p>
            <a:pPr algn="ctr" indent="0" marL="0">
              <a:buNone/>
            </a:pPr>
            <a:r>
              <a:rPr lang="en-US" sz="2100" b="1" dirty="0">
                <a:solidFill>
                  <a:srgbClr val="10243A"/>
                </a:solidFill>
                <a:latin typeface="Arial" pitchFamily="34" charset="0"/>
                <a:ea typeface="Arial" pitchFamily="34" charset="-122"/>
                <a:cs typeface="Arial" pitchFamily="34" charset="-120"/>
              </a:rPr>
              <a:t>+ data</a:t>
            </a:r>
            <a:endParaRPr lang="en-US" sz="2100" dirty="0"/>
          </a:p>
        </p:txBody>
      </p:sp>
      <p:sp>
        <p:nvSpPr>
          <p:cNvPr id="23" name="Shape 21"/>
          <p:cNvSpPr/>
          <p:nvPr/>
        </p:nvSpPr>
        <p:spPr>
          <a:xfrm flipV="1">
            <a:off x="2130552" y="4142232"/>
            <a:ext cx="0" cy="557784"/>
          </a:xfrm>
          <a:prstGeom prst="line">
            <a:avLst/>
          </a:prstGeom>
          <a:noFill/>
          <a:ln w="19050">
            <a:solidFill>
              <a:srgbClr val="006D68"/>
            </a:solidFill>
            <a:prstDash val="solid"/>
            <a:tailEnd type="triangle"/>
          </a:ln>
        </p:spPr>
      </p:sp>
      <p:sp>
        <p:nvSpPr>
          <p:cNvPr id="24" name="Shape 22"/>
          <p:cNvSpPr/>
          <p:nvPr/>
        </p:nvSpPr>
        <p:spPr>
          <a:xfrm>
            <a:off x="1284823" y="4744639"/>
            <a:ext cx="146121" cy="146121"/>
          </a:xfrm>
          <a:prstGeom prst="ellipse">
            <a:avLst/>
          </a:prstGeom>
          <a:solidFill>
            <a:srgbClr val="FFFFFF"/>
          </a:solidFill>
          <a:ln w="25400">
            <a:solidFill>
              <a:srgbClr val="006D68"/>
            </a:solidFill>
            <a:prstDash val="solid"/>
          </a:ln>
        </p:spPr>
      </p:sp>
      <p:sp>
        <p:nvSpPr>
          <p:cNvPr id="25" name="Shape 23"/>
          <p:cNvSpPr/>
          <p:nvPr/>
        </p:nvSpPr>
        <p:spPr>
          <a:xfrm flipV="1">
            <a:off x="1203168" y="5045476"/>
            <a:ext cx="0" cy="73061"/>
          </a:xfrm>
          <a:prstGeom prst="line">
            <a:avLst/>
          </a:prstGeom>
          <a:noFill/>
          <a:ln w="25400">
            <a:solidFill>
              <a:srgbClr val="006D68"/>
            </a:solidFill>
            <a:prstDash val="solid"/>
          </a:ln>
        </p:spPr>
      </p:sp>
      <p:sp>
        <p:nvSpPr>
          <p:cNvPr id="26" name="Shape 24"/>
          <p:cNvSpPr/>
          <p:nvPr/>
        </p:nvSpPr>
        <p:spPr>
          <a:xfrm flipV="1">
            <a:off x="1203168" y="4963820"/>
            <a:ext cx="73061" cy="81656"/>
          </a:xfrm>
          <a:prstGeom prst="line">
            <a:avLst/>
          </a:prstGeom>
          <a:noFill/>
          <a:ln w="25400">
            <a:solidFill>
              <a:srgbClr val="006D68"/>
            </a:solidFill>
            <a:prstDash val="solid"/>
          </a:ln>
        </p:spPr>
      </p:sp>
      <p:sp>
        <p:nvSpPr>
          <p:cNvPr id="27" name="Shape 25"/>
          <p:cNvSpPr/>
          <p:nvPr/>
        </p:nvSpPr>
        <p:spPr>
          <a:xfrm>
            <a:off x="1276228" y="4963820"/>
            <a:ext cx="163312" cy="0"/>
          </a:xfrm>
          <a:prstGeom prst="line">
            <a:avLst/>
          </a:prstGeom>
          <a:noFill/>
          <a:ln w="25400">
            <a:solidFill>
              <a:srgbClr val="006D68"/>
            </a:solidFill>
            <a:prstDash val="solid"/>
          </a:ln>
        </p:spPr>
      </p:sp>
      <p:sp>
        <p:nvSpPr>
          <p:cNvPr id="28" name="Shape 26"/>
          <p:cNvSpPr/>
          <p:nvPr/>
        </p:nvSpPr>
        <p:spPr>
          <a:xfrm>
            <a:off x="1439540" y="4963820"/>
            <a:ext cx="73061" cy="81656"/>
          </a:xfrm>
          <a:prstGeom prst="line">
            <a:avLst/>
          </a:prstGeom>
          <a:noFill/>
          <a:ln w="25400">
            <a:solidFill>
              <a:srgbClr val="006D68"/>
            </a:solidFill>
            <a:prstDash val="solid"/>
          </a:ln>
        </p:spPr>
      </p:sp>
      <p:sp>
        <p:nvSpPr>
          <p:cNvPr id="29" name="Shape 27"/>
          <p:cNvSpPr/>
          <p:nvPr/>
        </p:nvSpPr>
        <p:spPr>
          <a:xfrm>
            <a:off x="1512600" y="5045476"/>
            <a:ext cx="0" cy="73061"/>
          </a:xfrm>
          <a:prstGeom prst="line">
            <a:avLst/>
          </a:prstGeom>
          <a:noFill/>
          <a:ln w="25400">
            <a:solidFill>
              <a:srgbClr val="006D68"/>
            </a:solidFill>
            <a:prstDash val="solid"/>
          </a:ln>
        </p:spPr>
      </p:sp>
      <p:sp>
        <p:nvSpPr>
          <p:cNvPr id="30" name="Text 28"/>
          <p:cNvSpPr/>
          <p:nvPr/>
        </p:nvSpPr>
        <p:spPr>
          <a:xfrm>
            <a:off x="1755648" y="4700016"/>
            <a:ext cx="1481328" cy="548640"/>
          </a:xfrm>
          <a:prstGeom prst="rect">
            <a:avLst/>
          </a:prstGeom>
          <a:noFill/>
          <a:ln/>
        </p:spPr>
        <p:txBody>
          <a:bodyPr wrap="square" lIns="0" tIns="0" rIns="0" bIns="0" rtlCol="0" anchor="ctr"/>
          <a:lstStyle/>
          <a:p>
            <a:pPr indent="0" marL="0">
              <a:buNone/>
            </a:pPr>
            <a:r>
              <a:rPr lang="en-US" sz="1600" b="1" dirty="0">
                <a:solidFill>
                  <a:srgbClr val="006D68"/>
                </a:solidFill>
                <a:latin typeface="Arial" pitchFamily="34" charset="0"/>
                <a:ea typeface="Arial" pitchFamily="34" charset="-122"/>
                <a:cs typeface="Arial" pitchFamily="34" charset="-120"/>
              </a:rPr>
              <a:t>Human +</a:t>
            </a:r>
            <a:endParaRPr lang="en-US" sz="1600" dirty="0"/>
          </a:p>
          <a:p>
            <a:pPr indent="0" marL="0">
              <a:buNone/>
            </a:pPr>
            <a:r>
              <a:rPr lang="en-US" sz="1600" b="1" dirty="0">
                <a:solidFill>
                  <a:srgbClr val="006D68"/>
                </a:solidFill>
                <a:latin typeface="Arial" pitchFamily="34" charset="0"/>
                <a:ea typeface="Arial" pitchFamily="34" charset="-122"/>
                <a:cs typeface="Arial" pitchFamily="34" charset="-120"/>
              </a:rPr>
              <a:t>passkey</a:t>
            </a:r>
            <a:endParaRPr lang="en-US" sz="1600" dirty="0"/>
          </a:p>
        </p:txBody>
      </p:sp>
      <p:sp>
        <p:nvSpPr>
          <p:cNvPr id="31" name="Shape 29"/>
          <p:cNvSpPr/>
          <p:nvPr/>
        </p:nvSpPr>
        <p:spPr>
          <a:xfrm flipV="1">
            <a:off x="5303520" y="4142232"/>
            <a:ext cx="0" cy="594360"/>
          </a:xfrm>
          <a:prstGeom prst="line">
            <a:avLst/>
          </a:prstGeom>
          <a:noFill/>
          <a:ln w="19050">
            <a:solidFill>
              <a:srgbClr val="006D68"/>
            </a:solidFill>
            <a:prstDash val="solid"/>
            <a:tailEnd type="triangle"/>
          </a:ln>
        </p:spPr>
      </p:sp>
      <p:sp>
        <p:nvSpPr>
          <p:cNvPr id="32" name="Shape 30"/>
          <p:cNvSpPr/>
          <p:nvPr/>
        </p:nvSpPr>
        <p:spPr>
          <a:xfrm>
            <a:off x="4617720" y="4800600"/>
            <a:ext cx="1380744" cy="384048"/>
          </a:xfrm>
          <a:prstGeom prst="roundRect">
            <a:avLst>
              <a:gd name="adj" fmla="val 28571"/>
            </a:avLst>
          </a:prstGeom>
          <a:solidFill>
            <a:srgbClr val="EAF4EF"/>
          </a:solidFill>
          <a:ln w="12700">
            <a:solidFill>
              <a:srgbClr val="EAF4EF"/>
            </a:solidFill>
            <a:prstDash val="solid"/>
          </a:ln>
        </p:spPr>
      </p:sp>
      <p:sp>
        <p:nvSpPr>
          <p:cNvPr id="33" name="Text 31"/>
          <p:cNvSpPr/>
          <p:nvPr/>
        </p:nvSpPr>
        <p:spPr>
          <a:xfrm>
            <a:off x="4700016" y="4818888"/>
            <a:ext cx="1216152" cy="338328"/>
          </a:xfrm>
          <a:prstGeom prst="rect">
            <a:avLst/>
          </a:prstGeom>
          <a:noFill/>
          <a:ln/>
        </p:spPr>
        <p:txBody>
          <a:bodyPr wrap="square" lIns="0" tIns="0" rIns="0" bIns="0" rtlCol="0" anchor="ctr"/>
          <a:lstStyle/>
          <a:p>
            <a:pPr algn="ctr" indent="0" marL="0">
              <a:buNone/>
            </a:pPr>
            <a:r>
              <a:rPr lang="en-US" sz="1230" b="1" dirty="0">
                <a:solidFill>
                  <a:srgbClr val="006D68"/>
                </a:solidFill>
                <a:latin typeface="Arial" pitchFamily="34" charset="0"/>
                <a:ea typeface="Arial" pitchFamily="34" charset="-122"/>
                <a:cs typeface="Arial" pitchFamily="34" charset="-120"/>
              </a:rPr>
              <a:t>Policy</a:t>
            </a:r>
            <a:endParaRPr lang="en-US" sz="1230" dirty="0"/>
          </a:p>
        </p:txBody>
      </p:sp>
      <p:sp>
        <p:nvSpPr>
          <p:cNvPr id="34" name="Shape 32"/>
          <p:cNvSpPr/>
          <p:nvPr/>
        </p:nvSpPr>
        <p:spPr>
          <a:xfrm>
            <a:off x="6702552" y="4142232"/>
            <a:ext cx="0" cy="576072"/>
          </a:xfrm>
          <a:prstGeom prst="line">
            <a:avLst/>
          </a:prstGeom>
          <a:noFill/>
          <a:ln w="19050">
            <a:solidFill>
              <a:srgbClr val="A27B3B"/>
            </a:solidFill>
            <a:prstDash val="solid"/>
            <a:tailEnd type="triangle"/>
          </a:ln>
        </p:spPr>
      </p:sp>
      <p:sp>
        <p:nvSpPr>
          <p:cNvPr id="35" name="Shape 33"/>
          <p:cNvSpPr/>
          <p:nvPr/>
        </p:nvSpPr>
        <p:spPr>
          <a:xfrm>
            <a:off x="6117336" y="4800600"/>
            <a:ext cx="1216152" cy="384048"/>
          </a:xfrm>
          <a:prstGeom prst="roundRect">
            <a:avLst>
              <a:gd name="adj" fmla="val 28571"/>
            </a:avLst>
          </a:prstGeom>
          <a:solidFill>
            <a:srgbClr val="FFF4DD"/>
          </a:solidFill>
          <a:ln w="12700">
            <a:solidFill>
              <a:srgbClr val="FFF4DD"/>
            </a:solidFill>
            <a:prstDash val="solid"/>
          </a:ln>
        </p:spPr>
      </p:sp>
      <p:sp>
        <p:nvSpPr>
          <p:cNvPr id="36" name="Text 34"/>
          <p:cNvSpPr/>
          <p:nvPr/>
        </p:nvSpPr>
        <p:spPr>
          <a:xfrm>
            <a:off x="6199632" y="4818888"/>
            <a:ext cx="1051560" cy="338328"/>
          </a:xfrm>
          <a:prstGeom prst="rect">
            <a:avLst/>
          </a:prstGeom>
          <a:noFill/>
          <a:ln/>
        </p:spPr>
        <p:txBody>
          <a:bodyPr wrap="square" lIns="0" tIns="0" rIns="0" bIns="0" rtlCol="0" anchor="ctr"/>
          <a:lstStyle/>
          <a:p>
            <a:pPr algn="ctr" indent="0" marL="0">
              <a:buNone/>
            </a:pPr>
            <a:r>
              <a:rPr lang="en-US" sz="1230" b="1" dirty="0">
                <a:solidFill>
                  <a:srgbClr val="815011"/>
                </a:solidFill>
                <a:latin typeface="Arial" pitchFamily="34" charset="0"/>
                <a:ea typeface="Arial" pitchFamily="34" charset="-122"/>
                <a:cs typeface="Arial" pitchFamily="34" charset="-120"/>
              </a:rPr>
              <a:t>Reject</a:t>
            </a:r>
            <a:endParaRPr lang="en-US" sz="1230" dirty="0"/>
          </a:p>
        </p:txBody>
      </p:sp>
      <p:sp>
        <p:nvSpPr>
          <p:cNvPr id="37" name="Shape 35"/>
          <p:cNvSpPr/>
          <p:nvPr/>
        </p:nvSpPr>
        <p:spPr>
          <a:xfrm>
            <a:off x="7351776" y="3867912"/>
            <a:ext cx="438912" cy="0"/>
          </a:xfrm>
          <a:prstGeom prst="line">
            <a:avLst/>
          </a:prstGeom>
          <a:noFill/>
          <a:ln w="15240">
            <a:solidFill>
              <a:srgbClr val="006D68"/>
            </a:solidFill>
            <a:prstDash val="solid"/>
          </a:ln>
        </p:spPr>
      </p:sp>
      <p:sp>
        <p:nvSpPr>
          <p:cNvPr id="38" name="Shape 36"/>
          <p:cNvSpPr/>
          <p:nvPr/>
        </p:nvSpPr>
        <p:spPr>
          <a:xfrm>
            <a:off x="7790688" y="3867912"/>
            <a:ext cx="0" cy="1124712"/>
          </a:xfrm>
          <a:prstGeom prst="line">
            <a:avLst/>
          </a:prstGeom>
          <a:noFill/>
          <a:ln w="15240">
            <a:solidFill>
              <a:srgbClr val="006D68"/>
            </a:solidFill>
            <a:prstDash val="solid"/>
          </a:ln>
        </p:spPr>
      </p:sp>
      <p:sp>
        <p:nvSpPr>
          <p:cNvPr id="39" name="Shape 37"/>
          <p:cNvSpPr/>
          <p:nvPr/>
        </p:nvSpPr>
        <p:spPr>
          <a:xfrm>
            <a:off x="7790688" y="4992624"/>
            <a:ext cx="585216" cy="0"/>
          </a:xfrm>
          <a:prstGeom prst="line">
            <a:avLst/>
          </a:prstGeom>
          <a:noFill/>
          <a:ln w="15240">
            <a:solidFill>
              <a:srgbClr val="006D68"/>
            </a:solidFill>
            <a:prstDash val="solid"/>
            <a:tailEnd type="triangle"/>
          </a:ln>
        </p:spPr>
      </p:sp>
      <p:sp>
        <p:nvSpPr>
          <p:cNvPr id="40" name="Shape 38"/>
          <p:cNvSpPr/>
          <p:nvPr/>
        </p:nvSpPr>
        <p:spPr>
          <a:xfrm>
            <a:off x="8403336" y="4800600"/>
            <a:ext cx="2734056" cy="384048"/>
          </a:xfrm>
          <a:prstGeom prst="roundRect">
            <a:avLst>
              <a:gd name="adj" fmla="val 28571"/>
            </a:avLst>
          </a:prstGeom>
          <a:solidFill>
            <a:srgbClr val="FFFFFF"/>
          </a:solidFill>
          <a:ln w="12700">
            <a:solidFill>
              <a:srgbClr val="FFFFFF"/>
            </a:solidFill>
            <a:prstDash val="solid"/>
          </a:ln>
        </p:spPr>
      </p:sp>
      <p:sp>
        <p:nvSpPr>
          <p:cNvPr id="41" name="Text 39"/>
          <p:cNvSpPr/>
          <p:nvPr/>
        </p:nvSpPr>
        <p:spPr>
          <a:xfrm>
            <a:off x="8485632" y="4818888"/>
            <a:ext cx="2569464" cy="338328"/>
          </a:xfrm>
          <a:prstGeom prst="rect">
            <a:avLst/>
          </a:prstGeom>
          <a:noFill/>
          <a:ln/>
        </p:spPr>
        <p:txBody>
          <a:bodyPr wrap="square" lIns="0" tIns="0" rIns="0" bIns="0" rtlCol="0" anchor="ctr"/>
          <a:lstStyle/>
          <a:p>
            <a:pPr algn="ctr" indent="0" marL="0">
              <a:buNone/>
            </a:pPr>
            <a:r>
              <a:rPr lang="en-US" sz="1230" b="1" dirty="0">
                <a:solidFill>
                  <a:srgbClr val="006D68"/>
                </a:solidFill>
                <a:latin typeface="Arial" pitchFamily="34" charset="0"/>
                <a:ea typeface="Arial" pitchFamily="34" charset="-122"/>
                <a:cs typeface="Arial" pitchFamily="34" charset="-120"/>
              </a:rPr>
              <a:t>Decision log</a:t>
            </a:r>
            <a:endParaRPr lang="en-US" sz="1230" dirty="0"/>
          </a:p>
        </p:txBody>
      </p:sp>
      <p:sp>
        <p:nvSpPr>
          <p:cNvPr id="42" name="Text 40"/>
          <p:cNvSpPr/>
          <p:nvPr/>
        </p:nvSpPr>
        <p:spPr>
          <a:xfrm>
            <a:off x="704088" y="6007608"/>
            <a:ext cx="10789920" cy="228600"/>
          </a:xfrm>
          <a:prstGeom prst="rect">
            <a:avLst/>
          </a:prstGeom>
          <a:noFill/>
          <a:ln/>
        </p:spPr>
        <p:txBody>
          <a:bodyPr wrap="square" lIns="0" tIns="0" rIns="0" bIns="0" rtlCol="0" anchor="ctr"/>
          <a:lstStyle/>
          <a:p>
            <a:pPr indent="0" marL="0">
              <a:buNone/>
            </a:pPr>
            <a:r>
              <a:rPr lang="en-US" sz="1400" dirty="0">
                <a:solidFill>
                  <a:srgbClr val="54647B"/>
                </a:solidFill>
                <a:latin typeface="Arial" pitchFamily="34" charset="0"/>
                <a:ea typeface="Arial" pitchFamily="34" charset="-122"/>
                <a:cs typeface="Arial" pitchFamily="34" charset="-120"/>
              </a:rPr>
              <a:t>Client + server integration · Demonstrated in Express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006D68"/>
                </a:solidFill>
                <a:latin typeface="Arial" pitchFamily="34" charset="0"/>
                <a:ea typeface="Arial" pitchFamily="34" charset="-122"/>
                <a:cs typeface="Arial" pitchFamily="34" charset="-120"/>
              </a:rPr>
              <a:t>NOW WHAT / AI IN THE SOLUTION</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10243A"/>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DCE4EE"/>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54647B"/>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54647B"/>
                </a:solidFill>
                <a:latin typeface="Arial" pitchFamily="34" charset="0"/>
                <a:ea typeface="Arial" pitchFamily="34" charset="-122"/>
                <a:cs typeface="Arial" pitchFamily="34" charset="-120"/>
              </a:rPr>
              <a:t>06</a:t>
            </a:r>
            <a:endParaRPr lang="en-US" sz="1000" dirty="0"/>
          </a:p>
        </p:txBody>
      </p:sp>
      <p:sp>
        <p:nvSpPr>
          <p:cNvPr id="7" name="Text 5"/>
          <p:cNvSpPr/>
          <p:nvPr/>
        </p:nvSpPr>
        <p:spPr>
          <a:xfrm>
            <a:off x="658368" y="969264"/>
            <a:ext cx="10927080" cy="704088"/>
          </a:xfrm>
          <a:prstGeom prst="rect">
            <a:avLst/>
          </a:prstGeom>
          <a:noFill/>
          <a:ln/>
        </p:spPr>
        <p:txBody>
          <a:bodyPr wrap="square" lIns="0" tIns="0" rIns="0" bIns="0" rtlCol="0" anchor="ctr"/>
          <a:lstStyle/>
          <a:p>
            <a:pPr indent="0" marL="0">
              <a:buNone/>
            </a:pPr>
            <a:r>
              <a:rPr lang="en-US" sz="4100" b="1" dirty="0">
                <a:solidFill>
                  <a:srgbClr val="10243A"/>
                </a:solidFill>
                <a:latin typeface="Arial" pitchFamily="34" charset="0"/>
                <a:ea typeface="Arial" pitchFamily="34" charset="-122"/>
                <a:cs typeface="Arial" pitchFamily="34" charset="-120"/>
              </a:rPr>
              <a:t>AI drafts. People approve.</a:t>
            </a:r>
            <a:endParaRPr lang="en-US" sz="4100" dirty="0"/>
          </a:p>
        </p:txBody>
      </p:sp>
      <p:sp>
        <p:nvSpPr>
          <p:cNvPr id="8" name="Shape 6"/>
          <p:cNvSpPr/>
          <p:nvPr/>
        </p:nvSpPr>
        <p:spPr>
          <a:xfrm>
            <a:off x="3108960" y="2935224"/>
            <a:ext cx="265176" cy="0"/>
          </a:xfrm>
          <a:prstGeom prst="line">
            <a:avLst/>
          </a:prstGeom>
          <a:noFill/>
          <a:ln w="22860">
            <a:solidFill>
              <a:srgbClr val="006D68"/>
            </a:solidFill>
            <a:prstDash val="solid"/>
            <a:tailEnd type="triangle"/>
          </a:ln>
        </p:spPr>
      </p:sp>
      <p:sp>
        <p:nvSpPr>
          <p:cNvPr id="9" name="Shape 7"/>
          <p:cNvSpPr/>
          <p:nvPr/>
        </p:nvSpPr>
        <p:spPr>
          <a:xfrm>
            <a:off x="5870448" y="2935224"/>
            <a:ext cx="265176" cy="0"/>
          </a:xfrm>
          <a:prstGeom prst="line">
            <a:avLst/>
          </a:prstGeom>
          <a:noFill/>
          <a:ln w="22860">
            <a:solidFill>
              <a:srgbClr val="006D68"/>
            </a:solidFill>
            <a:prstDash val="solid"/>
            <a:tailEnd type="triangle"/>
          </a:ln>
        </p:spPr>
      </p:sp>
      <p:sp>
        <p:nvSpPr>
          <p:cNvPr id="10" name="Shape 8"/>
          <p:cNvSpPr/>
          <p:nvPr/>
        </p:nvSpPr>
        <p:spPr>
          <a:xfrm>
            <a:off x="8631936" y="2935224"/>
            <a:ext cx="265176" cy="0"/>
          </a:xfrm>
          <a:prstGeom prst="line">
            <a:avLst/>
          </a:prstGeom>
          <a:noFill/>
          <a:ln w="22860">
            <a:solidFill>
              <a:srgbClr val="006D68"/>
            </a:solidFill>
            <a:prstDash val="solid"/>
            <a:tailEnd type="triangle"/>
          </a:ln>
        </p:spPr>
      </p:sp>
      <p:sp>
        <p:nvSpPr>
          <p:cNvPr id="11" name="Shape 9"/>
          <p:cNvSpPr/>
          <p:nvPr/>
        </p:nvSpPr>
        <p:spPr>
          <a:xfrm>
            <a:off x="694944" y="2194560"/>
            <a:ext cx="2514600" cy="1682496"/>
          </a:xfrm>
          <a:prstGeom prst="roundRect">
            <a:avLst>
              <a:gd name="adj" fmla="val 6522"/>
            </a:avLst>
          </a:prstGeom>
          <a:solidFill>
            <a:srgbClr val="FFFFFF"/>
          </a:solidFill>
          <a:ln w="12700">
            <a:solidFill>
              <a:srgbClr val="DCE4EE"/>
            </a:solidFill>
            <a:prstDash val="solid"/>
          </a:ln>
        </p:spPr>
      </p:sp>
      <p:sp>
        <p:nvSpPr>
          <p:cNvPr id="12" name="Shape 10"/>
          <p:cNvSpPr/>
          <p:nvPr/>
        </p:nvSpPr>
        <p:spPr>
          <a:xfrm>
            <a:off x="1721084" y="2495946"/>
            <a:ext cx="398313" cy="519013"/>
          </a:xfrm>
          <a:prstGeom prst="roundRect">
            <a:avLst>
              <a:gd name="adj" fmla="val 27548"/>
            </a:avLst>
          </a:prstGeom>
          <a:solidFill>
            <a:srgbClr val="FFFFFF"/>
          </a:solidFill>
          <a:ln w="25400">
            <a:solidFill>
              <a:srgbClr val="006D68"/>
            </a:solidFill>
            <a:prstDash val="solid"/>
          </a:ln>
        </p:spPr>
      </p:sp>
      <p:sp>
        <p:nvSpPr>
          <p:cNvPr id="13" name="Shape 11"/>
          <p:cNvSpPr/>
          <p:nvPr/>
        </p:nvSpPr>
        <p:spPr>
          <a:xfrm>
            <a:off x="1805574" y="2640787"/>
            <a:ext cx="223296" cy="0"/>
          </a:xfrm>
          <a:prstGeom prst="line">
            <a:avLst/>
          </a:prstGeom>
          <a:noFill/>
          <a:ln w="25400">
            <a:solidFill>
              <a:srgbClr val="006D68"/>
            </a:solidFill>
            <a:prstDash val="solid"/>
          </a:ln>
        </p:spPr>
      </p:sp>
      <p:sp>
        <p:nvSpPr>
          <p:cNvPr id="14" name="Shape 12"/>
          <p:cNvSpPr/>
          <p:nvPr/>
        </p:nvSpPr>
        <p:spPr>
          <a:xfrm>
            <a:off x="1805574" y="2755453"/>
            <a:ext cx="223296" cy="0"/>
          </a:xfrm>
          <a:prstGeom prst="line">
            <a:avLst/>
          </a:prstGeom>
          <a:noFill/>
          <a:ln w="25400">
            <a:solidFill>
              <a:srgbClr val="006D68"/>
            </a:solidFill>
            <a:prstDash val="solid"/>
          </a:ln>
        </p:spPr>
      </p:sp>
      <p:sp>
        <p:nvSpPr>
          <p:cNvPr id="15" name="Shape 13"/>
          <p:cNvSpPr/>
          <p:nvPr/>
        </p:nvSpPr>
        <p:spPr>
          <a:xfrm>
            <a:off x="1805574" y="2870119"/>
            <a:ext cx="223296" cy="0"/>
          </a:xfrm>
          <a:prstGeom prst="line">
            <a:avLst/>
          </a:prstGeom>
          <a:noFill/>
          <a:ln w="25400">
            <a:solidFill>
              <a:srgbClr val="006D68"/>
            </a:solidFill>
            <a:prstDash val="solid"/>
          </a:ln>
        </p:spPr>
      </p:sp>
      <p:sp>
        <p:nvSpPr>
          <p:cNvPr id="16" name="Text 14"/>
          <p:cNvSpPr/>
          <p:nvPr/>
        </p:nvSpPr>
        <p:spPr>
          <a:xfrm>
            <a:off x="786384" y="3319272"/>
            <a:ext cx="2331720" cy="292608"/>
          </a:xfrm>
          <a:prstGeom prst="rect">
            <a:avLst/>
          </a:prstGeom>
          <a:noFill/>
          <a:ln/>
        </p:spPr>
        <p:txBody>
          <a:bodyPr wrap="square" lIns="0" tIns="0" rIns="0" bIns="0" rtlCol="0" anchor="ctr"/>
          <a:lstStyle/>
          <a:p>
            <a:pPr algn="ctr" indent="0" marL="0">
              <a:buNone/>
            </a:pPr>
            <a:r>
              <a:rPr lang="en-US" sz="1920" b="1" dirty="0">
                <a:solidFill>
                  <a:srgbClr val="006D68"/>
                </a:solidFill>
                <a:latin typeface="Arial" pitchFamily="34" charset="0"/>
                <a:ea typeface="Arial" pitchFamily="34" charset="-122"/>
                <a:cs typeface="Arial" pitchFamily="34" charset="-120"/>
              </a:rPr>
              <a:t>App pages</a:t>
            </a:r>
            <a:endParaRPr lang="en-US" sz="1920" dirty="0"/>
          </a:p>
        </p:txBody>
      </p:sp>
      <p:sp>
        <p:nvSpPr>
          <p:cNvPr id="17" name="Shape 15"/>
          <p:cNvSpPr/>
          <p:nvPr/>
        </p:nvSpPr>
        <p:spPr>
          <a:xfrm>
            <a:off x="3456432" y="2194560"/>
            <a:ext cx="2514600" cy="1682496"/>
          </a:xfrm>
          <a:prstGeom prst="roundRect">
            <a:avLst>
              <a:gd name="adj" fmla="val 6522"/>
            </a:avLst>
          </a:prstGeom>
          <a:solidFill>
            <a:srgbClr val="FFFFFF"/>
          </a:solidFill>
          <a:ln w="12700">
            <a:solidFill>
              <a:srgbClr val="DCE4EE"/>
            </a:solidFill>
            <a:prstDash val="solid"/>
          </a:ln>
        </p:spPr>
      </p:sp>
      <p:sp>
        <p:nvSpPr>
          <p:cNvPr id="18" name="Shape 16"/>
          <p:cNvSpPr/>
          <p:nvPr/>
        </p:nvSpPr>
        <p:spPr>
          <a:xfrm>
            <a:off x="4681728" y="2483876"/>
            <a:ext cx="72420" cy="193121"/>
          </a:xfrm>
          <a:prstGeom prst="line">
            <a:avLst/>
          </a:prstGeom>
          <a:noFill/>
          <a:ln w="25400">
            <a:solidFill>
              <a:srgbClr val="006D68"/>
            </a:solidFill>
            <a:prstDash val="solid"/>
          </a:ln>
        </p:spPr>
      </p:sp>
      <p:sp>
        <p:nvSpPr>
          <p:cNvPr id="19" name="Shape 17"/>
          <p:cNvSpPr/>
          <p:nvPr/>
        </p:nvSpPr>
        <p:spPr>
          <a:xfrm>
            <a:off x="4754148" y="2676997"/>
            <a:ext cx="193121" cy="72420"/>
          </a:xfrm>
          <a:prstGeom prst="line">
            <a:avLst/>
          </a:prstGeom>
          <a:noFill/>
          <a:ln w="25400">
            <a:solidFill>
              <a:srgbClr val="006D68"/>
            </a:solidFill>
            <a:prstDash val="solid"/>
          </a:ln>
        </p:spPr>
      </p:sp>
      <p:sp>
        <p:nvSpPr>
          <p:cNvPr id="20" name="Shape 18"/>
          <p:cNvSpPr/>
          <p:nvPr/>
        </p:nvSpPr>
        <p:spPr>
          <a:xfrm flipH="1">
            <a:off x="4754148" y="2749418"/>
            <a:ext cx="193121" cy="72420"/>
          </a:xfrm>
          <a:prstGeom prst="line">
            <a:avLst/>
          </a:prstGeom>
          <a:noFill/>
          <a:ln w="25400">
            <a:solidFill>
              <a:srgbClr val="006D68"/>
            </a:solidFill>
            <a:prstDash val="solid"/>
          </a:ln>
        </p:spPr>
      </p:sp>
      <p:sp>
        <p:nvSpPr>
          <p:cNvPr id="21" name="Shape 19"/>
          <p:cNvSpPr/>
          <p:nvPr/>
        </p:nvSpPr>
        <p:spPr>
          <a:xfrm flipH="1">
            <a:off x="4681728" y="2821838"/>
            <a:ext cx="72420" cy="199156"/>
          </a:xfrm>
          <a:prstGeom prst="line">
            <a:avLst/>
          </a:prstGeom>
          <a:noFill/>
          <a:ln w="25400">
            <a:solidFill>
              <a:srgbClr val="006D68"/>
            </a:solidFill>
            <a:prstDash val="solid"/>
          </a:ln>
        </p:spPr>
      </p:sp>
      <p:sp>
        <p:nvSpPr>
          <p:cNvPr id="22" name="Shape 20"/>
          <p:cNvSpPr/>
          <p:nvPr/>
        </p:nvSpPr>
        <p:spPr>
          <a:xfrm flipH="1" flipV="1">
            <a:off x="4609308" y="2821838"/>
            <a:ext cx="72420" cy="199156"/>
          </a:xfrm>
          <a:prstGeom prst="line">
            <a:avLst/>
          </a:prstGeom>
          <a:noFill/>
          <a:ln w="25400">
            <a:solidFill>
              <a:srgbClr val="006D68"/>
            </a:solidFill>
            <a:prstDash val="solid"/>
          </a:ln>
        </p:spPr>
      </p:sp>
      <p:sp>
        <p:nvSpPr>
          <p:cNvPr id="23" name="Shape 21"/>
          <p:cNvSpPr/>
          <p:nvPr/>
        </p:nvSpPr>
        <p:spPr>
          <a:xfrm flipH="1" flipV="1">
            <a:off x="4416186" y="2749418"/>
            <a:ext cx="193121" cy="72420"/>
          </a:xfrm>
          <a:prstGeom prst="line">
            <a:avLst/>
          </a:prstGeom>
          <a:noFill/>
          <a:ln w="25400">
            <a:solidFill>
              <a:srgbClr val="006D68"/>
            </a:solidFill>
            <a:prstDash val="solid"/>
          </a:ln>
        </p:spPr>
      </p:sp>
      <p:sp>
        <p:nvSpPr>
          <p:cNvPr id="24" name="Shape 22"/>
          <p:cNvSpPr/>
          <p:nvPr/>
        </p:nvSpPr>
        <p:spPr>
          <a:xfrm flipV="1">
            <a:off x="4416186" y="2676997"/>
            <a:ext cx="193121" cy="72420"/>
          </a:xfrm>
          <a:prstGeom prst="line">
            <a:avLst/>
          </a:prstGeom>
          <a:noFill/>
          <a:ln w="25400">
            <a:solidFill>
              <a:srgbClr val="006D68"/>
            </a:solidFill>
            <a:prstDash val="solid"/>
          </a:ln>
        </p:spPr>
      </p:sp>
      <p:sp>
        <p:nvSpPr>
          <p:cNvPr id="25" name="Shape 23"/>
          <p:cNvSpPr/>
          <p:nvPr/>
        </p:nvSpPr>
        <p:spPr>
          <a:xfrm flipV="1">
            <a:off x="4609308" y="2483876"/>
            <a:ext cx="72420" cy="193121"/>
          </a:xfrm>
          <a:prstGeom prst="line">
            <a:avLst/>
          </a:prstGeom>
          <a:noFill/>
          <a:ln w="25400">
            <a:solidFill>
              <a:srgbClr val="006D68"/>
            </a:solidFill>
            <a:prstDash val="solid"/>
          </a:ln>
        </p:spPr>
      </p:sp>
      <p:sp>
        <p:nvSpPr>
          <p:cNvPr id="26" name="Text 24"/>
          <p:cNvSpPr/>
          <p:nvPr/>
        </p:nvSpPr>
        <p:spPr>
          <a:xfrm>
            <a:off x="3547872" y="3319272"/>
            <a:ext cx="2331720" cy="292608"/>
          </a:xfrm>
          <a:prstGeom prst="rect">
            <a:avLst/>
          </a:prstGeom>
          <a:noFill/>
          <a:ln/>
        </p:spPr>
        <p:txBody>
          <a:bodyPr wrap="square" lIns="0" tIns="0" rIns="0" bIns="0" rtlCol="0" anchor="ctr"/>
          <a:lstStyle/>
          <a:p>
            <a:pPr algn="ctr" indent="0" marL="0">
              <a:buNone/>
            </a:pPr>
            <a:r>
              <a:rPr lang="en-US" sz="1920" b="1" dirty="0">
                <a:solidFill>
                  <a:srgbClr val="006D68"/>
                </a:solidFill>
                <a:latin typeface="Arial" pitchFamily="34" charset="0"/>
                <a:ea typeface="Arial" pitchFamily="34" charset="-122"/>
                <a:cs typeface="Arial" pitchFamily="34" charset="-120"/>
              </a:rPr>
              <a:t>AI draft</a:t>
            </a:r>
            <a:endParaRPr lang="en-US" sz="1920" dirty="0"/>
          </a:p>
        </p:txBody>
      </p:sp>
      <p:sp>
        <p:nvSpPr>
          <p:cNvPr id="27" name="Shape 25"/>
          <p:cNvSpPr/>
          <p:nvPr/>
        </p:nvSpPr>
        <p:spPr>
          <a:xfrm>
            <a:off x="6217920" y="2194560"/>
            <a:ext cx="2514600" cy="1682496"/>
          </a:xfrm>
          <a:prstGeom prst="roundRect">
            <a:avLst>
              <a:gd name="adj" fmla="val 6522"/>
            </a:avLst>
          </a:prstGeom>
          <a:solidFill>
            <a:srgbClr val="BCF58A"/>
          </a:solidFill>
          <a:ln w="12700">
            <a:solidFill>
              <a:srgbClr val="BCF58A"/>
            </a:solidFill>
            <a:prstDash val="solid"/>
          </a:ln>
        </p:spPr>
      </p:sp>
      <p:sp>
        <p:nvSpPr>
          <p:cNvPr id="28" name="Shape 26"/>
          <p:cNvSpPr/>
          <p:nvPr/>
        </p:nvSpPr>
        <p:spPr>
          <a:xfrm>
            <a:off x="7340620" y="2483876"/>
            <a:ext cx="205191" cy="205191"/>
          </a:xfrm>
          <a:prstGeom prst="ellipse">
            <a:avLst/>
          </a:prstGeom>
          <a:solidFill>
            <a:srgbClr val="BCF58A"/>
          </a:solidFill>
          <a:ln w="25400">
            <a:solidFill>
              <a:srgbClr val="10243A"/>
            </a:solidFill>
            <a:prstDash val="solid"/>
          </a:ln>
        </p:spPr>
      </p:sp>
      <p:sp>
        <p:nvSpPr>
          <p:cNvPr id="29" name="Shape 27"/>
          <p:cNvSpPr/>
          <p:nvPr/>
        </p:nvSpPr>
        <p:spPr>
          <a:xfrm flipV="1">
            <a:off x="7225955" y="2906329"/>
            <a:ext cx="0" cy="102596"/>
          </a:xfrm>
          <a:prstGeom prst="line">
            <a:avLst/>
          </a:prstGeom>
          <a:noFill/>
          <a:ln w="25400">
            <a:solidFill>
              <a:srgbClr val="10243A"/>
            </a:solidFill>
            <a:prstDash val="solid"/>
          </a:ln>
        </p:spPr>
      </p:sp>
      <p:sp>
        <p:nvSpPr>
          <p:cNvPr id="30" name="Shape 28"/>
          <p:cNvSpPr/>
          <p:nvPr/>
        </p:nvSpPr>
        <p:spPr>
          <a:xfrm flipV="1">
            <a:off x="7225955" y="2791663"/>
            <a:ext cx="102596" cy="114666"/>
          </a:xfrm>
          <a:prstGeom prst="line">
            <a:avLst/>
          </a:prstGeom>
          <a:noFill/>
          <a:ln w="25400">
            <a:solidFill>
              <a:srgbClr val="10243A"/>
            </a:solidFill>
            <a:prstDash val="solid"/>
          </a:ln>
        </p:spPr>
      </p:sp>
      <p:sp>
        <p:nvSpPr>
          <p:cNvPr id="31" name="Shape 29"/>
          <p:cNvSpPr/>
          <p:nvPr/>
        </p:nvSpPr>
        <p:spPr>
          <a:xfrm>
            <a:off x="7328550" y="2791663"/>
            <a:ext cx="229332" cy="0"/>
          </a:xfrm>
          <a:prstGeom prst="line">
            <a:avLst/>
          </a:prstGeom>
          <a:noFill/>
          <a:ln w="25400">
            <a:solidFill>
              <a:srgbClr val="10243A"/>
            </a:solidFill>
            <a:prstDash val="solid"/>
          </a:ln>
        </p:spPr>
      </p:sp>
      <p:sp>
        <p:nvSpPr>
          <p:cNvPr id="32" name="Shape 30"/>
          <p:cNvSpPr/>
          <p:nvPr/>
        </p:nvSpPr>
        <p:spPr>
          <a:xfrm>
            <a:off x="7557882" y="2791663"/>
            <a:ext cx="102596" cy="114666"/>
          </a:xfrm>
          <a:prstGeom prst="line">
            <a:avLst/>
          </a:prstGeom>
          <a:noFill/>
          <a:ln w="25400">
            <a:solidFill>
              <a:srgbClr val="10243A"/>
            </a:solidFill>
            <a:prstDash val="solid"/>
          </a:ln>
        </p:spPr>
      </p:sp>
      <p:sp>
        <p:nvSpPr>
          <p:cNvPr id="33" name="Shape 31"/>
          <p:cNvSpPr/>
          <p:nvPr/>
        </p:nvSpPr>
        <p:spPr>
          <a:xfrm>
            <a:off x="7660477" y="2906329"/>
            <a:ext cx="0" cy="102596"/>
          </a:xfrm>
          <a:prstGeom prst="line">
            <a:avLst/>
          </a:prstGeom>
          <a:noFill/>
          <a:ln w="25400">
            <a:solidFill>
              <a:srgbClr val="10243A"/>
            </a:solidFill>
            <a:prstDash val="solid"/>
          </a:ln>
        </p:spPr>
      </p:sp>
      <p:sp>
        <p:nvSpPr>
          <p:cNvPr id="34" name="Text 32"/>
          <p:cNvSpPr/>
          <p:nvPr/>
        </p:nvSpPr>
        <p:spPr>
          <a:xfrm>
            <a:off x="6309360" y="3319272"/>
            <a:ext cx="2331720" cy="292608"/>
          </a:xfrm>
          <a:prstGeom prst="rect">
            <a:avLst/>
          </a:prstGeom>
          <a:noFill/>
          <a:ln/>
        </p:spPr>
        <p:txBody>
          <a:bodyPr wrap="square" lIns="0" tIns="0" rIns="0" bIns="0" rtlCol="0" anchor="ctr"/>
          <a:lstStyle/>
          <a:p>
            <a:pPr algn="ctr" indent="0" marL="0">
              <a:buNone/>
            </a:pPr>
            <a:r>
              <a:rPr lang="en-US" sz="1920" b="1" dirty="0">
                <a:solidFill>
                  <a:srgbClr val="10243A"/>
                </a:solidFill>
                <a:latin typeface="Arial" pitchFamily="34" charset="0"/>
                <a:ea typeface="Arial" pitchFamily="34" charset="-122"/>
                <a:cs typeface="Arial" pitchFamily="34" charset="-120"/>
              </a:rPr>
              <a:t>Human review</a:t>
            </a:r>
            <a:endParaRPr lang="en-US" sz="1920" dirty="0"/>
          </a:p>
        </p:txBody>
      </p:sp>
      <p:sp>
        <p:nvSpPr>
          <p:cNvPr id="35" name="Shape 33"/>
          <p:cNvSpPr/>
          <p:nvPr/>
        </p:nvSpPr>
        <p:spPr>
          <a:xfrm>
            <a:off x="8979408" y="2194560"/>
            <a:ext cx="2514600" cy="1682496"/>
          </a:xfrm>
          <a:prstGeom prst="roundRect">
            <a:avLst>
              <a:gd name="adj" fmla="val 6522"/>
            </a:avLst>
          </a:prstGeom>
          <a:solidFill>
            <a:srgbClr val="FFFFFF"/>
          </a:solidFill>
          <a:ln w="12700">
            <a:solidFill>
              <a:srgbClr val="DCE4EE"/>
            </a:solidFill>
            <a:prstDash val="solid"/>
          </a:ln>
        </p:spPr>
      </p:sp>
      <p:sp>
        <p:nvSpPr>
          <p:cNvPr id="36" name="Shape 34"/>
          <p:cNvSpPr/>
          <p:nvPr/>
        </p:nvSpPr>
        <p:spPr>
          <a:xfrm>
            <a:off x="9975372" y="2761488"/>
            <a:ext cx="168981" cy="168981"/>
          </a:xfrm>
          <a:prstGeom prst="line">
            <a:avLst/>
          </a:prstGeom>
          <a:noFill/>
          <a:ln w="38100">
            <a:solidFill>
              <a:srgbClr val="006D68"/>
            </a:solidFill>
            <a:prstDash val="solid"/>
          </a:ln>
        </p:spPr>
      </p:sp>
      <p:sp>
        <p:nvSpPr>
          <p:cNvPr id="37" name="Shape 35"/>
          <p:cNvSpPr/>
          <p:nvPr/>
        </p:nvSpPr>
        <p:spPr>
          <a:xfrm flipV="1">
            <a:off x="10144354" y="2544227"/>
            <a:ext cx="313822" cy="386243"/>
          </a:xfrm>
          <a:prstGeom prst="line">
            <a:avLst/>
          </a:prstGeom>
          <a:noFill/>
          <a:ln w="38100">
            <a:solidFill>
              <a:srgbClr val="006D68"/>
            </a:solidFill>
            <a:prstDash val="solid"/>
          </a:ln>
        </p:spPr>
      </p:sp>
      <p:sp>
        <p:nvSpPr>
          <p:cNvPr id="38" name="Text 36"/>
          <p:cNvSpPr/>
          <p:nvPr/>
        </p:nvSpPr>
        <p:spPr>
          <a:xfrm>
            <a:off x="9070848" y="3319272"/>
            <a:ext cx="2331720" cy="292608"/>
          </a:xfrm>
          <a:prstGeom prst="rect">
            <a:avLst/>
          </a:prstGeom>
          <a:noFill/>
          <a:ln/>
        </p:spPr>
        <p:txBody>
          <a:bodyPr wrap="square" lIns="0" tIns="0" rIns="0" bIns="0" rtlCol="0" anchor="ctr"/>
          <a:lstStyle/>
          <a:p>
            <a:pPr algn="ctr" indent="0" marL="0">
              <a:buNone/>
            </a:pPr>
            <a:r>
              <a:rPr lang="en-US" sz="1920" b="1" dirty="0">
                <a:solidFill>
                  <a:srgbClr val="006D68"/>
                </a:solidFill>
                <a:latin typeface="Arial" pitchFamily="34" charset="0"/>
                <a:ea typeface="Arial" pitchFamily="34" charset="-122"/>
                <a:cs typeface="Arial" pitchFamily="34" charset="-120"/>
              </a:rPr>
              <a:t>Active policy</a:t>
            </a:r>
            <a:endParaRPr lang="en-US" sz="1920" dirty="0"/>
          </a:p>
        </p:txBody>
      </p:sp>
      <p:sp>
        <p:nvSpPr>
          <p:cNvPr id="39" name="Shape 37"/>
          <p:cNvSpPr/>
          <p:nvPr/>
        </p:nvSpPr>
        <p:spPr>
          <a:xfrm>
            <a:off x="694944" y="4270248"/>
            <a:ext cx="10808208" cy="1737360"/>
          </a:xfrm>
          <a:prstGeom prst="roundRect">
            <a:avLst>
              <a:gd name="adj" fmla="val 6316"/>
            </a:avLst>
          </a:prstGeom>
          <a:solidFill>
            <a:srgbClr val="FFFFFF"/>
          </a:solidFill>
          <a:ln w="12700">
            <a:solidFill>
              <a:srgbClr val="DCE4EE"/>
            </a:solidFill>
            <a:prstDash val="solid"/>
          </a:ln>
        </p:spPr>
      </p:sp>
      <p:sp>
        <p:nvSpPr>
          <p:cNvPr id="40" name="Text 38"/>
          <p:cNvSpPr/>
          <p:nvPr/>
        </p:nvSpPr>
        <p:spPr>
          <a:xfrm>
            <a:off x="969264" y="4553712"/>
            <a:ext cx="5394960" cy="201168"/>
          </a:xfrm>
          <a:prstGeom prst="rect">
            <a:avLst/>
          </a:prstGeom>
          <a:noFill/>
          <a:ln/>
        </p:spPr>
        <p:txBody>
          <a:bodyPr wrap="square" lIns="0" tIns="0" rIns="0" bIns="0" rtlCol="0" anchor="ctr"/>
          <a:lstStyle/>
          <a:p>
            <a:pPr indent="0" marL="0">
              <a:buNone/>
            </a:pPr>
            <a:r>
              <a:rPr lang="en-US" sz="1150" b="1" spc="120" kern="0" dirty="0">
                <a:solidFill>
                  <a:srgbClr val="006D68"/>
                </a:solidFill>
                <a:latin typeface="Arial" pitchFamily="34" charset="0"/>
                <a:ea typeface="Arial" pitchFamily="34" charset="-122"/>
                <a:cs typeface="Arial" pitchFamily="34" charset="-120"/>
              </a:rPr>
              <a:t>THE ACTIVATION BOUNDARY</a:t>
            </a:r>
            <a:endParaRPr lang="en-US" sz="1150" dirty="0"/>
          </a:p>
        </p:txBody>
      </p:sp>
      <p:sp>
        <p:nvSpPr>
          <p:cNvPr id="41" name="Text 39"/>
          <p:cNvSpPr/>
          <p:nvPr/>
        </p:nvSpPr>
        <p:spPr>
          <a:xfrm>
            <a:off x="969264" y="5020056"/>
            <a:ext cx="5120640" cy="566928"/>
          </a:xfrm>
          <a:prstGeom prst="rect">
            <a:avLst/>
          </a:prstGeom>
          <a:noFill/>
          <a:ln/>
        </p:spPr>
        <p:txBody>
          <a:bodyPr wrap="square" lIns="0" tIns="0" rIns="0" bIns="0" rtlCol="0" anchor="ctr"/>
          <a:lstStyle/>
          <a:p>
            <a:pPr indent="0" marL="0">
              <a:buNone/>
            </a:pPr>
            <a:r>
              <a:rPr lang="en-US" sz="3300" b="1" dirty="0">
                <a:solidFill>
                  <a:srgbClr val="10243A"/>
                </a:solidFill>
                <a:latin typeface="Arial" pitchFamily="34" charset="0"/>
                <a:ea typeface="Arial" pitchFamily="34" charset="-122"/>
                <a:cs typeface="Arial" pitchFamily="34" charset="-120"/>
              </a:rPr>
              <a:t>Draft ≠ active.</a:t>
            </a:r>
            <a:endParaRPr lang="en-US" sz="3300" dirty="0"/>
          </a:p>
        </p:txBody>
      </p:sp>
      <p:pic>
        <p:nvPicPr>
          <p:cNvPr id="42" name="Image 0" descr="Real current quiz-policy title and route; current active and draft are identical.">    </p:cNvPr>
          <p:cNvPicPr>
            <a:picLocks noChangeAspect="1"/>
          </p:cNvPicPr>
          <p:nvPr/>
        </p:nvPicPr>
        <p:blipFill>
          <a:blip r:embed="rId1"/>
          <a:stretch>
            <a:fillRect/>
          </a:stretch>
        </p:blipFill>
        <p:spPr>
          <a:xfrm>
            <a:off x="6574536" y="4562856"/>
            <a:ext cx="4517136" cy="544982"/>
          </a:xfrm>
          <a:prstGeom prst="rect">
            <a:avLst/>
          </a:prstGeom>
        </p:spPr>
      </p:pic>
      <p:pic>
        <p:nvPicPr>
          <p:cNvPr id="43" name="Image 1" descr="Real Approve this rule control; no approval or new generation was performed for capture.">    </p:cNvPr>
          <p:cNvPicPr>
            <a:picLocks noChangeAspect="1"/>
          </p:cNvPicPr>
          <p:nvPr/>
        </p:nvPicPr>
        <p:blipFill>
          <a:blip r:embed="rId2"/>
          <a:stretch>
            <a:fillRect/>
          </a:stretch>
        </p:blipFill>
        <p:spPr>
          <a:xfrm>
            <a:off x="7571232" y="5175504"/>
            <a:ext cx="2194560" cy="658368"/>
          </a:xfrm>
          <a:prstGeom prst="rect">
            <a:avLst/>
          </a:prstGeom>
        </p:spPr>
      </p:pic>
      <p:sp>
        <p:nvSpPr>
          <p:cNvPr id="44" name="Text 40"/>
          <p:cNvSpPr/>
          <p:nvPr/>
        </p:nvSpPr>
        <p:spPr>
          <a:xfrm>
            <a:off x="6565392" y="6108192"/>
            <a:ext cx="4690872" cy="146304"/>
          </a:xfrm>
          <a:prstGeom prst="rect">
            <a:avLst/>
          </a:prstGeom>
          <a:noFill/>
          <a:ln/>
        </p:spPr>
        <p:txBody>
          <a:bodyPr wrap="square" lIns="0" tIns="0" rIns="0" bIns="0" rtlCol="0" anchor="ctr"/>
          <a:lstStyle/>
          <a:p>
            <a:pPr algn="ctr" indent="0" marL="0">
              <a:buNone/>
            </a:pPr>
            <a:r>
              <a:rPr lang="en-US" sz="950" dirty="0">
                <a:solidFill>
                  <a:srgbClr val="54647B"/>
                </a:solidFill>
                <a:latin typeface="Arial" pitchFamily="34" charset="0"/>
                <a:ea typeface="Arial" pitchFamily="34" charset="-122"/>
                <a:cs typeface="Arial" pitchFamily="34" charset="-120"/>
              </a:rPr>
              <a:t>Policy-review UI · detail crops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43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BCF58A"/>
                </a:solidFill>
                <a:latin typeface="Arial" pitchFamily="34" charset="0"/>
                <a:ea typeface="Arial" pitchFamily="34" charset="-122"/>
                <a:cs typeface="Arial" pitchFamily="34" charset="-120"/>
              </a:rPr>
              <a:t>NOW WHAT / BEYOND TRAINING</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2D485A"/>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8CA5B6"/>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8CA5B6"/>
                </a:solidFill>
                <a:latin typeface="Arial" pitchFamily="34" charset="0"/>
                <a:ea typeface="Arial" pitchFamily="34" charset="-122"/>
                <a:cs typeface="Arial" pitchFamily="34" charset="-120"/>
              </a:rPr>
              <a:t>07</a:t>
            </a:r>
            <a:endParaRPr lang="en-US" sz="1000" dirty="0"/>
          </a:p>
        </p:txBody>
      </p:sp>
      <p:sp>
        <p:nvSpPr>
          <p:cNvPr id="7" name="Text 5"/>
          <p:cNvSpPr/>
          <p:nvPr/>
        </p:nvSpPr>
        <p:spPr>
          <a:xfrm>
            <a:off x="658368" y="969264"/>
            <a:ext cx="10927080" cy="704088"/>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Training is the starting point.</a:t>
            </a:r>
            <a:endParaRPr lang="en-US" sz="3800" dirty="0"/>
          </a:p>
        </p:txBody>
      </p:sp>
      <p:sp>
        <p:nvSpPr>
          <p:cNvPr id="8" name="Text 6"/>
          <p:cNvSpPr/>
          <p:nvPr/>
        </p:nvSpPr>
        <p:spPr>
          <a:xfrm>
            <a:off x="731520" y="2029968"/>
            <a:ext cx="2487168" cy="201168"/>
          </a:xfrm>
          <a:prstGeom prst="rect">
            <a:avLst/>
          </a:prstGeom>
          <a:noFill/>
          <a:ln/>
        </p:spPr>
        <p:txBody>
          <a:bodyPr wrap="square" lIns="0" tIns="0" rIns="0" bIns="0" rtlCol="0" anchor="ctr"/>
          <a:lstStyle/>
          <a:p>
            <a:pPr indent="0" marL="0">
              <a:buNone/>
            </a:pPr>
            <a:r>
              <a:rPr lang="en-US" sz="1150" b="1" spc="120" kern="0" dirty="0">
                <a:solidFill>
                  <a:srgbClr val="BCF58A"/>
                </a:solidFill>
                <a:latin typeface="Arial" pitchFamily="34" charset="0"/>
                <a:ea typeface="Arial" pitchFamily="34" charset="-122"/>
                <a:cs typeface="Arial" pitchFamily="34" charset="-120"/>
              </a:rPr>
              <a:t>BUILT</a:t>
            </a:r>
            <a:endParaRPr lang="en-US" sz="1150" dirty="0"/>
          </a:p>
        </p:txBody>
      </p:sp>
      <p:sp>
        <p:nvSpPr>
          <p:cNvPr id="9" name="Text 7"/>
          <p:cNvSpPr/>
          <p:nvPr/>
        </p:nvSpPr>
        <p:spPr>
          <a:xfrm>
            <a:off x="3502152" y="2029968"/>
            <a:ext cx="7772400" cy="201168"/>
          </a:xfrm>
          <a:prstGeom prst="rect">
            <a:avLst/>
          </a:prstGeom>
          <a:noFill/>
          <a:ln/>
        </p:spPr>
        <p:txBody>
          <a:bodyPr wrap="square" lIns="0" tIns="0" rIns="0" bIns="0" rtlCol="0" anchor="ctr"/>
          <a:lstStyle/>
          <a:p>
            <a:pPr indent="0" marL="0">
              <a:buNone/>
            </a:pPr>
            <a:r>
              <a:rPr lang="en-US" sz="1150" b="1" spc="120" kern="0" dirty="0">
                <a:solidFill>
                  <a:srgbClr val="8CA5B6"/>
                </a:solidFill>
                <a:latin typeface="Arial" pitchFamily="34" charset="0"/>
                <a:ea typeface="Arial" pitchFamily="34" charset="-122"/>
                <a:cs typeface="Arial" pitchFamily="34" charset="-120"/>
              </a:rPr>
              <a:t>POTENTIAL APPLICATIONS</a:t>
            </a:r>
            <a:endParaRPr lang="en-US" sz="1150" dirty="0"/>
          </a:p>
        </p:txBody>
      </p:sp>
      <p:sp>
        <p:nvSpPr>
          <p:cNvPr id="10" name="Shape 8"/>
          <p:cNvSpPr/>
          <p:nvPr/>
        </p:nvSpPr>
        <p:spPr>
          <a:xfrm>
            <a:off x="704088" y="2496312"/>
            <a:ext cx="2468880" cy="3008376"/>
          </a:xfrm>
          <a:prstGeom prst="roundRect">
            <a:avLst>
              <a:gd name="adj" fmla="val 4444"/>
            </a:avLst>
          </a:prstGeom>
          <a:solidFill>
            <a:srgbClr val="BCF58A"/>
          </a:solidFill>
          <a:ln w="12700">
            <a:solidFill>
              <a:srgbClr val="BCF58A"/>
            </a:solidFill>
            <a:prstDash val="solid"/>
          </a:ln>
        </p:spPr>
      </p:sp>
      <p:sp>
        <p:nvSpPr>
          <p:cNvPr id="11" name="Shape 9"/>
          <p:cNvSpPr/>
          <p:nvPr/>
        </p:nvSpPr>
        <p:spPr>
          <a:xfrm>
            <a:off x="1671432" y="2909804"/>
            <a:ext cx="525048" cy="684154"/>
          </a:xfrm>
          <a:prstGeom prst="roundRect">
            <a:avLst>
              <a:gd name="adj" fmla="val 20899"/>
            </a:avLst>
          </a:prstGeom>
          <a:solidFill>
            <a:srgbClr val="BCF58A"/>
          </a:solidFill>
          <a:ln w="25400">
            <a:solidFill>
              <a:srgbClr val="10243A"/>
            </a:solidFill>
            <a:prstDash val="solid"/>
          </a:ln>
        </p:spPr>
      </p:sp>
      <p:sp>
        <p:nvSpPr>
          <p:cNvPr id="12" name="Shape 10"/>
          <p:cNvSpPr/>
          <p:nvPr/>
        </p:nvSpPr>
        <p:spPr>
          <a:xfrm>
            <a:off x="1782806" y="3100730"/>
            <a:ext cx="294345" cy="0"/>
          </a:xfrm>
          <a:prstGeom prst="line">
            <a:avLst/>
          </a:prstGeom>
          <a:noFill/>
          <a:ln w="25400">
            <a:solidFill>
              <a:srgbClr val="10243A"/>
            </a:solidFill>
            <a:prstDash val="solid"/>
          </a:ln>
        </p:spPr>
      </p:sp>
      <p:sp>
        <p:nvSpPr>
          <p:cNvPr id="13" name="Shape 11"/>
          <p:cNvSpPr/>
          <p:nvPr/>
        </p:nvSpPr>
        <p:spPr>
          <a:xfrm>
            <a:off x="1782806" y="3251881"/>
            <a:ext cx="294345" cy="0"/>
          </a:xfrm>
          <a:prstGeom prst="line">
            <a:avLst/>
          </a:prstGeom>
          <a:noFill/>
          <a:ln w="25400">
            <a:solidFill>
              <a:srgbClr val="10243A"/>
            </a:solidFill>
            <a:prstDash val="solid"/>
          </a:ln>
        </p:spPr>
      </p:sp>
      <p:sp>
        <p:nvSpPr>
          <p:cNvPr id="14" name="Shape 12"/>
          <p:cNvSpPr/>
          <p:nvPr/>
        </p:nvSpPr>
        <p:spPr>
          <a:xfrm>
            <a:off x="1782806" y="3403031"/>
            <a:ext cx="294345" cy="0"/>
          </a:xfrm>
          <a:prstGeom prst="line">
            <a:avLst/>
          </a:prstGeom>
          <a:noFill/>
          <a:ln w="25400">
            <a:solidFill>
              <a:srgbClr val="10243A"/>
            </a:solidFill>
            <a:prstDash val="solid"/>
          </a:ln>
        </p:spPr>
      </p:sp>
      <p:sp>
        <p:nvSpPr>
          <p:cNvPr id="15" name="Text 13"/>
          <p:cNvSpPr/>
          <p:nvPr/>
        </p:nvSpPr>
        <p:spPr>
          <a:xfrm>
            <a:off x="859536" y="4032504"/>
            <a:ext cx="2157984" cy="356616"/>
          </a:xfrm>
          <a:prstGeom prst="rect">
            <a:avLst/>
          </a:prstGeom>
          <a:noFill/>
          <a:ln/>
        </p:spPr>
        <p:txBody>
          <a:bodyPr wrap="square" lIns="0" tIns="0" rIns="0" bIns="0" rtlCol="0" anchor="ctr"/>
          <a:lstStyle/>
          <a:p>
            <a:pPr algn="ctr" indent="0" marL="0">
              <a:buNone/>
            </a:pPr>
            <a:r>
              <a:rPr lang="en-US" sz="2200" b="1" dirty="0">
                <a:solidFill>
                  <a:srgbClr val="10243A"/>
                </a:solidFill>
                <a:latin typeface="Arial" pitchFamily="34" charset="0"/>
                <a:ea typeface="Arial" pitchFamily="34" charset="-122"/>
                <a:cs typeface="Arial" pitchFamily="34" charset="-120"/>
              </a:rPr>
              <a:t>Training</a:t>
            </a:r>
            <a:endParaRPr lang="en-US" sz="2200" dirty="0"/>
          </a:p>
        </p:txBody>
      </p:sp>
      <p:sp>
        <p:nvSpPr>
          <p:cNvPr id="16" name="Text 14"/>
          <p:cNvSpPr/>
          <p:nvPr/>
        </p:nvSpPr>
        <p:spPr>
          <a:xfrm>
            <a:off x="822960" y="4608576"/>
            <a:ext cx="2231136" cy="630936"/>
          </a:xfrm>
          <a:prstGeom prst="rect">
            <a:avLst/>
          </a:prstGeom>
          <a:noFill/>
          <a:ln/>
        </p:spPr>
        <p:txBody>
          <a:bodyPr wrap="square" lIns="0" tIns="0" rIns="0" bIns="0" rtlCol="0" anchor="ctr"/>
          <a:lstStyle/>
          <a:p>
            <a:pPr algn="ctr" indent="0" marL="0">
              <a:buNone/>
            </a:pPr>
            <a:r>
              <a:rPr lang="en-US" sz="1700" dirty="0">
                <a:solidFill>
                  <a:srgbClr val="10243A"/>
                </a:solidFill>
                <a:latin typeface="Arial" pitchFamily="34" charset="0"/>
                <a:ea typeface="Arial" pitchFamily="34" charset="-122"/>
                <a:cs typeface="Arial" pitchFamily="34" charset="-120"/>
              </a:rPr>
              <a:t>Confirm</a:t>
            </a:r>
            <a:endParaRPr lang="en-US" sz="1700" dirty="0"/>
          </a:p>
          <a:p>
            <a:pPr algn="ctr" indent="0" marL="0">
              <a:buNone/>
            </a:pPr>
            <a:r>
              <a:rPr lang="en-US" sz="1700" dirty="0">
                <a:solidFill>
                  <a:srgbClr val="10243A"/>
                </a:solidFill>
                <a:latin typeface="Arial" pitchFamily="34" charset="0"/>
                <a:ea typeface="Arial" pitchFamily="34" charset="-122"/>
                <a:cs typeface="Arial" pitchFamily="34" charset="-120"/>
              </a:rPr>
              <a:t>submission</a:t>
            </a:r>
            <a:endParaRPr lang="en-US" sz="1700" dirty="0"/>
          </a:p>
        </p:txBody>
      </p:sp>
      <p:sp>
        <p:nvSpPr>
          <p:cNvPr id="17" name="Shape 15"/>
          <p:cNvSpPr/>
          <p:nvPr/>
        </p:nvSpPr>
        <p:spPr>
          <a:xfrm>
            <a:off x="3474720" y="2496312"/>
            <a:ext cx="2468880" cy="3008376"/>
          </a:xfrm>
          <a:prstGeom prst="roundRect">
            <a:avLst>
              <a:gd name="adj" fmla="val 4444"/>
            </a:avLst>
          </a:prstGeom>
          <a:solidFill>
            <a:srgbClr val="17354A"/>
          </a:solidFill>
          <a:ln w="12700">
            <a:solidFill>
              <a:srgbClr val="335368"/>
            </a:solidFill>
            <a:prstDash val="solid"/>
          </a:ln>
        </p:spPr>
      </p:sp>
      <p:sp>
        <p:nvSpPr>
          <p:cNvPr id="18" name="Shape 16"/>
          <p:cNvSpPr/>
          <p:nvPr/>
        </p:nvSpPr>
        <p:spPr>
          <a:xfrm flipV="1">
            <a:off x="4362511" y="2909804"/>
            <a:ext cx="342077" cy="182971"/>
          </a:xfrm>
          <a:prstGeom prst="line">
            <a:avLst/>
          </a:prstGeom>
          <a:noFill/>
          <a:ln w="25400">
            <a:solidFill>
              <a:srgbClr val="BCF58A"/>
            </a:solidFill>
            <a:prstDash val="solid"/>
          </a:ln>
        </p:spPr>
      </p:sp>
      <p:sp>
        <p:nvSpPr>
          <p:cNvPr id="19" name="Shape 17"/>
          <p:cNvSpPr/>
          <p:nvPr/>
        </p:nvSpPr>
        <p:spPr>
          <a:xfrm>
            <a:off x="4704588" y="2909804"/>
            <a:ext cx="342077" cy="182971"/>
          </a:xfrm>
          <a:prstGeom prst="line">
            <a:avLst/>
          </a:prstGeom>
          <a:noFill/>
          <a:ln w="25400">
            <a:solidFill>
              <a:srgbClr val="BCF58A"/>
            </a:solidFill>
            <a:prstDash val="solid"/>
          </a:ln>
        </p:spPr>
      </p:sp>
      <p:sp>
        <p:nvSpPr>
          <p:cNvPr id="20" name="Shape 18"/>
          <p:cNvSpPr/>
          <p:nvPr/>
        </p:nvSpPr>
        <p:spPr>
          <a:xfrm>
            <a:off x="4362511" y="3116641"/>
            <a:ext cx="684154" cy="0"/>
          </a:xfrm>
          <a:prstGeom prst="line">
            <a:avLst/>
          </a:prstGeom>
          <a:noFill/>
          <a:ln w="25400">
            <a:solidFill>
              <a:srgbClr val="BCF58A"/>
            </a:solidFill>
            <a:prstDash val="solid"/>
          </a:ln>
        </p:spPr>
      </p:sp>
      <p:sp>
        <p:nvSpPr>
          <p:cNvPr id="21" name="Shape 19"/>
          <p:cNvSpPr/>
          <p:nvPr/>
        </p:nvSpPr>
        <p:spPr>
          <a:xfrm>
            <a:off x="4481840" y="3180283"/>
            <a:ext cx="0" cy="318211"/>
          </a:xfrm>
          <a:prstGeom prst="line">
            <a:avLst/>
          </a:prstGeom>
          <a:noFill/>
          <a:ln w="25400">
            <a:solidFill>
              <a:srgbClr val="BCF58A"/>
            </a:solidFill>
            <a:prstDash val="solid"/>
          </a:ln>
        </p:spPr>
      </p:sp>
      <p:sp>
        <p:nvSpPr>
          <p:cNvPr id="22" name="Shape 20"/>
          <p:cNvSpPr/>
          <p:nvPr/>
        </p:nvSpPr>
        <p:spPr>
          <a:xfrm>
            <a:off x="4704588" y="3180283"/>
            <a:ext cx="0" cy="318211"/>
          </a:xfrm>
          <a:prstGeom prst="line">
            <a:avLst/>
          </a:prstGeom>
          <a:noFill/>
          <a:ln w="25400">
            <a:solidFill>
              <a:srgbClr val="BCF58A"/>
            </a:solidFill>
            <a:prstDash val="solid"/>
          </a:ln>
        </p:spPr>
      </p:sp>
      <p:sp>
        <p:nvSpPr>
          <p:cNvPr id="23" name="Shape 21"/>
          <p:cNvSpPr/>
          <p:nvPr/>
        </p:nvSpPr>
        <p:spPr>
          <a:xfrm>
            <a:off x="4927336" y="3180283"/>
            <a:ext cx="0" cy="318211"/>
          </a:xfrm>
          <a:prstGeom prst="line">
            <a:avLst/>
          </a:prstGeom>
          <a:noFill/>
          <a:ln w="25400">
            <a:solidFill>
              <a:srgbClr val="BCF58A"/>
            </a:solidFill>
            <a:prstDash val="solid"/>
          </a:ln>
        </p:spPr>
      </p:sp>
      <p:sp>
        <p:nvSpPr>
          <p:cNvPr id="24" name="Shape 22"/>
          <p:cNvSpPr/>
          <p:nvPr/>
        </p:nvSpPr>
        <p:spPr>
          <a:xfrm>
            <a:off x="4354556" y="3578047"/>
            <a:ext cx="700065" cy="0"/>
          </a:xfrm>
          <a:prstGeom prst="line">
            <a:avLst/>
          </a:prstGeom>
          <a:noFill/>
          <a:ln w="25400">
            <a:solidFill>
              <a:srgbClr val="BCF58A"/>
            </a:solidFill>
            <a:prstDash val="solid"/>
          </a:ln>
        </p:spPr>
      </p:sp>
      <p:sp>
        <p:nvSpPr>
          <p:cNvPr id="25" name="Shape 23"/>
          <p:cNvSpPr/>
          <p:nvPr/>
        </p:nvSpPr>
        <p:spPr>
          <a:xfrm>
            <a:off x="4418198" y="3514405"/>
            <a:ext cx="572780" cy="0"/>
          </a:xfrm>
          <a:prstGeom prst="line">
            <a:avLst/>
          </a:prstGeom>
          <a:noFill/>
          <a:ln w="25400">
            <a:solidFill>
              <a:srgbClr val="BCF58A"/>
            </a:solidFill>
            <a:prstDash val="solid"/>
          </a:ln>
        </p:spPr>
      </p:sp>
      <p:sp>
        <p:nvSpPr>
          <p:cNvPr id="26" name="Text 24"/>
          <p:cNvSpPr/>
          <p:nvPr/>
        </p:nvSpPr>
        <p:spPr>
          <a:xfrm>
            <a:off x="3630168" y="4032504"/>
            <a:ext cx="2157984" cy="3566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Finance</a:t>
            </a:r>
            <a:endParaRPr lang="en-US" sz="2200" dirty="0"/>
          </a:p>
        </p:txBody>
      </p:sp>
      <p:sp>
        <p:nvSpPr>
          <p:cNvPr id="27" name="Text 25"/>
          <p:cNvSpPr/>
          <p:nvPr/>
        </p:nvSpPr>
        <p:spPr>
          <a:xfrm>
            <a:off x="3593592" y="4608576"/>
            <a:ext cx="2231136" cy="630936"/>
          </a:xfrm>
          <a:prstGeom prst="rect">
            <a:avLst/>
          </a:prstGeom>
          <a:noFill/>
          <a:ln/>
        </p:spPr>
        <p:txBody>
          <a:bodyPr wrap="square" lIns="0" tIns="0" rIns="0" bIns="0" rtlCol="0" anchor="ctr"/>
          <a:lstStyle/>
          <a:p>
            <a:pPr algn="ctr" indent="0" marL="0">
              <a:buNone/>
            </a:pPr>
            <a:r>
              <a:rPr lang="en-US" sz="1700" dirty="0">
                <a:solidFill>
                  <a:srgbClr val="8CA5B6"/>
                </a:solidFill>
                <a:latin typeface="Arial" pitchFamily="34" charset="0"/>
                <a:ea typeface="Arial" pitchFamily="34" charset="-122"/>
                <a:cs typeface="Arial" pitchFamily="34" charset="-120"/>
              </a:rPr>
              <a:t>Release</a:t>
            </a:r>
            <a:endParaRPr lang="en-US" sz="1700" dirty="0"/>
          </a:p>
          <a:p>
            <a:pPr algn="ctr" indent="0" marL="0">
              <a:buNone/>
            </a:pPr>
            <a:r>
              <a:rPr lang="en-US" sz="1700" dirty="0">
                <a:solidFill>
                  <a:srgbClr val="8CA5B6"/>
                </a:solidFill>
                <a:latin typeface="Arial" pitchFamily="34" charset="0"/>
                <a:ea typeface="Arial" pitchFamily="34" charset="-122"/>
                <a:cs typeface="Arial" pitchFamily="34" charset="-120"/>
              </a:rPr>
              <a:t>payment</a:t>
            </a:r>
            <a:endParaRPr lang="en-US" sz="1700" dirty="0"/>
          </a:p>
        </p:txBody>
      </p:sp>
      <p:sp>
        <p:nvSpPr>
          <p:cNvPr id="28" name="Shape 26"/>
          <p:cNvSpPr/>
          <p:nvPr/>
        </p:nvSpPr>
        <p:spPr>
          <a:xfrm>
            <a:off x="6245352" y="2496312"/>
            <a:ext cx="2468880" cy="3008376"/>
          </a:xfrm>
          <a:prstGeom prst="roundRect">
            <a:avLst>
              <a:gd name="adj" fmla="val 4444"/>
            </a:avLst>
          </a:prstGeom>
          <a:solidFill>
            <a:srgbClr val="17354A"/>
          </a:solidFill>
          <a:ln w="12700">
            <a:solidFill>
              <a:srgbClr val="335368"/>
            </a:solidFill>
            <a:prstDash val="solid"/>
          </a:ln>
        </p:spPr>
      </p:sp>
      <p:sp>
        <p:nvSpPr>
          <p:cNvPr id="29" name="Shape 27"/>
          <p:cNvSpPr/>
          <p:nvPr/>
        </p:nvSpPr>
        <p:spPr>
          <a:xfrm flipV="1">
            <a:off x="7300204" y="3037088"/>
            <a:ext cx="0" cy="167061"/>
          </a:xfrm>
          <a:prstGeom prst="line">
            <a:avLst/>
          </a:prstGeom>
          <a:noFill/>
          <a:ln w="25400">
            <a:solidFill>
              <a:srgbClr val="BCF58A"/>
            </a:solidFill>
            <a:prstDash val="solid"/>
          </a:ln>
        </p:spPr>
      </p:sp>
      <p:sp>
        <p:nvSpPr>
          <p:cNvPr id="30" name="Shape 28"/>
          <p:cNvSpPr/>
          <p:nvPr/>
        </p:nvSpPr>
        <p:spPr>
          <a:xfrm flipV="1">
            <a:off x="7300204" y="2941625"/>
            <a:ext cx="79553" cy="95463"/>
          </a:xfrm>
          <a:prstGeom prst="line">
            <a:avLst/>
          </a:prstGeom>
          <a:noFill/>
          <a:ln w="25400">
            <a:solidFill>
              <a:srgbClr val="BCF58A"/>
            </a:solidFill>
            <a:prstDash val="solid"/>
          </a:ln>
        </p:spPr>
      </p:sp>
      <p:sp>
        <p:nvSpPr>
          <p:cNvPr id="31" name="Shape 29"/>
          <p:cNvSpPr/>
          <p:nvPr/>
        </p:nvSpPr>
        <p:spPr>
          <a:xfrm>
            <a:off x="7379757" y="2941625"/>
            <a:ext cx="190927" cy="0"/>
          </a:xfrm>
          <a:prstGeom prst="line">
            <a:avLst/>
          </a:prstGeom>
          <a:noFill/>
          <a:ln w="25400">
            <a:solidFill>
              <a:srgbClr val="BCF58A"/>
            </a:solidFill>
            <a:prstDash val="solid"/>
          </a:ln>
        </p:spPr>
      </p:sp>
      <p:sp>
        <p:nvSpPr>
          <p:cNvPr id="32" name="Shape 30"/>
          <p:cNvSpPr/>
          <p:nvPr/>
        </p:nvSpPr>
        <p:spPr>
          <a:xfrm>
            <a:off x="7570683" y="2941625"/>
            <a:ext cx="79553" cy="95463"/>
          </a:xfrm>
          <a:prstGeom prst="line">
            <a:avLst/>
          </a:prstGeom>
          <a:noFill/>
          <a:ln w="25400">
            <a:solidFill>
              <a:srgbClr val="BCF58A"/>
            </a:solidFill>
            <a:prstDash val="solid"/>
          </a:ln>
        </p:spPr>
      </p:sp>
      <p:sp>
        <p:nvSpPr>
          <p:cNvPr id="33" name="Shape 31"/>
          <p:cNvSpPr/>
          <p:nvPr/>
        </p:nvSpPr>
        <p:spPr>
          <a:xfrm>
            <a:off x="7650236" y="3037088"/>
            <a:ext cx="0" cy="167061"/>
          </a:xfrm>
          <a:prstGeom prst="line">
            <a:avLst/>
          </a:prstGeom>
          <a:noFill/>
          <a:ln w="25400">
            <a:solidFill>
              <a:srgbClr val="BCF58A"/>
            </a:solidFill>
            <a:prstDash val="solid"/>
          </a:ln>
        </p:spPr>
      </p:sp>
      <p:sp>
        <p:nvSpPr>
          <p:cNvPr id="34" name="Shape 32"/>
          <p:cNvSpPr/>
          <p:nvPr/>
        </p:nvSpPr>
        <p:spPr>
          <a:xfrm>
            <a:off x="7180875" y="3188238"/>
            <a:ext cx="588691" cy="389809"/>
          </a:xfrm>
          <a:prstGeom prst="roundRect">
            <a:avLst>
              <a:gd name="adj" fmla="val 28149"/>
            </a:avLst>
          </a:prstGeom>
          <a:solidFill>
            <a:srgbClr val="17354A"/>
          </a:solidFill>
          <a:ln w="25400">
            <a:solidFill>
              <a:srgbClr val="BCF58A"/>
            </a:solidFill>
            <a:prstDash val="solid"/>
          </a:ln>
        </p:spPr>
      </p:sp>
      <p:sp>
        <p:nvSpPr>
          <p:cNvPr id="35" name="Shape 33"/>
          <p:cNvSpPr/>
          <p:nvPr/>
        </p:nvSpPr>
        <p:spPr>
          <a:xfrm>
            <a:off x="7475220" y="3323478"/>
            <a:ext cx="0" cy="119329"/>
          </a:xfrm>
          <a:prstGeom prst="line">
            <a:avLst/>
          </a:prstGeom>
          <a:noFill/>
          <a:ln w="25400">
            <a:solidFill>
              <a:srgbClr val="BCF58A"/>
            </a:solidFill>
            <a:prstDash val="solid"/>
          </a:ln>
        </p:spPr>
      </p:sp>
      <p:sp>
        <p:nvSpPr>
          <p:cNvPr id="36" name="Text 34"/>
          <p:cNvSpPr/>
          <p:nvPr/>
        </p:nvSpPr>
        <p:spPr>
          <a:xfrm>
            <a:off x="6400800" y="4032504"/>
            <a:ext cx="2157984" cy="3566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Access</a:t>
            </a:r>
            <a:endParaRPr lang="en-US" sz="2200" dirty="0"/>
          </a:p>
        </p:txBody>
      </p:sp>
      <p:sp>
        <p:nvSpPr>
          <p:cNvPr id="37" name="Text 35"/>
          <p:cNvSpPr/>
          <p:nvPr/>
        </p:nvSpPr>
        <p:spPr>
          <a:xfrm>
            <a:off x="6364224" y="4608576"/>
            <a:ext cx="2231136" cy="630936"/>
          </a:xfrm>
          <a:prstGeom prst="rect">
            <a:avLst/>
          </a:prstGeom>
          <a:noFill/>
          <a:ln/>
        </p:spPr>
        <p:txBody>
          <a:bodyPr wrap="square" lIns="0" tIns="0" rIns="0" bIns="0" rtlCol="0" anchor="ctr"/>
          <a:lstStyle/>
          <a:p>
            <a:pPr algn="ctr" indent="0" marL="0">
              <a:buNone/>
            </a:pPr>
            <a:r>
              <a:rPr lang="en-US" sz="1700" dirty="0">
                <a:solidFill>
                  <a:srgbClr val="8CA5B6"/>
                </a:solidFill>
                <a:latin typeface="Arial" pitchFamily="34" charset="0"/>
                <a:ea typeface="Arial" pitchFamily="34" charset="-122"/>
                <a:cs typeface="Arial" pitchFamily="34" charset="-120"/>
              </a:rPr>
              <a:t>Grant</a:t>
            </a:r>
            <a:endParaRPr lang="en-US" sz="1700" dirty="0"/>
          </a:p>
          <a:p>
            <a:pPr algn="ctr" indent="0" marL="0">
              <a:buNone/>
            </a:pPr>
            <a:r>
              <a:rPr lang="en-US" sz="1700" dirty="0">
                <a:solidFill>
                  <a:srgbClr val="8CA5B6"/>
                </a:solidFill>
                <a:latin typeface="Arial" pitchFamily="34" charset="0"/>
                <a:ea typeface="Arial" pitchFamily="34" charset="-122"/>
                <a:cs typeface="Arial" pitchFamily="34" charset="-120"/>
              </a:rPr>
              <a:t>privilege</a:t>
            </a:r>
            <a:endParaRPr lang="en-US" sz="1700" dirty="0"/>
          </a:p>
        </p:txBody>
      </p:sp>
      <p:sp>
        <p:nvSpPr>
          <p:cNvPr id="38" name="Shape 36"/>
          <p:cNvSpPr/>
          <p:nvPr/>
        </p:nvSpPr>
        <p:spPr>
          <a:xfrm>
            <a:off x="9015984" y="2496312"/>
            <a:ext cx="2468880" cy="3008376"/>
          </a:xfrm>
          <a:prstGeom prst="roundRect">
            <a:avLst>
              <a:gd name="adj" fmla="val 4444"/>
            </a:avLst>
          </a:prstGeom>
          <a:solidFill>
            <a:srgbClr val="17354A"/>
          </a:solidFill>
          <a:ln w="12700">
            <a:solidFill>
              <a:srgbClr val="335368"/>
            </a:solidFill>
            <a:prstDash val="solid"/>
          </a:ln>
        </p:spPr>
      </p:sp>
      <p:sp>
        <p:nvSpPr>
          <p:cNvPr id="39" name="Shape 37"/>
          <p:cNvSpPr/>
          <p:nvPr/>
        </p:nvSpPr>
        <p:spPr>
          <a:xfrm>
            <a:off x="9911730" y="2957535"/>
            <a:ext cx="668244" cy="230703"/>
          </a:xfrm>
          <a:prstGeom prst="roundRect">
            <a:avLst>
              <a:gd name="adj" fmla="val 47562"/>
            </a:avLst>
          </a:prstGeom>
          <a:solidFill>
            <a:srgbClr val="17354A"/>
          </a:solidFill>
          <a:ln w="25400">
            <a:solidFill>
              <a:srgbClr val="BCF58A"/>
            </a:solidFill>
            <a:prstDash val="solid"/>
          </a:ln>
        </p:spPr>
      </p:sp>
      <p:sp>
        <p:nvSpPr>
          <p:cNvPr id="40" name="Shape 38"/>
          <p:cNvSpPr/>
          <p:nvPr/>
        </p:nvSpPr>
        <p:spPr>
          <a:xfrm>
            <a:off x="10023104" y="3072887"/>
            <a:ext cx="31821" cy="0"/>
          </a:xfrm>
          <a:prstGeom prst="line">
            <a:avLst/>
          </a:prstGeom>
          <a:noFill/>
          <a:ln w="38100">
            <a:solidFill>
              <a:srgbClr val="BCF58A"/>
            </a:solidFill>
            <a:prstDash val="solid"/>
          </a:ln>
        </p:spPr>
      </p:sp>
      <p:sp>
        <p:nvSpPr>
          <p:cNvPr id="41" name="Shape 39"/>
          <p:cNvSpPr/>
          <p:nvPr/>
        </p:nvSpPr>
        <p:spPr>
          <a:xfrm>
            <a:off x="10174254" y="3072887"/>
            <a:ext cx="286390" cy="0"/>
          </a:xfrm>
          <a:prstGeom prst="line">
            <a:avLst/>
          </a:prstGeom>
          <a:noFill/>
          <a:ln w="25400">
            <a:solidFill>
              <a:srgbClr val="BCF58A"/>
            </a:solidFill>
            <a:prstDash val="solid"/>
          </a:ln>
        </p:spPr>
      </p:sp>
      <p:sp>
        <p:nvSpPr>
          <p:cNvPr id="42" name="Shape 40"/>
          <p:cNvSpPr/>
          <p:nvPr/>
        </p:nvSpPr>
        <p:spPr>
          <a:xfrm>
            <a:off x="9911730" y="3315523"/>
            <a:ext cx="668244" cy="230703"/>
          </a:xfrm>
          <a:prstGeom prst="roundRect">
            <a:avLst>
              <a:gd name="adj" fmla="val 47562"/>
            </a:avLst>
          </a:prstGeom>
          <a:solidFill>
            <a:srgbClr val="17354A"/>
          </a:solidFill>
          <a:ln w="25400">
            <a:solidFill>
              <a:srgbClr val="BCF58A"/>
            </a:solidFill>
            <a:prstDash val="solid"/>
          </a:ln>
        </p:spPr>
      </p:sp>
      <p:sp>
        <p:nvSpPr>
          <p:cNvPr id="43" name="Shape 41"/>
          <p:cNvSpPr/>
          <p:nvPr/>
        </p:nvSpPr>
        <p:spPr>
          <a:xfrm>
            <a:off x="10023104" y="3430875"/>
            <a:ext cx="31821" cy="0"/>
          </a:xfrm>
          <a:prstGeom prst="line">
            <a:avLst/>
          </a:prstGeom>
          <a:noFill/>
          <a:ln w="38100">
            <a:solidFill>
              <a:srgbClr val="BCF58A"/>
            </a:solidFill>
            <a:prstDash val="solid"/>
          </a:ln>
        </p:spPr>
      </p:sp>
      <p:sp>
        <p:nvSpPr>
          <p:cNvPr id="44" name="Shape 42"/>
          <p:cNvSpPr/>
          <p:nvPr/>
        </p:nvSpPr>
        <p:spPr>
          <a:xfrm>
            <a:off x="10174254" y="3430875"/>
            <a:ext cx="286390" cy="0"/>
          </a:xfrm>
          <a:prstGeom prst="line">
            <a:avLst/>
          </a:prstGeom>
          <a:noFill/>
          <a:ln w="25400">
            <a:solidFill>
              <a:srgbClr val="BCF58A"/>
            </a:solidFill>
            <a:prstDash val="solid"/>
          </a:ln>
        </p:spPr>
      </p:sp>
      <p:sp>
        <p:nvSpPr>
          <p:cNvPr id="45" name="Text 43"/>
          <p:cNvSpPr/>
          <p:nvPr/>
        </p:nvSpPr>
        <p:spPr>
          <a:xfrm>
            <a:off x="9171432" y="4032504"/>
            <a:ext cx="2157984" cy="3566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Operations</a:t>
            </a:r>
            <a:endParaRPr lang="en-US" sz="2200" dirty="0"/>
          </a:p>
        </p:txBody>
      </p:sp>
      <p:sp>
        <p:nvSpPr>
          <p:cNvPr id="46" name="Text 44"/>
          <p:cNvSpPr/>
          <p:nvPr/>
        </p:nvSpPr>
        <p:spPr>
          <a:xfrm>
            <a:off x="9134856" y="4608576"/>
            <a:ext cx="2231136" cy="630936"/>
          </a:xfrm>
          <a:prstGeom prst="rect">
            <a:avLst/>
          </a:prstGeom>
          <a:noFill/>
          <a:ln/>
        </p:spPr>
        <p:txBody>
          <a:bodyPr wrap="square" lIns="0" tIns="0" rIns="0" bIns="0" rtlCol="0" anchor="ctr"/>
          <a:lstStyle/>
          <a:p>
            <a:pPr algn="ctr" indent="0" marL="0">
              <a:buNone/>
            </a:pPr>
            <a:r>
              <a:rPr lang="en-US" sz="1700" dirty="0">
                <a:solidFill>
                  <a:srgbClr val="8CA5B6"/>
                </a:solidFill>
                <a:latin typeface="Arial" pitchFamily="34" charset="0"/>
                <a:ea typeface="Arial" pitchFamily="34" charset="-122"/>
                <a:cs typeface="Arial" pitchFamily="34" charset="-120"/>
              </a:rPr>
              <a:t>Authorize</a:t>
            </a:r>
            <a:endParaRPr lang="en-US" sz="1700" dirty="0"/>
          </a:p>
          <a:p>
            <a:pPr algn="ctr" indent="0" marL="0">
              <a:buNone/>
            </a:pPr>
            <a:r>
              <a:rPr lang="en-US" sz="1700" dirty="0">
                <a:solidFill>
                  <a:srgbClr val="8CA5B6"/>
                </a:solidFill>
                <a:latin typeface="Arial" pitchFamily="34" charset="0"/>
                <a:ea typeface="Arial" pitchFamily="34" charset="-122"/>
                <a:cs typeface="Arial" pitchFamily="34" charset="-120"/>
              </a:rPr>
              <a:t>production change</a:t>
            </a:r>
            <a:endParaRPr lang="en-US" sz="1700" dirty="0"/>
          </a:p>
        </p:txBody>
      </p:sp>
      <p:sp>
        <p:nvSpPr>
          <p:cNvPr id="47" name="Text 45"/>
          <p:cNvSpPr/>
          <p:nvPr/>
        </p:nvSpPr>
        <p:spPr>
          <a:xfrm>
            <a:off x="713232" y="5961888"/>
            <a:ext cx="10789920" cy="265176"/>
          </a:xfrm>
          <a:prstGeom prst="rect">
            <a:avLst/>
          </a:prstGeom>
          <a:noFill/>
          <a:ln/>
        </p:spPr>
        <p:txBody>
          <a:bodyPr wrap="square" lIns="0" tIns="0" rIns="0" bIns="0" rtlCol="0" anchor="ctr"/>
          <a:lstStyle/>
          <a:p>
            <a:pPr indent="0" marL="0">
              <a:buNone/>
            </a:pPr>
            <a:r>
              <a:rPr lang="en-US" sz="1900" dirty="0">
                <a:solidFill>
                  <a:srgbClr val="FFFFFF"/>
                </a:solidFill>
                <a:latin typeface="Arial" pitchFamily="34" charset="0"/>
                <a:ea typeface="Arial" pitchFamily="34" charset="-122"/>
                <a:cs typeface="Arial" pitchFamily="34" charset="-120"/>
              </a:rPr>
              <a:t>Same checkpoint. Higher stakes.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43A"/>
        </a:solidFill>
      </p:bgPr>
    </p:bg>
    <p:spTree>
      <p:nvGrpSpPr>
        <p:cNvPr id="1" name=""/>
        <p:cNvGrpSpPr/>
        <p:nvPr/>
      </p:nvGrpSpPr>
      <p:grpSpPr>
        <a:xfrm>
          <a:off x="0" y="0"/>
          <a:ext cx="0" cy="0"/>
          <a:chOff x="0" y="0"/>
          <a:chExt cx="0" cy="0"/>
        </a:xfrm>
      </p:grpSpPr>
      <p:sp>
        <p:nvSpPr>
          <p:cNvPr id="2" name="Text 0"/>
          <p:cNvSpPr/>
          <p:nvPr/>
        </p:nvSpPr>
        <p:spPr>
          <a:xfrm>
            <a:off x="658368" y="384048"/>
            <a:ext cx="7772400" cy="201168"/>
          </a:xfrm>
          <a:prstGeom prst="rect">
            <a:avLst/>
          </a:prstGeom>
          <a:noFill/>
          <a:ln/>
        </p:spPr>
        <p:txBody>
          <a:bodyPr wrap="square" lIns="0" tIns="0" rIns="0" bIns="0" rtlCol="0" anchor="ctr"/>
          <a:lstStyle/>
          <a:p>
            <a:pPr indent="0" marL="0">
              <a:buNone/>
            </a:pPr>
            <a:r>
              <a:rPr lang="en-US" sz="1150" b="1" spc="120" kern="0" dirty="0">
                <a:solidFill>
                  <a:srgbClr val="BCF58A"/>
                </a:solidFill>
                <a:latin typeface="Arial" pitchFamily="34" charset="0"/>
                <a:ea typeface="Arial" pitchFamily="34" charset="-122"/>
                <a:cs typeface="Arial" pitchFamily="34" charset="-120"/>
              </a:rPr>
              <a:t>NOW WHAT / YOUR FIRST COUNTERSIGN</a:t>
            </a:r>
            <a:endParaRPr lang="en-US" sz="1150" dirty="0"/>
          </a:p>
        </p:txBody>
      </p:sp>
      <p:sp>
        <p:nvSpPr>
          <p:cNvPr id="3" name="Text 1"/>
          <p:cNvSpPr/>
          <p:nvPr/>
        </p:nvSpPr>
        <p:spPr>
          <a:xfrm>
            <a:off x="9464040" y="365760"/>
            <a:ext cx="2075688" cy="256032"/>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countersign.</a:t>
            </a:r>
            <a:endParaRPr lang="en-US" sz="1500" dirty="0"/>
          </a:p>
        </p:txBody>
      </p:sp>
      <p:sp>
        <p:nvSpPr>
          <p:cNvPr id="4" name="Shape 2"/>
          <p:cNvSpPr/>
          <p:nvPr/>
        </p:nvSpPr>
        <p:spPr>
          <a:xfrm>
            <a:off x="658368" y="6437376"/>
            <a:ext cx="10872216" cy="0"/>
          </a:xfrm>
          <a:prstGeom prst="line">
            <a:avLst/>
          </a:prstGeom>
          <a:noFill/>
          <a:ln w="8890">
            <a:solidFill>
              <a:srgbClr val="2D485A"/>
            </a:solidFill>
            <a:prstDash val="solid"/>
          </a:ln>
        </p:spPr>
      </p:sp>
      <p:sp>
        <p:nvSpPr>
          <p:cNvPr id="5" name="Text 3"/>
          <p:cNvSpPr/>
          <p:nvPr/>
        </p:nvSpPr>
        <p:spPr>
          <a:xfrm>
            <a:off x="676656" y="6537960"/>
            <a:ext cx="8412480" cy="146304"/>
          </a:xfrm>
          <a:prstGeom prst="rect">
            <a:avLst/>
          </a:prstGeom>
          <a:noFill/>
          <a:ln/>
        </p:spPr>
        <p:txBody>
          <a:bodyPr wrap="square" lIns="0" tIns="0" rIns="0" bIns="0" rtlCol="0" anchor="ctr"/>
          <a:lstStyle/>
          <a:p>
            <a:pPr indent="0" marL="0">
              <a:buNone/>
            </a:pPr>
            <a:r>
              <a:rPr lang="en-US" sz="850" spc="110" kern="0" dirty="0">
                <a:solidFill>
                  <a:srgbClr val="8CA5B6"/>
                </a:solidFill>
                <a:latin typeface="Arial" pitchFamily="34" charset="0"/>
                <a:ea typeface="Arial" pitchFamily="34" charset="-122"/>
                <a:cs typeface="Arial" pitchFamily="34" charset="-120"/>
              </a:rPr>
              <a:t>HUMAN VERIFICATION FOR WEB APPS</a:t>
            </a:r>
            <a:endParaRPr lang="en-US" sz="850" dirty="0"/>
          </a:p>
        </p:txBody>
      </p:sp>
      <p:sp>
        <p:nvSpPr>
          <p:cNvPr id="6" name="Text 4"/>
          <p:cNvSpPr/>
          <p:nvPr/>
        </p:nvSpPr>
        <p:spPr>
          <a:xfrm>
            <a:off x="11027664" y="6519672"/>
            <a:ext cx="475488" cy="182880"/>
          </a:xfrm>
          <a:prstGeom prst="rect">
            <a:avLst/>
          </a:prstGeom>
          <a:noFill/>
          <a:ln/>
        </p:spPr>
        <p:txBody>
          <a:bodyPr wrap="square" lIns="0" tIns="0" rIns="0" bIns="0" rtlCol="0" anchor="ctr"/>
          <a:lstStyle/>
          <a:p>
            <a:pPr algn="r" indent="0" marL="0">
              <a:buNone/>
            </a:pPr>
            <a:r>
              <a:rPr lang="en-US" sz="1000" dirty="0">
                <a:solidFill>
                  <a:srgbClr val="8CA5B6"/>
                </a:solidFill>
                <a:latin typeface="Arial" pitchFamily="34" charset="0"/>
                <a:ea typeface="Arial" pitchFamily="34" charset="-122"/>
                <a:cs typeface="Arial" pitchFamily="34" charset="-120"/>
              </a:rPr>
              <a:t>08</a:t>
            </a:r>
            <a:endParaRPr lang="en-US" sz="1000" dirty="0"/>
          </a:p>
        </p:txBody>
      </p:sp>
      <p:sp>
        <p:nvSpPr>
          <p:cNvPr id="7" name="Text 5"/>
          <p:cNvSpPr/>
          <p:nvPr/>
        </p:nvSpPr>
        <p:spPr>
          <a:xfrm>
            <a:off x="694944" y="1271016"/>
            <a:ext cx="8229600" cy="950976"/>
          </a:xfrm>
          <a:prstGeom prst="rect">
            <a:avLst/>
          </a:prstGeom>
          <a:noFill/>
          <a:ln/>
        </p:spPr>
        <p:txBody>
          <a:bodyPr wrap="square" lIns="0" tIns="0" rIns="0" bIns="0" rtlCol="0" anchor="ctr"/>
          <a:lstStyle/>
          <a:p>
            <a:pPr indent="0" marL="0">
              <a:buNone/>
            </a:pPr>
            <a:r>
              <a:rPr lang="en-US" sz="2400" dirty="0">
                <a:solidFill>
                  <a:srgbClr val="8CA5B6"/>
                </a:solidFill>
                <a:latin typeface="Arial" pitchFamily="34" charset="0"/>
                <a:ea typeface="Arial" pitchFamily="34" charset="-122"/>
                <a:cs typeface="Arial" pitchFamily="34" charset="-120"/>
              </a:rPr>
              <a:t>Which action in your application</a:t>
            </a:r>
            <a:endParaRPr lang="en-US" sz="2400" dirty="0"/>
          </a:p>
          <a:p>
            <a:pPr indent="0" marL="0">
              <a:buNone/>
            </a:pPr>
            <a:r>
              <a:rPr lang="en-US" sz="2400" dirty="0">
                <a:solidFill>
                  <a:srgbClr val="8CA5B6"/>
                </a:solidFill>
                <a:latin typeface="Arial" pitchFamily="34" charset="0"/>
                <a:ea typeface="Arial" pitchFamily="34" charset="-122"/>
                <a:cs typeface="Arial" pitchFamily="34" charset="-120"/>
              </a:rPr>
              <a:t>needs a human’s confirmation?</a:t>
            </a:r>
            <a:endParaRPr lang="en-US" sz="2400" dirty="0"/>
          </a:p>
        </p:txBody>
      </p:sp>
      <p:sp>
        <p:nvSpPr>
          <p:cNvPr id="8" name="Text 6"/>
          <p:cNvSpPr/>
          <p:nvPr/>
        </p:nvSpPr>
        <p:spPr>
          <a:xfrm>
            <a:off x="676656" y="2852928"/>
            <a:ext cx="8229600" cy="749808"/>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Choose one action.</a:t>
            </a:r>
            <a:endParaRPr lang="en-US" sz="4200" dirty="0"/>
          </a:p>
        </p:txBody>
      </p:sp>
      <p:sp>
        <p:nvSpPr>
          <p:cNvPr id="9" name="Text 7"/>
          <p:cNvSpPr/>
          <p:nvPr/>
        </p:nvSpPr>
        <p:spPr>
          <a:xfrm>
            <a:off x="676656" y="3694176"/>
            <a:ext cx="8869680" cy="758952"/>
          </a:xfrm>
          <a:prstGeom prst="rect">
            <a:avLst/>
          </a:prstGeom>
          <a:noFill/>
          <a:ln/>
        </p:spPr>
        <p:txBody>
          <a:bodyPr wrap="square" lIns="0" tIns="0" rIns="0" bIns="0" rtlCol="0" anchor="ctr"/>
          <a:lstStyle/>
          <a:p>
            <a:pPr indent="0" marL="0">
              <a:buNone/>
            </a:pPr>
            <a:r>
              <a:rPr lang="en-US" sz="4200" b="1" dirty="0">
                <a:solidFill>
                  <a:srgbClr val="BCF58A"/>
                </a:solidFill>
                <a:latin typeface="Arial" pitchFamily="34" charset="0"/>
                <a:ea typeface="Arial" pitchFamily="34" charset="-122"/>
                <a:cs typeface="Arial" pitchFamily="34" charset="-120"/>
              </a:rPr>
              <a:t>Require a countersign.</a:t>
            </a:r>
            <a:endParaRPr lang="en-US" sz="4200" dirty="0"/>
          </a:p>
        </p:txBody>
      </p:sp>
      <p:sp>
        <p:nvSpPr>
          <p:cNvPr id="10" name="Shape 8"/>
          <p:cNvSpPr/>
          <p:nvPr/>
        </p:nvSpPr>
        <p:spPr>
          <a:xfrm>
            <a:off x="9153144" y="2322576"/>
            <a:ext cx="2340864" cy="2340864"/>
          </a:xfrm>
          <a:prstGeom prst="ellipse">
            <a:avLst/>
          </a:prstGeom>
          <a:solidFill>
            <a:srgbClr val="17354A"/>
          </a:solidFill>
          <a:ln w="12700">
            <a:solidFill>
              <a:srgbClr val="335368"/>
            </a:solidFill>
            <a:prstDash val="solid"/>
          </a:ln>
        </p:spPr>
      </p:sp>
      <p:sp>
        <p:nvSpPr>
          <p:cNvPr id="11" name="Shape 9"/>
          <p:cNvSpPr/>
          <p:nvPr/>
        </p:nvSpPr>
        <p:spPr>
          <a:xfrm>
            <a:off x="10337292" y="2815712"/>
            <a:ext cx="491124" cy="203637"/>
          </a:xfrm>
          <a:prstGeom prst="line">
            <a:avLst/>
          </a:prstGeom>
          <a:noFill/>
          <a:ln w="30480">
            <a:solidFill>
              <a:srgbClr val="BCF58A"/>
            </a:solidFill>
            <a:prstDash val="solid"/>
          </a:ln>
        </p:spPr>
      </p:sp>
      <p:sp>
        <p:nvSpPr>
          <p:cNvPr id="12" name="Shape 10"/>
          <p:cNvSpPr/>
          <p:nvPr/>
        </p:nvSpPr>
        <p:spPr>
          <a:xfrm flipH="1">
            <a:off x="10768523" y="3019349"/>
            <a:ext cx="59893" cy="551017"/>
          </a:xfrm>
          <a:prstGeom prst="line">
            <a:avLst/>
          </a:prstGeom>
          <a:noFill/>
          <a:ln w="30480">
            <a:solidFill>
              <a:srgbClr val="BCF58A"/>
            </a:solidFill>
            <a:prstDash val="solid"/>
          </a:ln>
        </p:spPr>
      </p:sp>
      <p:sp>
        <p:nvSpPr>
          <p:cNvPr id="13" name="Shape 11"/>
          <p:cNvSpPr/>
          <p:nvPr/>
        </p:nvSpPr>
        <p:spPr>
          <a:xfrm flipH="1">
            <a:off x="10576865" y="3570366"/>
            <a:ext cx="191658" cy="215616"/>
          </a:xfrm>
          <a:prstGeom prst="line">
            <a:avLst/>
          </a:prstGeom>
          <a:noFill/>
          <a:ln w="30480">
            <a:solidFill>
              <a:srgbClr val="BCF58A"/>
            </a:solidFill>
            <a:prstDash val="solid"/>
          </a:ln>
        </p:spPr>
      </p:sp>
      <p:sp>
        <p:nvSpPr>
          <p:cNvPr id="14" name="Shape 12"/>
          <p:cNvSpPr/>
          <p:nvPr/>
        </p:nvSpPr>
        <p:spPr>
          <a:xfrm flipH="1">
            <a:off x="10337292" y="3785982"/>
            <a:ext cx="239573" cy="179680"/>
          </a:xfrm>
          <a:prstGeom prst="line">
            <a:avLst/>
          </a:prstGeom>
          <a:noFill/>
          <a:ln w="30480">
            <a:solidFill>
              <a:srgbClr val="BCF58A"/>
            </a:solidFill>
            <a:prstDash val="solid"/>
          </a:ln>
        </p:spPr>
      </p:sp>
      <p:sp>
        <p:nvSpPr>
          <p:cNvPr id="15" name="Shape 13"/>
          <p:cNvSpPr/>
          <p:nvPr/>
        </p:nvSpPr>
        <p:spPr>
          <a:xfrm flipH="1" flipV="1">
            <a:off x="10097719" y="3785982"/>
            <a:ext cx="239573" cy="179680"/>
          </a:xfrm>
          <a:prstGeom prst="line">
            <a:avLst/>
          </a:prstGeom>
          <a:noFill/>
          <a:ln w="30480">
            <a:solidFill>
              <a:srgbClr val="BCF58A"/>
            </a:solidFill>
            <a:prstDash val="solid"/>
          </a:ln>
        </p:spPr>
      </p:sp>
      <p:sp>
        <p:nvSpPr>
          <p:cNvPr id="16" name="Shape 14"/>
          <p:cNvSpPr/>
          <p:nvPr/>
        </p:nvSpPr>
        <p:spPr>
          <a:xfrm flipH="1" flipV="1">
            <a:off x="9906061" y="3570366"/>
            <a:ext cx="191658" cy="215616"/>
          </a:xfrm>
          <a:prstGeom prst="line">
            <a:avLst/>
          </a:prstGeom>
          <a:noFill/>
          <a:ln w="30480">
            <a:solidFill>
              <a:srgbClr val="BCF58A"/>
            </a:solidFill>
            <a:prstDash val="solid"/>
          </a:ln>
        </p:spPr>
      </p:sp>
      <p:sp>
        <p:nvSpPr>
          <p:cNvPr id="17" name="Shape 15"/>
          <p:cNvSpPr/>
          <p:nvPr/>
        </p:nvSpPr>
        <p:spPr>
          <a:xfrm flipH="1" flipV="1">
            <a:off x="9846168" y="3019349"/>
            <a:ext cx="59893" cy="551017"/>
          </a:xfrm>
          <a:prstGeom prst="line">
            <a:avLst/>
          </a:prstGeom>
          <a:noFill/>
          <a:ln w="30480">
            <a:solidFill>
              <a:srgbClr val="BCF58A"/>
            </a:solidFill>
            <a:prstDash val="solid"/>
          </a:ln>
        </p:spPr>
      </p:sp>
      <p:sp>
        <p:nvSpPr>
          <p:cNvPr id="18" name="Shape 16"/>
          <p:cNvSpPr/>
          <p:nvPr/>
        </p:nvSpPr>
        <p:spPr>
          <a:xfrm flipV="1">
            <a:off x="9846168" y="2815712"/>
            <a:ext cx="491124" cy="203637"/>
          </a:xfrm>
          <a:prstGeom prst="line">
            <a:avLst/>
          </a:prstGeom>
          <a:noFill/>
          <a:ln w="30480">
            <a:solidFill>
              <a:srgbClr val="BCF58A"/>
            </a:solidFill>
            <a:prstDash val="solid"/>
          </a:ln>
        </p:spPr>
      </p:sp>
      <p:sp>
        <p:nvSpPr>
          <p:cNvPr id="19" name="Shape 17"/>
          <p:cNvSpPr/>
          <p:nvPr/>
        </p:nvSpPr>
        <p:spPr>
          <a:xfrm>
            <a:off x="10097719" y="3390687"/>
            <a:ext cx="179680" cy="191658"/>
          </a:xfrm>
          <a:prstGeom prst="line">
            <a:avLst/>
          </a:prstGeom>
          <a:noFill/>
          <a:ln w="33020">
            <a:solidFill>
              <a:srgbClr val="BCF58A"/>
            </a:solidFill>
            <a:prstDash val="solid"/>
          </a:ln>
        </p:spPr>
      </p:sp>
      <p:sp>
        <p:nvSpPr>
          <p:cNvPr id="20" name="Shape 18"/>
          <p:cNvSpPr/>
          <p:nvPr/>
        </p:nvSpPr>
        <p:spPr>
          <a:xfrm flipV="1">
            <a:off x="10277399" y="3211007"/>
            <a:ext cx="335402" cy="371338"/>
          </a:xfrm>
          <a:prstGeom prst="line">
            <a:avLst/>
          </a:prstGeom>
          <a:noFill/>
          <a:ln w="33020">
            <a:solidFill>
              <a:srgbClr val="BCF58A"/>
            </a:solidFill>
            <a:prstDash val="solid"/>
          </a:ln>
        </p:spPr>
      </p:sp>
      <p:sp>
        <p:nvSpPr>
          <p:cNvPr id="21" name="Text 19"/>
          <p:cNvSpPr/>
          <p:nvPr/>
        </p:nvSpPr>
        <p:spPr>
          <a:xfrm>
            <a:off x="722376" y="5815584"/>
            <a:ext cx="10698480" cy="310896"/>
          </a:xfrm>
          <a:prstGeom prst="rect">
            <a:avLst/>
          </a:prstGeom>
          <a:noFill/>
          <a:ln/>
        </p:spPr>
        <p:txBody>
          <a:bodyPr wrap="square" lIns="0" tIns="0" rIns="0" bIns="0" rtlCol="0" anchor="ctr"/>
          <a:lstStyle/>
          <a:p>
            <a:pPr indent="0" marL="0">
              <a:buNone/>
            </a:pPr>
            <a:r>
              <a:rPr lang="en-US" sz="1950" dirty="0">
                <a:solidFill>
                  <a:srgbClr val="FFFFFF"/>
                </a:solidFill>
                <a:latin typeface="Arial" pitchFamily="34" charset="0"/>
                <a:ea typeface="Arial" pitchFamily="34" charset="-122"/>
                <a:cs typeface="Arial" pitchFamily="34" charset="-120"/>
              </a:rPr>
              <a:t>AI where it helps. Humans where it matters.</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Countersign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Countersign — AI where it helps. Humans where it matters.</dc:title>
  <dc:subject>Seven-minute hackathon pitch with three-minute Q&amp;A</dc:subject>
  <dc:creator>Countersign team</dc:creator>
  <cp:lastModifiedBy>Countersign team</cp:lastModifiedBy>
  <cp:revision>1</cp:revision>
  <dcterms:created xsi:type="dcterms:W3CDTF">2026-09-17T15:07:43Z</dcterms:created>
  <dcterms:modified xsi:type="dcterms:W3CDTF">2026-09-17T15:07:43Z</dcterms:modified>
</cp:coreProperties>
</file>