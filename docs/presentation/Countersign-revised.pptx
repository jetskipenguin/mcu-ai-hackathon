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_rels/slideMaster1.xml.rels" ContentType="application/vnd.openxmlformats-package.relationships+xml"/>
  <Override PartName="/ppt/notesMasters/notesMaster1.xml" ContentType="application/vnd.openxmlformats-officedocument.presentationml.notesMaster+xml"/>
  <Override PartName="/ppt/notesMasters/_rels/notesMaster1.xml.rels" ContentType="application/vnd.openxmlformats-package.relationships+xml"/>
  <Override PartName="/ppt/theme/theme1.xml" ContentType="application/vnd.openxmlformats-officedocument.theme+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_rels/notesSlide1.xml.rels" ContentType="application/vnd.openxmlformats-package.relationships+xml"/>
  <Override PartName="/ppt/notesSlides/_rels/notesSlide2.xml.rels" ContentType="application/vnd.openxmlformats-package.relationships+xml"/>
  <Override PartName="/ppt/notesSlides/_rels/notesSlide3.xml.rels" ContentType="application/vnd.openxmlformats-package.relationships+xml"/>
  <Override PartName="/ppt/notesSlides/_rels/notesSlide4.xml.rels" ContentType="application/vnd.openxmlformats-package.relationships+xml"/>
  <Override PartName="/ppt/notesSlides/_rels/notesSlide5.xml.rels" ContentType="application/vnd.openxmlformats-package.relationships+xml"/>
  <Override PartName="/ppt/notesSlides/_rels/notesSlide6.xml.rels" ContentType="application/vnd.openxmlformats-package.relationships+xml"/>
  <Override PartName="/ppt/notesSlides/_rels/notesSlide7.xml.rels" ContentType="application/vnd.openxmlformats-package.relationships+xml"/>
  <Override PartName="/ppt/notesSlides/_rels/notesSlide8.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_rels/slideLayout1.xml.rels" ContentType="application/vnd.openxmlformats-package.relationships+xml"/>
  <Override PartName="/ppt/slideLayouts/_rels/slideLayout2.xml.rels" ContentType="application/vnd.openxmlformats-package.relationships+xml"/>
  <Override PartName="/ppt/slideLayouts/_rels/slideLayout3.xml.rels" ContentType="application/vnd.openxmlformats-package.relationships+xml"/>
  <Override PartName="/ppt/slideLayouts/_rels/slideLayout4.xml.rels" ContentType="application/vnd.openxmlformats-package.relationships+xml"/>
  <Override PartName="/ppt/slideLayouts/_rels/slideLayout5.xml.rels" ContentType="application/vnd.openxmlformats-package.relationships+xml"/>
  <Override PartName="/ppt/slideLayouts/_rels/slideLayout6.xml.rels" ContentType="application/vnd.openxmlformats-package.relationships+xml"/>
  <Override PartName="/ppt/slideLayouts/_rels/slideLayout7.xml.rels" ContentType="application/vnd.openxmlformats-package.relationships+xml"/>
  <Override PartName="/ppt/slideLayouts/_rels/slideLayout8.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slideLayouts/_rels/slideLayout11.xml.rels" ContentType="application/vnd.openxmlformats-package.relationships+xml"/>
  <Override PartName="/ppt/slideLayouts/_rels/slideLayout12.xml.rels" ContentType="application/vnd.openxmlformats-package.relationshi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_rels/slide1.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8.xml.rels" ContentType="application/vnd.openxmlformats-package.relationships+xml"/>
  <Override PartName="/ppt/media/image1.png" ContentType="image/png"/>
  <Override PartName="/ppt/media/image2.png" ContentType="image/png"/>
  <Override PartName="/ppt/media/image3.png" ContentType="image/png"/>
  <Override PartName="/ppt/media/image4.png" ContentType="image/png"/>
  <Override PartName="/ppt/media/image5.png" ContentType="image/png"/>
  <Override PartName="/ppt/presProps.xml" ContentType="application/vnd.openxmlformats-officedocument.presentationml.presProps+xml"/>
  <Override PartName="/ppt/_rels/presentation.xml.rels" ContentType="application/vnd.openxmlformats-package.relationshi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Lst>
  <p:sldSz cx="12192000" cy="6858000"/>
  <p:notesSz cx="6858000" cy="12192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 name="PlaceHolder 1"/>
          <p:cNvSpPr>
            <a:spLocks noGrp="1"/>
          </p:cNvSpPr>
          <p:nvPr>
            <p:ph type="sldImg"/>
          </p:nvPr>
        </p:nvSpPr>
        <p:spPr>
          <a:xfrm>
            <a:off x="533520" y="764280"/>
            <a:ext cx="6704640" cy="3771360"/>
          </a:xfrm>
          <a:prstGeom prst="rect">
            <a:avLst/>
          </a:prstGeom>
          <a:noFill/>
          <a:ln w="0">
            <a:noFill/>
          </a:ln>
        </p:spPr>
        <p:txBody>
          <a:bodyPr lIns="0" rIns="0" tIns="0" bIns="0" anchor="ctr">
            <a:noAutofit/>
          </a:bodyPr>
          <a:p>
            <a:r>
              <a:rPr b="0" lang="en-US" sz="1800" spc="-1" strike="noStrike">
                <a:solidFill>
                  <a:srgbClr val="000000"/>
                </a:solidFill>
                <a:latin typeface="Arial"/>
              </a:rPr>
              <a:t>Click to move the slide</a:t>
            </a:r>
            <a:endParaRPr b="0" lang="en-US" sz="1800" spc="-1" strike="noStrike">
              <a:solidFill>
                <a:srgbClr val="000000"/>
              </a:solidFill>
              <a:latin typeface="Arial"/>
            </a:endParaRPr>
          </a:p>
        </p:txBody>
      </p:sp>
      <p:sp>
        <p:nvSpPr>
          <p:cNvPr id="39" name="PlaceHolder 2"/>
          <p:cNvSpPr>
            <a:spLocks noGrp="1"/>
          </p:cNvSpPr>
          <p:nvPr>
            <p:ph type="body"/>
          </p:nvPr>
        </p:nvSpPr>
        <p:spPr>
          <a:xfrm>
            <a:off x="777240" y="4777560"/>
            <a:ext cx="6217560" cy="4525920"/>
          </a:xfrm>
          <a:prstGeom prst="rect">
            <a:avLst/>
          </a:prstGeom>
          <a:noFill/>
          <a:ln w="0">
            <a:noFill/>
          </a:ln>
        </p:spPr>
        <p:txBody>
          <a:bodyPr lIns="0" rIns="0" tIns="0" bIns="0" anchor="t">
            <a:noAutofit/>
          </a:bodyPr>
          <a:p>
            <a:r>
              <a:rPr b="0" lang="en-US" sz="2000" spc="-1" strike="noStrike">
                <a:latin typeface="Arial"/>
              </a:rPr>
              <a:t>Click to edit the notes format</a:t>
            </a:r>
            <a:endParaRPr b="0" lang="en-US" sz="2000" spc="-1" strike="noStrike">
              <a:latin typeface="Arial"/>
            </a:endParaRPr>
          </a:p>
        </p:txBody>
      </p:sp>
      <p:sp>
        <p:nvSpPr>
          <p:cNvPr id="40" name="PlaceHolder 3"/>
          <p:cNvSpPr>
            <a:spLocks noGrp="1"/>
          </p:cNvSpPr>
          <p:nvPr>
            <p:ph type="hdr"/>
          </p:nvPr>
        </p:nvSpPr>
        <p:spPr>
          <a:xfrm>
            <a:off x="0" y="0"/>
            <a:ext cx="3372840" cy="502560"/>
          </a:xfrm>
          <a:prstGeom prst="rect">
            <a:avLst/>
          </a:prstGeom>
          <a:noFill/>
          <a:ln w="0">
            <a:noFill/>
          </a:ln>
        </p:spPr>
        <p:txBody>
          <a:bodyPr lIns="0" rIns="0" tIns="0" bIns="0" anchor="t">
            <a:noAutofit/>
          </a:bodyPr>
          <a:p>
            <a:r>
              <a:rPr b="0" lang="en-US" sz="1400" spc="-1" strike="noStrike">
                <a:latin typeface="Times New Roman"/>
              </a:rPr>
              <a:t>&lt;header&gt;</a:t>
            </a:r>
            <a:endParaRPr b="0" lang="en-US" sz="1400" spc="-1" strike="noStrike">
              <a:latin typeface="Times New Roman"/>
            </a:endParaRPr>
          </a:p>
        </p:txBody>
      </p:sp>
      <p:sp>
        <p:nvSpPr>
          <p:cNvPr id="41" name="PlaceHolder 4"/>
          <p:cNvSpPr>
            <a:spLocks noGrp="1"/>
          </p:cNvSpPr>
          <p:nvPr>
            <p:ph type="dt" idx="1"/>
          </p:nvPr>
        </p:nvSpPr>
        <p:spPr>
          <a:xfrm>
            <a:off x="4399200" y="0"/>
            <a:ext cx="3372840" cy="502560"/>
          </a:xfrm>
          <a:prstGeom prst="rect">
            <a:avLst/>
          </a:prstGeom>
          <a:noFill/>
          <a:ln w="0">
            <a:noFill/>
          </a:ln>
        </p:spPr>
        <p:txBody>
          <a:bodyPr lIns="0" rIns="0" tIns="0" bIns="0" anchor="t">
            <a:noAutofit/>
          </a:bodyPr>
          <a:lstStyle>
            <a:lvl1pPr algn="r">
              <a:buNone/>
              <a:defRPr b="0" lang="en-US" sz="1400" spc="-1" strike="noStrike">
                <a:latin typeface="Times New Roman"/>
              </a:defRPr>
            </a:lvl1pPr>
          </a:lstStyle>
          <a:p>
            <a:pPr algn="r">
              <a:buNone/>
            </a:pPr>
            <a:r>
              <a:rPr b="0" lang="en-US" sz="1400" spc="-1" strike="noStrike">
                <a:latin typeface="Times New Roman"/>
              </a:rPr>
              <a:t>&lt;date/time&gt;</a:t>
            </a:r>
            <a:endParaRPr b="0" lang="en-US" sz="1400" spc="-1" strike="noStrike">
              <a:latin typeface="Times New Roman"/>
            </a:endParaRPr>
          </a:p>
        </p:txBody>
      </p:sp>
      <p:sp>
        <p:nvSpPr>
          <p:cNvPr id="42" name="PlaceHolder 5"/>
          <p:cNvSpPr>
            <a:spLocks noGrp="1"/>
          </p:cNvSpPr>
          <p:nvPr>
            <p:ph type="ftr" idx="2"/>
          </p:nvPr>
        </p:nvSpPr>
        <p:spPr>
          <a:xfrm>
            <a:off x="0" y="9555480"/>
            <a:ext cx="3372840" cy="502560"/>
          </a:xfrm>
          <a:prstGeom prst="rect">
            <a:avLst/>
          </a:prstGeom>
          <a:noFill/>
          <a:ln w="0">
            <a:noFill/>
          </a:ln>
        </p:spPr>
        <p:txBody>
          <a:bodyPr lIns="0" rIns="0" tIns="0" bIns="0" anchor="b">
            <a:noAutofit/>
          </a:bodyPr>
          <a:lstStyle>
            <a:lvl1pPr>
              <a:defRPr b="0" lang="en-US" sz="1400" spc="-1" strike="noStrike">
                <a:latin typeface="Times New Roman"/>
              </a:defRPr>
            </a:lvl1pPr>
          </a:lstStyle>
          <a:p>
            <a:r>
              <a:rPr b="0" lang="en-US" sz="1400" spc="-1" strike="noStrike">
                <a:latin typeface="Times New Roman"/>
              </a:rPr>
              <a:t>&lt;footer&gt;</a:t>
            </a:r>
            <a:endParaRPr b="0" lang="en-US" sz="1400" spc="-1" strike="noStrike">
              <a:latin typeface="Times New Roman"/>
            </a:endParaRPr>
          </a:p>
        </p:txBody>
      </p:sp>
      <p:sp>
        <p:nvSpPr>
          <p:cNvPr id="43" name="PlaceHolder 6"/>
          <p:cNvSpPr>
            <a:spLocks noGrp="1"/>
          </p:cNvSpPr>
          <p:nvPr>
            <p:ph type="sldNum" idx="3"/>
          </p:nvPr>
        </p:nvSpPr>
        <p:spPr>
          <a:xfrm>
            <a:off x="4399200" y="9555480"/>
            <a:ext cx="3372840" cy="502560"/>
          </a:xfrm>
          <a:prstGeom prst="rect">
            <a:avLst/>
          </a:prstGeom>
          <a:noFill/>
          <a:ln w="0">
            <a:noFill/>
          </a:ln>
        </p:spPr>
        <p:txBody>
          <a:bodyPr lIns="0" rIns="0" tIns="0" bIns="0" anchor="b">
            <a:noAutofit/>
          </a:bodyPr>
          <a:lstStyle>
            <a:lvl1pPr algn="r">
              <a:buNone/>
              <a:defRPr b="0" lang="en-US" sz="1400" spc="-1" strike="noStrike">
                <a:latin typeface="Times New Roman"/>
              </a:defRPr>
            </a:lvl1pPr>
          </a:lstStyle>
          <a:p>
            <a:pPr algn="r">
              <a:buNone/>
            </a:pPr>
            <a:fld id="{5A0655A8-87C6-4B3E-99DE-69262B0C2776}" type="slidenum">
              <a:rPr b="0" lang="en-US" sz="1400" spc="-1" strike="noStrike">
                <a:latin typeface="Times New Roman"/>
              </a:rPr>
              <a:t>&lt;number&gt;</a:t>
            </a:fld>
            <a:endParaRPr b="0" lang="en-US" sz="1400" spc="-1" strike="noStrike">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2" name="PlaceHolder 1"/>
          <p:cNvSpPr>
            <a:spLocks noGrp="1"/>
          </p:cNvSpPr>
          <p:nvPr>
            <p:ph type="sldImg"/>
          </p:nvPr>
        </p:nvSpPr>
        <p:spPr>
          <a:xfrm>
            <a:off x="685800" y="1143000"/>
            <a:ext cx="5486040" cy="3085920"/>
          </a:xfrm>
          <a:prstGeom prst="rect">
            <a:avLst/>
          </a:prstGeom>
          <a:ln w="0">
            <a:noFill/>
          </a:ln>
        </p:spPr>
      </p:sp>
      <p:sp>
        <p:nvSpPr>
          <p:cNvPr id="313" name="PlaceHolder 2"/>
          <p:cNvSpPr>
            <a:spLocks noGrp="1"/>
          </p:cNvSpPr>
          <p:nvPr>
            <p:ph type="body"/>
          </p:nvPr>
        </p:nvSpPr>
        <p:spPr>
          <a:xfrm>
            <a:off x="685800" y="4400640"/>
            <a:ext cx="5486040" cy="3600000"/>
          </a:xfrm>
          <a:prstGeom prst="rect">
            <a:avLst/>
          </a:prstGeom>
          <a:noFill/>
          <a:ln w="0">
            <a:noFill/>
          </a:ln>
        </p:spPr>
        <p:txBody>
          <a:bodyPr anchor="t">
            <a:noAutofit/>
          </a:bodyPr>
          <a:p>
            <a:r>
              <a:rPr b="0" lang="en-US" sz="2000" spc="-1" strike="noStrike">
                <a:latin typeface="Arial"/>
              </a:rPr>
              <a:t>SLIDE 1 · 35 seconds · 0:00–0:35</a:t>
            </a:r>
            <a:endParaRPr b="0" lang="en-US" sz="2000" spc="-1" strike="noStrike">
              <a:latin typeface="Arial"/>
            </a:endParaRPr>
          </a:p>
          <a:p>
            <a:endParaRPr b="0" lang="en-US" sz="2000" spc="-1" strike="noStrike">
              <a:latin typeface="Arial"/>
            </a:endParaRPr>
          </a:p>
          <a:p>
            <a:r>
              <a:rPr b="0" lang="en-US" sz="2000" spc="-1" strike="noStrike">
                <a:latin typeface="Arial"/>
              </a:rPr>
              <a:t>Slide 1 — A valid session is not a human decision</a:t>
            </a:r>
            <a:endParaRPr b="0" lang="en-US" sz="2000" spc="-1" strike="noStrike">
              <a:latin typeface="Arial"/>
            </a:endParaRPr>
          </a:p>
          <a:p>
            <a:endParaRPr b="0" lang="en-US" sz="2000" spc="-1" strike="noStrike">
              <a:latin typeface="Arial"/>
            </a:endParaRPr>
          </a:p>
          <a:p>
            <a:r>
              <a:rPr b="0" lang="en-US" sz="2000" spc="-1" strike="noStrike">
                <a:latin typeface="Arial"/>
              </a:rPr>
              <a:t>On screen:</a:t>
            </a:r>
            <a:endParaRPr b="0" lang="en-US" sz="2000" spc="-1" strike="noStrike">
              <a:latin typeface="Arial"/>
            </a:endParaRPr>
          </a:p>
          <a:p>
            <a:endParaRPr b="0" lang="en-US" sz="2000" spc="-1" strike="noStrike">
              <a:latin typeface="Arial"/>
            </a:endParaRPr>
          </a:p>
          <a:p>
            <a:r>
              <a:rPr b="0" lang="en-US" sz="2000" spc="-1" strike="noStrike">
                <a:latin typeface="Arial"/>
              </a:rPr>
              <a:t>A valid session is not a human decision.</a:t>
            </a:r>
            <a:endParaRPr b="0" lang="en-US" sz="2000" spc="-1" strike="noStrike">
              <a:latin typeface="Arial"/>
            </a:endParaRPr>
          </a:p>
          <a:p>
            <a:endParaRPr b="0" lang="en-US" sz="2000" spc="-1" strike="noStrike">
              <a:latin typeface="Arial"/>
            </a:endParaRPr>
          </a:p>
          <a:p>
            <a:r>
              <a:rPr b="0" lang="en-US" sz="2000" spc="-1" strike="noStrike">
                <a:latin typeface="Arial"/>
              </a:rPr>
              <a:t>Small Countersign wordmark and team names; a simple graphic of learner → AI assistant → Submit inside one logged-in session. Put a question mark at Submit, not a “malicious bot” label.</a:t>
            </a:r>
            <a:endParaRPr b="0" lang="en-US" sz="2000" spc="-1" strike="noStrike">
              <a:latin typeface="Arial"/>
            </a:endParaRPr>
          </a:p>
          <a:p>
            <a:endParaRPr b="0" lang="en-US" sz="2000" spc="-1" strike="noStrike">
              <a:latin typeface="Arial"/>
            </a:endParaRPr>
          </a:p>
          <a:p>
            <a:r>
              <a:rPr b="0" lang="en-US" sz="2000" spc="-1" strike="noStrike">
                <a:latin typeface="Arial"/>
              </a:rPr>
              <a:t>Say:</a:t>
            </a:r>
            <a:endParaRPr b="0" lang="en-US" sz="2000" spc="-1" strike="noStrike">
              <a:latin typeface="Arial"/>
            </a:endParaRPr>
          </a:p>
          <a:p>
            <a:endParaRPr b="0" lang="en-US" sz="2000" spc="-1" strike="noStrike">
              <a:latin typeface="Arial"/>
            </a:endParaRPr>
          </a:p>
          <a:p>
            <a:r>
              <a:rPr b="0" lang="en-US" sz="2000" spc="-1" strike="noStrike">
                <a:latin typeface="Arial"/>
              </a:rPr>
              <a:t>“</a:t>
            </a:r>
            <a:r>
              <a:rPr b="0" lang="en-US" sz="2000" spc="-1" strike="noStrike">
                <a:latin typeface="Arial"/>
              </a:rPr>
              <a:t>We started with the training use case: a Marine working in a distance-learning portal. Their browser assistant can work inside their logged-in session. To the application, the submission still arrives as the learner. But being logged in does not tell us whether the human confirmed this action. We want AI to help—without quietly removing the human from decisions that matter.</a:t>
            </a:r>
            <a:endParaRPr b="0" lang="en-US" sz="2000" spc="-1" strike="noStrike">
              <a:latin typeface="Arial"/>
            </a:endParaRPr>
          </a:p>
          <a:p>
            <a:endParaRPr b="0" lang="en-US" sz="2000" spc="-1" strike="noStrike">
              <a:latin typeface="Arial"/>
            </a:endParaRPr>
          </a:p>
          <a:p>
            <a:r>
              <a:rPr b="0" lang="en-US" sz="2000" spc="-1" strike="noStrike">
                <a:latin typeface="Arial"/>
              </a:rPr>
              <a:t>Traditional application logs may show the account used without establishing whether a human was present.”</a:t>
            </a:r>
            <a:endParaRPr b="0" lang="en-US" sz="2000" spc="-1" strike="noStrike">
              <a:latin typeface="Arial"/>
            </a:endParaRPr>
          </a:p>
          <a:p>
            <a:endParaRPr b="0" lang="en-US" sz="2000" spc="-1" strike="noStrike">
              <a:latin typeface="Arial"/>
            </a:endParaRPr>
          </a:p>
          <a:p>
            <a:r>
              <a:rPr b="0" lang="en-US" sz="2000" spc="-1" strike="noStrike">
                <a:latin typeface="Arial"/>
              </a:rPr>
              <a:t>Transition: “So we put the checkpoint in the application.”</a:t>
            </a:r>
            <a:endParaRPr b="0" lang="en-US" sz="2000" spc="-1" strike="noStrike">
              <a:latin typeface="Arial"/>
            </a:endParaRPr>
          </a:p>
          <a:p>
            <a:endParaRPr b="0" lang="en-US" sz="2000" spc="-1" strike="noStrike">
              <a:latin typeface="Arial"/>
            </a:endParaRPr>
          </a:p>
          <a:p>
            <a:endParaRPr b="0" lang="en-US" sz="2000" spc="-1" strike="noStrike">
              <a:latin typeface="Arial"/>
            </a:endParaRPr>
          </a:p>
          <a:p>
            <a:r>
              <a:rPr b="0" lang="en-US" sz="2000" spc="-1" strike="noStrike">
                <a:latin typeface="Arial"/>
              </a:rPr>
              <a:t>PRODUCTION / EVIDENCE NOTES</a:t>
            </a:r>
            <a:endParaRPr b="0" lang="en-US" sz="2000" spc="-1" strike="noStrike">
              <a:latin typeface="Arial"/>
            </a:endParaRPr>
          </a:p>
          <a:p>
            <a:pPr marL="216000" indent="-216000">
              <a:lnSpc>
                <a:spcPct val="100000"/>
              </a:lnSpc>
              <a:buNone/>
            </a:pPr>
            <a:r>
              <a:rPr b="0" lang="en-US" sz="2000" spc="-1" strike="noStrike">
                <a:latin typeface="Arial"/>
              </a:rPr>
              <a:t>Lead with the training use case. The question is fresh confirmation, not identifying a malicious bot. Optional: add presenter names to the small brand area after assigning roles.</a:t>
            </a:r>
            <a:endParaRPr b="0" lang="en-US" sz="2000" spc="-1" strike="noStrike">
              <a:latin typeface="Arial"/>
            </a:endParaRPr>
          </a:p>
        </p:txBody>
      </p:sp>
      <p:sp>
        <p:nvSpPr>
          <p:cNvPr id="314" name="PlaceHolder 3"/>
          <p:cNvSpPr>
            <a:spLocks noGrp="1"/>
          </p:cNvSpPr>
          <p:nvPr>
            <p:ph type="sldNum" idx="4"/>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AD5D3145-1CC9-4625-BA62-855CCB419287}"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5" name="PlaceHolder 1"/>
          <p:cNvSpPr>
            <a:spLocks noGrp="1"/>
          </p:cNvSpPr>
          <p:nvPr>
            <p:ph type="sldImg"/>
          </p:nvPr>
        </p:nvSpPr>
        <p:spPr>
          <a:xfrm>
            <a:off x="685800" y="1143000"/>
            <a:ext cx="5486040" cy="3085920"/>
          </a:xfrm>
          <a:prstGeom prst="rect">
            <a:avLst/>
          </a:prstGeom>
          <a:ln w="0">
            <a:noFill/>
          </a:ln>
        </p:spPr>
      </p:sp>
      <p:sp>
        <p:nvSpPr>
          <p:cNvPr id="316" name="PlaceHolder 2"/>
          <p:cNvSpPr>
            <a:spLocks noGrp="1"/>
          </p:cNvSpPr>
          <p:nvPr>
            <p:ph type="body"/>
          </p:nvPr>
        </p:nvSpPr>
        <p:spPr>
          <a:xfrm>
            <a:off x="685800" y="4400640"/>
            <a:ext cx="5486040" cy="3600000"/>
          </a:xfrm>
          <a:prstGeom prst="rect">
            <a:avLst/>
          </a:prstGeom>
          <a:noFill/>
          <a:ln w="0">
            <a:noFill/>
          </a:ln>
        </p:spPr>
        <p:txBody>
          <a:bodyPr anchor="t">
            <a:noAutofit/>
          </a:bodyPr>
          <a:p>
            <a:r>
              <a:rPr b="0" lang="en-US" sz="2000" spc="-1" strike="noStrike">
                <a:latin typeface="Arial"/>
              </a:rPr>
              <a:t>SLIDE 2 · 35 seconds · 0:35–1:10</a:t>
            </a:r>
            <a:endParaRPr b="0" lang="en-US" sz="2000" spc="-1" strike="noStrike">
              <a:latin typeface="Arial"/>
            </a:endParaRPr>
          </a:p>
          <a:p>
            <a:endParaRPr b="0" lang="en-US" sz="2000" spc="-1" strike="noStrike">
              <a:latin typeface="Arial"/>
            </a:endParaRPr>
          </a:p>
          <a:p>
            <a:r>
              <a:rPr b="0" lang="en-US" sz="2000" spc="-1" strike="noStrike">
                <a:latin typeface="Arial"/>
              </a:rPr>
              <a:t>Slide 2 — Countersign</a:t>
            </a:r>
            <a:endParaRPr b="0" lang="en-US" sz="2000" spc="-1" strike="noStrike">
              <a:latin typeface="Arial"/>
            </a:endParaRPr>
          </a:p>
          <a:p>
            <a:endParaRPr b="0" lang="en-US" sz="2000" spc="-1" strike="noStrike">
              <a:latin typeface="Arial"/>
            </a:endParaRPr>
          </a:p>
          <a:p>
            <a:r>
              <a:rPr b="0" lang="en-US" sz="2000" spc="-1" strike="noStrike">
                <a:latin typeface="Arial"/>
              </a:rPr>
              <a:t>On screen:</a:t>
            </a:r>
            <a:endParaRPr b="0" lang="en-US" sz="2000" spc="-1" strike="noStrike">
              <a:latin typeface="Arial"/>
            </a:endParaRPr>
          </a:p>
          <a:p>
            <a:endParaRPr b="0" lang="en-US" sz="2000" spc="-1" strike="noStrike">
              <a:latin typeface="Arial"/>
            </a:endParaRPr>
          </a:p>
          <a:p>
            <a:r>
              <a:rPr b="0" lang="en-US" sz="2000" spc="-1" strike="noStrike">
                <a:latin typeface="Arial"/>
              </a:rPr>
              <a:t>Countersign</a:t>
            </a:r>
            <a:endParaRPr b="0" lang="en-US" sz="2000" spc="-1" strike="noStrike">
              <a:latin typeface="Arial"/>
            </a:endParaRPr>
          </a:p>
          <a:p>
            <a:endParaRPr b="0" lang="en-US" sz="2000" spc="-1" strike="noStrike">
              <a:latin typeface="Arial"/>
            </a:endParaRPr>
          </a:p>
          <a:p>
            <a:r>
              <a:rPr b="0" lang="en-US" sz="2000" spc="-1" strike="noStrike">
                <a:latin typeface="Arial"/>
              </a:rPr>
              <a:t>AI where it helps. Humans where it matters.</a:t>
            </a:r>
            <a:endParaRPr b="0" lang="en-US" sz="2000" spc="-1" strike="noStrike">
              <a:latin typeface="Arial"/>
            </a:endParaRPr>
          </a:p>
          <a:p>
            <a:endParaRPr b="0" lang="en-US" sz="2000" spc="-1" strike="noStrike">
              <a:latin typeface="Arial"/>
            </a:endParaRPr>
          </a:p>
          <a:p>
            <a:r>
              <a:rPr b="0" lang="en-US" sz="2000" spc="-1" strike="noStrike">
                <a:latin typeface="Arial"/>
              </a:rPr>
              <a:t>A clean checkpoint graphic: Action → Human confirmation → Decision record. Highlight the human, not an AI-detection score.</a:t>
            </a:r>
            <a:endParaRPr b="0" lang="en-US" sz="2000" spc="-1" strike="noStrike">
              <a:latin typeface="Arial"/>
            </a:endParaRPr>
          </a:p>
          <a:p>
            <a:endParaRPr b="0" lang="en-US" sz="2000" spc="-1" strike="noStrike">
              <a:latin typeface="Arial"/>
            </a:endParaRPr>
          </a:p>
          <a:p>
            <a:r>
              <a:rPr b="0" lang="en-US" sz="2000" spc="-1" strike="noStrike">
                <a:latin typeface="Arial"/>
              </a:rPr>
              <a:t>Say:</a:t>
            </a:r>
            <a:endParaRPr b="0" lang="en-US" sz="2000" spc="-1" strike="noStrike">
              <a:latin typeface="Arial"/>
            </a:endParaRPr>
          </a:p>
          <a:p>
            <a:endParaRPr b="0" lang="en-US" sz="2000" spc="-1" strike="noStrike">
              <a:latin typeface="Arial"/>
            </a:endParaRPr>
          </a:p>
          <a:p>
            <a:r>
              <a:rPr b="0" lang="en-US" sz="2000" spc="-1" strike="noStrike">
                <a:latin typeface="Arial"/>
              </a:rPr>
              <a:t>“</a:t>
            </a:r>
            <a:r>
              <a:rPr b="0" lang="en-US" sz="2000" spc="-1" strike="noStrike">
                <a:latin typeface="Arial"/>
              </a:rPr>
              <a:t>A sentry's challenge needs a countersign before someone passes. Our version is a biometric confirmation at a governed action. The web app's policy decides where to require it; the server checks the proof before allowing the action and records the decision.”</a:t>
            </a:r>
            <a:endParaRPr b="0" lang="en-US" sz="2000" spc="-1" strike="noStrike">
              <a:latin typeface="Arial"/>
            </a:endParaRPr>
          </a:p>
          <a:p>
            <a:endParaRPr b="0" lang="en-US" sz="2000" spc="-1" strike="noStrike">
              <a:latin typeface="Arial"/>
            </a:endParaRPr>
          </a:p>
          <a:p>
            <a:endParaRPr b="0" lang="en-US" sz="2000" spc="-1" strike="noStrike">
              <a:latin typeface="Arial"/>
            </a:endParaRPr>
          </a:p>
          <a:p>
            <a:r>
              <a:rPr b="0" lang="en-US" sz="2000" spc="-1" strike="noStrike">
                <a:latin typeface="Arial"/>
              </a:rPr>
              <a:t>PRODUCTION / EVIDENCE NOTES</a:t>
            </a:r>
            <a:endParaRPr b="0" lang="en-US" sz="2000" spc="-1" strike="noStrike">
              <a:latin typeface="Arial"/>
            </a:endParaRPr>
          </a:p>
          <a:p>
            <a:pPr marL="216000" indent="-216000">
              <a:lnSpc>
                <a:spcPct val="100000"/>
              </a:lnSpc>
              <a:buNone/>
            </a:pPr>
            <a:r>
              <a:rPr b="0" lang="en-US" sz="2000" spc="-1" strike="noStrike">
                <a:latin typeface="Arial"/>
              </a:rPr>
              <a:t>Explain the military countersign meaning once. The human/passkey graphic is conceptual, not a native authenticator dialog.</a:t>
            </a:r>
            <a:endParaRPr b="0" lang="en-US" sz="2000" spc="-1" strike="noStrike">
              <a:latin typeface="Arial"/>
            </a:endParaRPr>
          </a:p>
        </p:txBody>
      </p:sp>
      <p:sp>
        <p:nvSpPr>
          <p:cNvPr id="317" name="PlaceHolder 3"/>
          <p:cNvSpPr>
            <a:spLocks noGrp="1"/>
          </p:cNvSpPr>
          <p:nvPr>
            <p:ph type="sldNum" idx="5"/>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86F1EC77-B207-4EA6-9A02-C48546AB2F64}"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8" name="PlaceHolder 1"/>
          <p:cNvSpPr>
            <a:spLocks noGrp="1"/>
          </p:cNvSpPr>
          <p:nvPr>
            <p:ph type="sldImg"/>
          </p:nvPr>
        </p:nvSpPr>
        <p:spPr>
          <a:xfrm>
            <a:off x="685800" y="1143000"/>
            <a:ext cx="5486040" cy="3085920"/>
          </a:xfrm>
          <a:prstGeom prst="rect">
            <a:avLst/>
          </a:prstGeom>
          <a:ln w="0">
            <a:noFill/>
          </a:ln>
        </p:spPr>
      </p:sp>
      <p:sp>
        <p:nvSpPr>
          <p:cNvPr id="319" name="PlaceHolder 2"/>
          <p:cNvSpPr>
            <a:spLocks noGrp="1"/>
          </p:cNvSpPr>
          <p:nvPr>
            <p:ph type="body"/>
          </p:nvPr>
        </p:nvSpPr>
        <p:spPr>
          <a:xfrm>
            <a:off x="685800" y="4400640"/>
            <a:ext cx="5486040" cy="3600000"/>
          </a:xfrm>
          <a:prstGeom prst="rect">
            <a:avLst/>
          </a:prstGeom>
          <a:noFill/>
          <a:ln w="0">
            <a:noFill/>
          </a:ln>
        </p:spPr>
        <p:txBody>
          <a:bodyPr anchor="t">
            <a:noAutofit/>
          </a:bodyPr>
          <a:p>
            <a:r>
              <a:rPr b="0" lang="en-US" sz="2000" spc="-1" strike="noStrike">
                <a:latin typeface="Arial"/>
              </a:rPr>
              <a:t>SLIDE 3 · 105 seconds · 1:10–2:55</a:t>
            </a:r>
            <a:endParaRPr b="0" lang="en-US" sz="2000" spc="-1" strike="noStrike">
              <a:latin typeface="Arial"/>
            </a:endParaRPr>
          </a:p>
          <a:p>
            <a:endParaRPr b="0" lang="en-US" sz="2000" spc="-1" strike="noStrike">
              <a:latin typeface="Arial"/>
            </a:endParaRPr>
          </a:p>
          <a:p>
            <a:r>
              <a:rPr b="0" lang="en-US" sz="2000" spc="-1" strike="noStrike">
                <a:latin typeface="Arial"/>
              </a:rPr>
              <a:t>Slide 3 — Same task. Different boundary.</a:t>
            </a:r>
            <a:endParaRPr b="0" lang="en-US" sz="2000" spc="-1" strike="noStrike">
              <a:latin typeface="Arial"/>
            </a:endParaRPr>
          </a:p>
          <a:p>
            <a:endParaRPr b="0" lang="en-US" sz="2000" spc="-1" strike="noStrike">
              <a:latin typeface="Arial"/>
            </a:endParaRPr>
          </a:p>
          <a:p>
            <a:r>
              <a:rPr b="0" lang="en-US" sz="2000" spc="-1" strike="noStrike">
                <a:latin typeface="Arial"/>
              </a:rPr>
              <a:t>On screen: a large video/demo region, with labels Governance off and Governance on. End on an enlarged crop of the actual accepted-proof event, not the whole log.</a:t>
            </a:r>
            <a:endParaRPr b="0" lang="en-US" sz="2000" spc="-1" strike="noStrike">
              <a:latin typeface="Arial"/>
            </a:endParaRPr>
          </a:p>
          <a:p>
            <a:endParaRPr b="0" lang="en-US" sz="2000" spc="-1" strike="noStrike">
              <a:latin typeface="Arial"/>
            </a:endParaRPr>
          </a:p>
          <a:p>
            <a:r>
              <a:rPr b="0" lang="en-US" sz="2000" spc="-1" strike="noStrike">
                <a:latin typeface="Arial"/>
              </a:rPr>
              <a:t>This is the main event. Use the same ChatGPT extension, Chrome profile, demo user, and rehearsed quiz request in both instances. Keep the mode indicator visible. The full sequence is in §5.</a:t>
            </a:r>
            <a:endParaRPr b="0" lang="en-US" sz="2000" spc="-1" strike="noStrike">
              <a:latin typeface="Arial"/>
            </a:endParaRPr>
          </a:p>
          <a:p>
            <a:endParaRPr b="0" lang="en-US" sz="2000" spc="-1" strike="noStrike">
              <a:latin typeface="Arial"/>
            </a:endParaRPr>
          </a:p>
          <a:p>
            <a:r>
              <a:rPr b="0" lang="en-US" sz="2000" spc="-1" strike="noStrike">
                <a:latin typeface="Arial"/>
              </a:rPr>
              <a:t>Narrate four beats:</a:t>
            </a:r>
            <a:endParaRPr b="0" lang="en-US" sz="2000" spc="-1" strike="noStrike">
              <a:latin typeface="Arial"/>
            </a:endParaRPr>
          </a:p>
          <a:p>
            <a:endParaRPr b="0" lang="en-US" sz="2000" spc="-1" strike="noStrike">
              <a:latin typeface="Arial"/>
            </a:endParaRPr>
          </a:p>
          <a:p>
            <a:r>
              <a:rPr b="0" lang="en-US" sz="2000" spc="-1" strike="noStrike">
                <a:latin typeface="Arial"/>
              </a:rPr>
              <a:t>1. “Without governance, the assistant completes the quiz submission in the learner's session.” Show the real result; do not claim all assistants or all prompts behave this way.</a:t>
            </a:r>
            <a:endParaRPr b="0" lang="en-US" sz="2000" spc="-1" strike="noStrike">
              <a:latin typeface="Arial"/>
            </a:endParaRPr>
          </a:p>
          <a:p>
            <a:r>
              <a:rPr b="0" lang="en-US" sz="2000" spc="-1" strike="noStrike">
                <a:latin typeface="Arial"/>
              </a:rPr>
              <a:t>2. “Now the app requires a human. The assistant can prepare the answers, but submission waits for confirmation.” Let the real prompt/status remain visible briefly.</a:t>
            </a:r>
            <a:endParaRPr b="0" lang="en-US" sz="2000" spc="-1" strike="noStrike">
              <a:latin typeface="Arial"/>
            </a:endParaRPr>
          </a:p>
          <a:p>
            <a:r>
              <a:rPr b="0" lang="en-US" sz="2000" spc="-1" strike="noStrike">
                <a:latin typeface="Arial"/>
              </a:rPr>
              <a:t>3. “I confirm. The server verifies a fresh proof bound to this submission, and the action proceeds.”</a:t>
            </a:r>
            <a:endParaRPr b="0" lang="en-US" sz="2000" spc="-1" strike="noStrike">
              <a:latin typeface="Arial"/>
            </a:endParaRPr>
          </a:p>
          <a:p>
            <a:r>
              <a:rPr b="0" lang="en-US" sz="2000" spc="-1" strike="noStrike">
                <a:latin typeface="Arial"/>
              </a:rPr>
              <a:t>4. “The record shows the rule, the action, and the verified assertion—not just that someone had a session.” Highlight `human-verified`, the actual assertion ID, and UP/UV evidence if legible.</a:t>
            </a:r>
            <a:endParaRPr b="0" lang="en-US" sz="2000" spc="-1" strike="noStrike">
              <a:latin typeface="Arial"/>
            </a:endParaRPr>
          </a:p>
          <a:p>
            <a:endParaRPr b="0" lang="en-US" sz="2000" spc="-1" strike="noStrike">
              <a:latin typeface="Arial"/>
            </a:endParaRPr>
          </a:p>
          <a:p>
            <a:r>
              <a:rPr b="0" lang="en-US" sz="2000" spc="-1" strike="noStrike">
                <a:latin typeface="Arial"/>
              </a:rPr>
              <a:t>Landing line: “The important part isn't whether the assistant looks human. It's that the application requires human confirmation.”</a:t>
            </a:r>
            <a:endParaRPr b="0" lang="en-US" sz="2000" spc="-1" strike="noStrike">
              <a:latin typeface="Arial"/>
            </a:endParaRPr>
          </a:p>
          <a:p>
            <a:endParaRPr b="0" lang="en-US" sz="2000" spc="-1" strike="noStrike">
              <a:latin typeface="Arial"/>
            </a:endParaRPr>
          </a:p>
          <a:p>
            <a:r>
              <a:rPr b="0" lang="en-US" sz="2000" spc="-1" strike="noStrike">
                <a:latin typeface="Arial"/>
              </a:rPr>
              <a:t>Do not suggest the quiz is graded, that presence proves the answers are the learner's work, or that a waiting browser prompt is itself a logged `blocked` HTTP request.</a:t>
            </a:r>
            <a:endParaRPr b="0" lang="en-US" sz="2000" spc="-1" strike="noStrike">
              <a:latin typeface="Arial"/>
            </a:endParaRPr>
          </a:p>
          <a:p>
            <a:endParaRPr b="0" lang="en-US" sz="2000" spc="-1" strike="noStrike">
              <a:latin typeface="Arial"/>
            </a:endParaRPr>
          </a:p>
          <a:p>
            <a:endParaRPr b="0" lang="en-US" sz="2000" spc="-1" strike="noStrike">
              <a:latin typeface="Arial"/>
            </a:endParaRPr>
          </a:p>
          <a:p>
            <a:r>
              <a:rPr b="0" lang="en-US" sz="2000" spc="-1" strike="noStrike">
                <a:latin typeface="Arial"/>
              </a:rPr>
              <a:t>PRODUCTION / EVIDENCE NOTES</a:t>
            </a:r>
            <a:endParaRPr b="0" lang="en-US" sz="2000" spc="-1" strike="noStrike">
              <a:latin typeface="Arial"/>
            </a:endParaRPr>
          </a:p>
          <a:p>
            <a:r>
              <a:rPr b="0" lang="en-US" sz="2000" spc="-1" strike="noStrike">
                <a:latin typeface="Arial"/>
              </a:rPr>
              <a:t>DEMO SLOT — no video is embedded. The picture is a static governed-quiz UI reference. Switch to your prepared Chrome tabs, or replace the dark panel with your real recording. The OFF/ON pills contain localhost hyperlinks; pre-open Chrome because hyperlinks use the OS default browser. Never describe this still as the selected extension submitting or a human touching a sensor.</a:t>
            </a:r>
            <a:endParaRPr b="0" lang="en-US" sz="2000" spc="-1" strike="noStrike">
              <a:latin typeface="Arial"/>
            </a:endParaRPr>
          </a:p>
          <a:p>
            <a:endParaRPr b="0" lang="en-US" sz="2000" spc="-1" strike="noStrike">
              <a:latin typeface="Arial"/>
            </a:endParaRPr>
          </a:p>
          <a:p>
            <a:r>
              <a:rPr b="0" lang="en-US" sz="2000" spc="-1" strike="noStrike">
                <a:latin typeface="Arial"/>
              </a:rPr>
              <a:t>Demo schedule: 20s ungoverned result; 30s governed preparation; 25s fresh prompt/confirmation/result; 20s matching audit; 10s landing line. In a hybrid handoff, explain where the recording ends and live confirmation starts. Do not pre-issue a challenge.</a:t>
            </a:r>
            <a:endParaRPr b="0" lang="en-US" sz="2000" spc="-1" strike="noStrike">
              <a:latin typeface="Arial"/>
            </a:endParaRPr>
          </a:p>
          <a:p>
            <a:endParaRPr b="0" lang="en-US" sz="2000" spc="-1" strike="noStrike">
              <a:latin typeface="Arial"/>
            </a:endParaRPr>
          </a:p>
          <a:p>
            <a:pPr marL="216000" indent="-216000">
              <a:lnSpc>
                <a:spcPct val="100000"/>
              </a:lnSpc>
              <a:buNone/>
            </a:pPr>
            <a:r>
              <a:rPr b="0" lang="en-US" sz="2000" spc="-1" strike="noStrike">
                <a:latin typeface="Arial"/>
              </a:rPr>
              <a:t>If live progress stalls for ~10 seconds, use the backup. Show the actual human-verified event and assertion ID from THAT run. Do not substitute UI/test evidence.</a:t>
            </a:r>
            <a:endParaRPr b="0" lang="en-US" sz="2000" spc="-1" strike="noStrike">
              <a:latin typeface="Arial"/>
            </a:endParaRPr>
          </a:p>
        </p:txBody>
      </p:sp>
      <p:sp>
        <p:nvSpPr>
          <p:cNvPr id="320" name="PlaceHolder 3"/>
          <p:cNvSpPr>
            <a:spLocks noGrp="1"/>
          </p:cNvSpPr>
          <p:nvPr>
            <p:ph type="sldNum" idx="6"/>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A6C48984-28C2-4A79-A156-8CEC9B93F3A7}"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1" name="PlaceHolder 1"/>
          <p:cNvSpPr>
            <a:spLocks noGrp="1"/>
          </p:cNvSpPr>
          <p:nvPr>
            <p:ph type="sldImg"/>
          </p:nvPr>
        </p:nvSpPr>
        <p:spPr>
          <a:xfrm>
            <a:off x="685800" y="1143000"/>
            <a:ext cx="5486040" cy="3085920"/>
          </a:xfrm>
          <a:prstGeom prst="rect">
            <a:avLst/>
          </a:prstGeom>
          <a:ln w="0">
            <a:noFill/>
          </a:ln>
        </p:spPr>
      </p:sp>
      <p:sp>
        <p:nvSpPr>
          <p:cNvPr id="322" name="PlaceHolder 2"/>
          <p:cNvSpPr>
            <a:spLocks noGrp="1"/>
          </p:cNvSpPr>
          <p:nvPr>
            <p:ph type="body"/>
          </p:nvPr>
        </p:nvSpPr>
        <p:spPr>
          <a:xfrm>
            <a:off x="685800" y="4400640"/>
            <a:ext cx="5486040" cy="3600000"/>
          </a:xfrm>
          <a:prstGeom prst="rect">
            <a:avLst/>
          </a:prstGeom>
          <a:noFill/>
          <a:ln w="0">
            <a:noFill/>
          </a:ln>
        </p:spPr>
        <p:txBody>
          <a:bodyPr anchor="t">
            <a:noAutofit/>
          </a:bodyPr>
          <a:p>
            <a:r>
              <a:rPr b="0" lang="en-US" sz="2000" spc="-1" strike="noStrike">
                <a:latin typeface="Arial"/>
              </a:rPr>
              <a:t>SLIDE 4 · 45 seconds · 2:55–3:40</a:t>
            </a:r>
            <a:endParaRPr b="0" lang="en-US" sz="2000" spc="-1" strike="noStrike">
              <a:latin typeface="Arial"/>
            </a:endParaRPr>
          </a:p>
          <a:p>
            <a:endParaRPr b="0" lang="en-US" sz="2000" spc="-1" strike="noStrike">
              <a:latin typeface="Arial"/>
            </a:endParaRPr>
          </a:p>
          <a:p>
            <a:r>
              <a:rPr b="0" lang="en-US" sz="2000" spc="-1" strike="noStrike">
                <a:latin typeface="Arial"/>
              </a:rPr>
              <a:t>Slide 4 — Participation ≠ authorship</a:t>
            </a:r>
            <a:endParaRPr b="0" lang="en-US" sz="2000" spc="-1" strike="noStrike">
              <a:latin typeface="Arial"/>
            </a:endParaRPr>
          </a:p>
          <a:p>
            <a:endParaRPr b="0" lang="en-US" sz="2000" spc="-1" strike="noStrike">
              <a:latin typeface="Arial"/>
            </a:endParaRPr>
          </a:p>
          <a:p>
            <a:r>
              <a:rPr b="0" lang="en-US" sz="2000" spc="-1" strike="noStrike">
                <a:latin typeface="Arial"/>
              </a:rPr>
              <a:t>On screen: the headline above a large discussion crop: Own work / AI-assisted → Confirm → Published disclosure. A smaller record inset: Masked → Confirm → Revealed.</a:t>
            </a:r>
            <a:endParaRPr b="0" lang="en-US" sz="2000" spc="-1" strike="noStrike">
              <a:latin typeface="Arial"/>
            </a:endParaRPr>
          </a:p>
          <a:p>
            <a:endParaRPr b="0" lang="en-US" sz="2000" spc="-1" strike="noStrike">
              <a:latin typeface="Arial"/>
            </a:endParaRPr>
          </a:p>
          <a:p>
            <a:r>
              <a:rPr b="0" lang="en-US" sz="2000" spc="-1" strike="noStrike">
                <a:latin typeface="Arial"/>
              </a:rPr>
              <a:t>Say, about 35 seconds on discussion:</a:t>
            </a:r>
            <a:endParaRPr b="0" lang="en-US" sz="2000" spc="-1" strike="noStrike">
              <a:latin typeface="Arial"/>
            </a:endParaRPr>
          </a:p>
          <a:p>
            <a:endParaRPr b="0" lang="en-US" sz="2000" spc="-1" strike="noStrike">
              <a:latin typeface="Arial"/>
            </a:endParaRPr>
          </a:p>
          <a:p>
            <a:r>
              <a:rPr b="0" lang="en-US" sz="2000" spc="-1" strike="noStrike">
                <a:latin typeface="Arial"/>
              </a:rPr>
              <a:t>“</a:t>
            </a:r>
            <a:r>
              <a:rPr b="0" lang="en-US" sz="2000" spc="-1" strike="noStrike">
                <a:latin typeface="Arial"/>
              </a:rPr>
              <a:t>Our discussion page makes the distinction between handwritten and AI assisted clear. The post carries the disclosure and verified presence. Composition signals can raise a review flag; they are not an AI-writing verdict. The training content uses a ‘post before you read’ discussion model, so this is a concrete place to make participation more accountable.”</a:t>
            </a:r>
            <a:endParaRPr b="0" lang="en-US" sz="2000" spc="-1" strike="noStrike">
              <a:latin typeface="Arial"/>
            </a:endParaRPr>
          </a:p>
          <a:p>
            <a:endParaRPr b="0" lang="en-US" sz="2000" spc="-1" strike="noStrike">
              <a:latin typeface="Arial"/>
            </a:endParaRPr>
          </a:p>
          <a:p>
            <a:r>
              <a:rPr b="0" lang="en-US" sz="2000" spc="-1" strike="noStrike">
                <a:latin typeface="Arial"/>
              </a:rPr>
              <a:t>Then, about ten seconds on data:</a:t>
            </a:r>
            <a:endParaRPr b="0" lang="en-US" sz="2000" spc="-1" strike="noStrike">
              <a:latin typeface="Arial"/>
            </a:endParaRPr>
          </a:p>
          <a:p>
            <a:endParaRPr b="0" lang="en-US" sz="2000" spc="-1" strike="noStrike">
              <a:latin typeface="Arial"/>
            </a:endParaRPr>
          </a:p>
          <a:p>
            <a:r>
              <a:rPr b="0" lang="en-US" sz="2000" spc="-1" strike="noStrike">
                <a:latin typeface="Arial"/>
              </a:rPr>
              <a:t>“</a:t>
            </a:r>
            <a:r>
              <a:rPr b="0" lang="en-US" sz="2000" spc="-1" strike="noStrike">
                <a:latin typeface="Arial"/>
              </a:rPr>
              <a:t>Protected records are masked until fresh confirmation, with machine-readable markings. Once revealed, an extension can read them—we don't claim otherwise.”</a:t>
            </a:r>
            <a:endParaRPr b="0" lang="en-US" sz="2000" spc="-1" strike="noStrike">
              <a:latin typeface="Arial"/>
            </a:endParaRPr>
          </a:p>
          <a:p>
            <a:endParaRPr b="0" lang="en-US" sz="2000" spc="-1" strike="noStrike">
              <a:latin typeface="Arial"/>
            </a:endParaRPr>
          </a:p>
          <a:p>
            <a:r>
              <a:rPr b="0" lang="en-US" sz="2000" spc="-1" strike="noStrike">
                <a:latin typeface="Arial"/>
              </a:rPr>
              <a:t>Use prepared screenshots or a very short clip; do not run two more full live workflows. If showing an AI-written discussion, select AI-assisted. Save contradiction/flag demonstrations for Q&amp;A. Do not portray client telemetry as proof of cheating.</a:t>
            </a:r>
            <a:endParaRPr b="0" lang="en-US" sz="2000" spc="-1" strike="noStrike">
              <a:latin typeface="Arial"/>
            </a:endParaRPr>
          </a:p>
          <a:p>
            <a:endParaRPr b="0" lang="en-US" sz="2000" spc="-1" strike="noStrike">
              <a:latin typeface="Arial"/>
            </a:endParaRPr>
          </a:p>
          <a:p>
            <a:endParaRPr b="0" lang="en-US" sz="2000" spc="-1" strike="noStrike">
              <a:latin typeface="Arial"/>
            </a:endParaRPr>
          </a:p>
          <a:p>
            <a:r>
              <a:rPr b="0" lang="en-US" sz="2000" spc="-1" strike="noStrike">
                <a:latin typeface="Arial"/>
              </a:rPr>
              <a:t>PRODUCTION / EVIDENCE NOTES</a:t>
            </a:r>
            <a:endParaRPr b="0" lang="en-US" sz="2000" spc="-1" strike="noStrike">
              <a:latin typeface="Arial"/>
            </a:endParaRPr>
          </a:p>
          <a:p>
            <a:pPr marL="216000" indent="-216000">
              <a:lnSpc>
                <a:spcPct val="100000"/>
              </a:lnSpc>
              <a:buNone/>
            </a:pPr>
            <a:r>
              <a:rPr b="0" lang="en-US" sz="2000" spc="-1" strike="noStrike">
                <a:latin typeface="Arial"/>
              </a:rPr>
              <a:t>The published badges are a real app screenshot from an isolated Chrome virtual-authenticator test. The footer says so. They demonstrate UI and disclosure semantics, NOT a physical Touch ID interaction or a ChatGPT-extension run. The record crop shows synthetic fields withheld by default. Discuss disclosure for ~35s and protected records for ~10s. After reveal, an extension can read the data.</a:t>
            </a:r>
            <a:endParaRPr b="0" lang="en-US" sz="2000" spc="-1" strike="noStrike">
              <a:latin typeface="Arial"/>
            </a:endParaRPr>
          </a:p>
        </p:txBody>
      </p:sp>
      <p:sp>
        <p:nvSpPr>
          <p:cNvPr id="323" name="PlaceHolder 3"/>
          <p:cNvSpPr>
            <a:spLocks noGrp="1"/>
          </p:cNvSpPr>
          <p:nvPr>
            <p:ph type="sldNum" idx="7"/>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126CF211-2EE4-4D5D-B965-88FC251DB2CC}"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4" name="PlaceHolder 1"/>
          <p:cNvSpPr>
            <a:spLocks noGrp="1"/>
          </p:cNvSpPr>
          <p:nvPr>
            <p:ph type="sldImg"/>
          </p:nvPr>
        </p:nvSpPr>
        <p:spPr>
          <a:xfrm>
            <a:off x="685800" y="1143000"/>
            <a:ext cx="5486040" cy="3085920"/>
          </a:xfrm>
          <a:prstGeom prst="rect">
            <a:avLst/>
          </a:prstGeom>
          <a:ln w="0">
            <a:noFill/>
          </a:ln>
        </p:spPr>
      </p:sp>
      <p:sp>
        <p:nvSpPr>
          <p:cNvPr id="325" name="PlaceHolder 2"/>
          <p:cNvSpPr>
            <a:spLocks noGrp="1"/>
          </p:cNvSpPr>
          <p:nvPr>
            <p:ph type="body"/>
          </p:nvPr>
        </p:nvSpPr>
        <p:spPr>
          <a:xfrm>
            <a:off x="685800" y="4400640"/>
            <a:ext cx="5486040" cy="3600000"/>
          </a:xfrm>
          <a:prstGeom prst="rect">
            <a:avLst/>
          </a:prstGeom>
          <a:noFill/>
          <a:ln w="0">
            <a:noFill/>
          </a:ln>
        </p:spPr>
        <p:txBody>
          <a:bodyPr anchor="t">
            <a:noAutofit/>
          </a:bodyPr>
          <a:p>
            <a:r>
              <a:rPr b="0" lang="en-US" sz="2000" spc="-1" strike="noStrike">
                <a:latin typeface="Arial"/>
              </a:rPr>
              <a:t>SLIDE 5 · 50 seconds · 3:40–4:30</a:t>
            </a:r>
            <a:endParaRPr b="0" lang="en-US" sz="2000" spc="-1" strike="noStrike">
              <a:latin typeface="Arial"/>
            </a:endParaRPr>
          </a:p>
          <a:p>
            <a:endParaRPr b="0" lang="en-US" sz="2000" spc="-1" strike="noStrike">
              <a:latin typeface="Arial"/>
            </a:endParaRPr>
          </a:p>
          <a:p>
            <a:r>
              <a:rPr b="0" lang="en-US" sz="2000" spc="-1" strike="noStrike">
                <a:latin typeface="Arial"/>
              </a:rPr>
              <a:t>Slide 5 — Add a checkpoint, not a new app</a:t>
            </a:r>
            <a:endParaRPr b="0" lang="en-US" sz="2000" spc="-1" strike="noStrike">
              <a:latin typeface="Arial"/>
            </a:endParaRPr>
          </a:p>
          <a:p>
            <a:endParaRPr b="0" lang="en-US" sz="2000" spc="-1" strike="noStrike">
              <a:latin typeface="Arial"/>
            </a:endParaRPr>
          </a:p>
          <a:p>
            <a:r>
              <a:rPr b="0" lang="en-US" sz="2000" spc="-1" strike="noStrike">
                <a:latin typeface="Arial"/>
              </a:rPr>
              <a:t>On screen: the diagram in §4, rebuilt as simple editable boxes. Gray is the app you already have; teal/mint is Countersign. Caption: New app or existing app. Client + server integration.</a:t>
            </a:r>
            <a:endParaRPr b="0" lang="en-US" sz="2000" spc="-1" strike="noStrike">
              <a:latin typeface="Arial"/>
            </a:endParaRPr>
          </a:p>
          <a:p>
            <a:endParaRPr b="0" lang="en-US" sz="2000" spc="-1" strike="noStrike">
              <a:latin typeface="Arial"/>
            </a:endParaRPr>
          </a:p>
          <a:p>
            <a:r>
              <a:rPr b="0" lang="en-US" sz="2000" spc="-1" strike="noStrike">
                <a:latin typeface="Arial"/>
              </a:rPr>
              <a:t>Say:</a:t>
            </a:r>
            <a:endParaRPr b="0" lang="en-US" sz="2000" spc="-1" strike="noStrike">
              <a:latin typeface="Arial"/>
            </a:endParaRPr>
          </a:p>
          <a:p>
            <a:endParaRPr b="0" lang="en-US" sz="2000" spc="-1" strike="noStrike">
              <a:latin typeface="Arial"/>
            </a:endParaRPr>
          </a:p>
          <a:p>
            <a:r>
              <a:rPr b="0" lang="en-US" sz="2000" spc="-1" strike="noStrike">
                <a:latin typeface="Arial"/>
              </a:rPr>
              <a:t>“</a:t>
            </a:r>
            <a:r>
              <a:rPr b="0" lang="en-US" sz="2000" spc="-1" strike="noStrike">
                <a:latin typeface="Arial"/>
              </a:rPr>
              <a:t>The learning portal is our demonstration, not the product boundary. Countersign is intended as reusable instrumentation: a small client script provides the confirmation flow; server-side checks sit before the actions you choose to govern. Your app keeps its sign-in, business logic, and data. Approved policy tells the gate what to require, and the decision goes to the log. A new app can add this from the start; an existing app can add it at selected endpoints.”</a:t>
            </a:r>
            <a:endParaRPr b="0" lang="en-US" sz="2000" spc="-1" strike="noStrike">
              <a:latin typeface="Arial"/>
            </a:endParaRPr>
          </a:p>
          <a:p>
            <a:endParaRPr b="0" lang="en-US" sz="2000" spc="-1" strike="noStrike">
              <a:latin typeface="Arial"/>
            </a:endParaRPr>
          </a:p>
          <a:p>
            <a:r>
              <a:rPr b="0" lang="en-US" sz="2000" spc="-1" strike="noStrike">
                <a:latin typeface="Arial"/>
              </a:rPr>
              <a:t>Important qualification: “This prototype demonstrates that pattern in Express. It is not yet a zero-change installer for every legacy system.”</a:t>
            </a:r>
            <a:endParaRPr b="0" lang="en-US" sz="2000" spc="-1" strike="noStrike">
              <a:latin typeface="Arial"/>
            </a:endParaRPr>
          </a:p>
          <a:p>
            <a:endParaRPr b="0" lang="en-US" sz="2000" spc="-1" strike="noStrike">
              <a:latin typeface="Arial"/>
            </a:endParaRPr>
          </a:p>
          <a:p>
            <a:r>
              <a:rPr b="0" lang="en-US" sz="2000" spc="-1" strike="noStrike">
                <a:latin typeface="Arial"/>
              </a:rPr>
              <a:t>The server gate is essential: hiding a button or adding a script alone does not secure a directly callable endpoint. There is no implemented general-purpose governance-injection proxy or packaged cross-framework SDK.</a:t>
            </a:r>
            <a:endParaRPr b="0" lang="en-US" sz="2000" spc="-1" strike="noStrike">
              <a:latin typeface="Arial"/>
            </a:endParaRPr>
          </a:p>
          <a:p>
            <a:endParaRPr b="0" lang="en-US" sz="2000" spc="-1" strike="noStrike">
              <a:latin typeface="Arial"/>
            </a:endParaRPr>
          </a:p>
          <a:p>
            <a:endParaRPr b="0" lang="en-US" sz="2000" spc="-1" strike="noStrike">
              <a:latin typeface="Arial"/>
            </a:endParaRPr>
          </a:p>
          <a:p>
            <a:r>
              <a:rPr b="0" lang="en-US" sz="2000" spc="-1" strike="noStrike">
                <a:latin typeface="Arial"/>
              </a:rPr>
              <a:t>PRODUCTION / EVIDENCE NOTES</a:t>
            </a:r>
            <a:endParaRPr b="0" lang="en-US" sz="2000" spc="-1" strike="noStrike">
              <a:latin typeface="Arial"/>
            </a:endParaRPr>
          </a:p>
          <a:p>
            <a:pPr marL="216000" indent="-216000">
              <a:lnSpc>
                <a:spcPct val="100000"/>
              </a:lnSpc>
              <a:buNone/>
            </a:pPr>
            <a:r>
              <a:rPr b="0" lang="en-US" sz="2000" spc="-1" strike="noStrike">
                <a:latin typeface="Arial"/>
              </a:rPr>
              <a:t>All diagram elements are editable PowerPoint text/shapes. Gray/white is the existing app; teal/mint is Countersign. Arrows illustrate the governed action, not every possible request. The server gate is mandatory. Express is the demonstrated implementation; no universal SDK or governance-injection proxy is claimed.</a:t>
            </a:r>
            <a:endParaRPr b="0" lang="en-US" sz="2000" spc="-1" strike="noStrike">
              <a:latin typeface="Arial"/>
            </a:endParaRPr>
          </a:p>
        </p:txBody>
      </p:sp>
      <p:sp>
        <p:nvSpPr>
          <p:cNvPr id="326" name="PlaceHolder 3"/>
          <p:cNvSpPr>
            <a:spLocks noGrp="1"/>
          </p:cNvSpPr>
          <p:nvPr>
            <p:ph type="sldNum" idx="8"/>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69ECC3E2-97D9-40C2-80A3-70328263E56B}"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7" name="PlaceHolder 1"/>
          <p:cNvSpPr>
            <a:spLocks noGrp="1"/>
          </p:cNvSpPr>
          <p:nvPr>
            <p:ph type="sldImg"/>
          </p:nvPr>
        </p:nvSpPr>
        <p:spPr>
          <a:xfrm>
            <a:off x="685800" y="1143000"/>
            <a:ext cx="5486040" cy="3085920"/>
          </a:xfrm>
          <a:prstGeom prst="rect">
            <a:avLst/>
          </a:prstGeom>
          <a:ln w="0">
            <a:noFill/>
          </a:ln>
        </p:spPr>
      </p:sp>
      <p:sp>
        <p:nvSpPr>
          <p:cNvPr id="328" name="PlaceHolder 2"/>
          <p:cNvSpPr>
            <a:spLocks noGrp="1"/>
          </p:cNvSpPr>
          <p:nvPr>
            <p:ph type="body"/>
          </p:nvPr>
        </p:nvSpPr>
        <p:spPr>
          <a:xfrm>
            <a:off x="685800" y="4400640"/>
            <a:ext cx="5486040" cy="3600000"/>
          </a:xfrm>
          <a:prstGeom prst="rect">
            <a:avLst/>
          </a:prstGeom>
          <a:noFill/>
          <a:ln w="0">
            <a:noFill/>
          </a:ln>
        </p:spPr>
        <p:txBody>
          <a:bodyPr anchor="t">
            <a:noAutofit/>
          </a:bodyPr>
          <a:p>
            <a:r>
              <a:rPr b="0" lang="en-US" sz="2000" spc="-1" strike="noStrike">
                <a:latin typeface="Arial"/>
              </a:rPr>
              <a:t>SLIDE 6 · 45 seconds · 4:30–5:15</a:t>
            </a:r>
            <a:endParaRPr b="0" lang="en-US" sz="2000" spc="-1" strike="noStrike">
              <a:latin typeface="Arial"/>
            </a:endParaRPr>
          </a:p>
          <a:p>
            <a:endParaRPr b="0" lang="en-US" sz="2000" spc="-1" strike="noStrike">
              <a:latin typeface="Arial"/>
            </a:endParaRPr>
          </a:p>
          <a:p>
            <a:r>
              <a:rPr b="0" lang="en-US" sz="2000" spc="-1" strike="noStrike">
                <a:latin typeface="Arial"/>
              </a:rPr>
              <a:t>Slide 6 — AI drafts. People approve.</a:t>
            </a:r>
            <a:endParaRPr b="0" lang="en-US" sz="2000" spc="-1" strike="noStrike">
              <a:latin typeface="Arial"/>
            </a:endParaRPr>
          </a:p>
          <a:p>
            <a:endParaRPr b="0" lang="en-US" sz="2000" spc="-1" strike="noStrike">
              <a:latin typeface="Arial"/>
            </a:endParaRPr>
          </a:p>
          <a:p>
            <a:r>
              <a:rPr b="0" lang="en-US" sz="2000" spc="-1" strike="noStrike">
                <a:latin typeface="Arial"/>
              </a:rPr>
              <a:t>On screen: App pages → AI draft → Human review → Active policy. Place one tightly cropped, real policy-review rule below the flow, with its rationale/approval control visible.</a:t>
            </a:r>
            <a:endParaRPr b="0" lang="en-US" sz="2000" spc="-1" strike="noStrike">
              <a:latin typeface="Arial"/>
            </a:endParaRPr>
          </a:p>
          <a:p>
            <a:endParaRPr b="0" lang="en-US" sz="2000" spc="-1" strike="noStrike">
              <a:latin typeface="Arial"/>
            </a:endParaRPr>
          </a:p>
          <a:p>
            <a:r>
              <a:rPr b="0" lang="en-US" sz="2000" spc="-1" strike="noStrike">
                <a:latin typeface="Arial"/>
              </a:rPr>
              <a:t>Say:</a:t>
            </a:r>
            <a:endParaRPr b="0" lang="en-US" sz="2000" spc="-1" strike="noStrike">
              <a:latin typeface="Arial"/>
            </a:endParaRPr>
          </a:p>
          <a:p>
            <a:endParaRPr b="0" lang="en-US" sz="2000" spc="-1" strike="noStrike">
              <a:latin typeface="Arial"/>
            </a:endParaRPr>
          </a:p>
          <a:p>
            <a:r>
              <a:rPr b="0" lang="en-US" sz="2000" spc="-1" strike="noStrike">
                <a:latin typeface="Arial"/>
              </a:rPr>
              <a:t>“</a:t>
            </a:r>
            <a:r>
              <a:rPr b="0" lang="en-US" sz="2000" spc="-1" strike="noStrike">
                <a:latin typeface="Arial"/>
              </a:rPr>
              <a:t>AI is also part of our solution. The generator reads the demo app's pages and forms, drafts rules and rationales within our supported policy schema, and uses Registry-backed vocabulary for content markings. A person reviews the draft before activation. Generation alone never changes the active policy. That helps an application owner start from a concrete proposal rather than an empty policy file. At runtime, the gate checks the approved rules and the cryptographic proof—not an LLM's opinion about who clicked.”</a:t>
            </a:r>
            <a:endParaRPr b="0" lang="en-US" sz="2000" spc="-1" strike="noStrike">
              <a:latin typeface="Arial"/>
            </a:endParaRPr>
          </a:p>
          <a:p>
            <a:endParaRPr b="0" lang="en-US" sz="2000" spc="-1" strike="noStrike">
              <a:latin typeface="Arial"/>
            </a:endParaRPr>
          </a:p>
          <a:p>
            <a:r>
              <a:rPr b="0" lang="en-US" sz="2000" spc="-1" strike="noStrike">
                <a:latin typeface="Arial"/>
              </a:rPr>
              <a:t>Use a saved draft/review view, not a fresh model call or a live change to the known-good demo policy. Say clearly that the current crawler targets the three demo routes; arbitrary-app discovery is future integration work. The documented policy-generation run used OpenAI; configurable provider support is not evidence of a GovCloud deployment.</a:t>
            </a:r>
            <a:endParaRPr b="0" lang="en-US" sz="2000" spc="-1" strike="noStrike">
              <a:latin typeface="Arial"/>
            </a:endParaRPr>
          </a:p>
          <a:p>
            <a:endParaRPr b="0" lang="en-US" sz="2000" spc="-1" strike="noStrike">
              <a:latin typeface="Arial"/>
            </a:endParaRPr>
          </a:p>
          <a:p>
            <a:endParaRPr b="0" lang="en-US" sz="2000" spc="-1" strike="noStrike">
              <a:latin typeface="Arial"/>
            </a:endParaRPr>
          </a:p>
          <a:p>
            <a:r>
              <a:rPr b="0" lang="en-US" sz="2000" spc="-1" strike="noStrike">
                <a:latin typeface="Arial"/>
              </a:rPr>
              <a:t>PRODUCTION / EVIDENCE NOTES</a:t>
            </a:r>
            <a:endParaRPr b="0" lang="en-US" sz="2000" spc="-1" strike="noStrike">
              <a:latin typeface="Arial"/>
            </a:endParaRPr>
          </a:p>
          <a:p>
            <a:pPr marL="216000" indent="-216000">
              <a:lnSpc>
                <a:spcPct val="100000"/>
              </a:lnSpc>
              <a:buNone/>
            </a:pPr>
            <a:r>
              <a:rPr b="0" lang="en-US" sz="2000" spc="-1" strike="noStrike">
                <a:latin typeface="Arial"/>
              </a:rPr>
              <a:t>Policy-review images are separate detail crops of the real current UI. Active and draft policies were identical at capture. No model call and no approval were performed for the capture. This shows the approval interface, not a claim of live generation. Do not change the known-good policy on stage. The current crawler covers three demo routes. Runtime verification does not call an LLM.</a:t>
            </a:r>
            <a:endParaRPr b="0" lang="en-US" sz="2000" spc="-1" strike="noStrike">
              <a:latin typeface="Arial"/>
            </a:endParaRPr>
          </a:p>
        </p:txBody>
      </p:sp>
      <p:sp>
        <p:nvSpPr>
          <p:cNvPr id="329" name="PlaceHolder 3"/>
          <p:cNvSpPr>
            <a:spLocks noGrp="1"/>
          </p:cNvSpPr>
          <p:nvPr>
            <p:ph type="sldNum" idx="9"/>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5213AACD-55A7-4F8B-8E02-78FBB5A814C3}"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0" name="PlaceHolder 1"/>
          <p:cNvSpPr>
            <a:spLocks noGrp="1"/>
          </p:cNvSpPr>
          <p:nvPr>
            <p:ph type="sldImg"/>
          </p:nvPr>
        </p:nvSpPr>
        <p:spPr>
          <a:xfrm>
            <a:off x="685800" y="1143000"/>
            <a:ext cx="5486040" cy="3085920"/>
          </a:xfrm>
          <a:prstGeom prst="rect">
            <a:avLst/>
          </a:prstGeom>
          <a:ln w="0">
            <a:noFill/>
          </a:ln>
        </p:spPr>
      </p:sp>
      <p:sp>
        <p:nvSpPr>
          <p:cNvPr id="331" name="PlaceHolder 2"/>
          <p:cNvSpPr>
            <a:spLocks noGrp="1"/>
          </p:cNvSpPr>
          <p:nvPr>
            <p:ph type="body"/>
          </p:nvPr>
        </p:nvSpPr>
        <p:spPr>
          <a:xfrm>
            <a:off x="685800" y="4400640"/>
            <a:ext cx="5486040" cy="3600000"/>
          </a:xfrm>
          <a:prstGeom prst="rect">
            <a:avLst/>
          </a:prstGeom>
          <a:noFill/>
          <a:ln w="0">
            <a:noFill/>
          </a:ln>
        </p:spPr>
        <p:txBody>
          <a:bodyPr anchor="t">
            <a:noAutofit/>
          </a:bodyPr>
          <a:p>
            <a:r>
              <a:rPr b="0" lang="en-US" sz="2000" spc="-1" strike="noStrike">
                <a:latin typeface="Arial"/>
              </a:rPr>
              <a:t>SLIDE 7 · 45 seconds · 5:15–6:00</a:t>
            </a:r>
            <a:endParaRPr b="0" lang="en-US" sz="2000" spc="-1" strike="noStrike">
              <a:latin typeface="Arial"/>
            </a:endParaRPr>
          </a:p>
          <a:p>
            <a:endParaRPr b="0" lang="en-US" sz="2000" spc="-1" strike="noStrike">
              <a:latin typeface="Arial"/>
            </a:endParaRPr>
          </a:p>
          <a:p>
            <a:r>
              <a:rPr b="0" lang="en-US" sz="2000" spc="-1" strike="noStrike">
                <a:latin typeface="Arial"/>
              </a:rPr>
              <a:t>Slide 7 — Training is the starting point</a:t>
            </a:r>
            <a:endParaRPr b="0" lang="en-US" sz="2000" spc="-1" strike="noStrike">
              <a:latin typeface="Arial"/>
            </a:endParaRPr>
          </a:p>
          <a:p>
            <a:endParaRPr b="0" lang="en-US" sz="2000" spc="-1" strike="noStrike">
              <a:latin typeface="Arial"/>
            </a:endParaRPr>
          </a:p>
          <a:p>
            <a:r>
              <a:rPr b="0" lang="en-US" sz="2000" spc="-1" strike="noStrike">
                <a:latin typeface="Arial"/>
              </a:rPr>
              <a:t>On screen: four simple icons/cards, with a visible separation between Built and Potential applications:</a:t>
            </a:r>
            <a:endParaRPr b="0" lang="en-US" sz="2000" spc="-1" strike="noStrike">
              <a:latin typeface="Arial"/>
            </a:endParaRPr>
          </a:p>
          <a:p>
            <a:endParaRPr b="0" lang="en-US" sz="2000" spc="-1" strike="noStrike">
              <a:latin typeface="Arial"/>
            </a:endParaRPr>
          </a:p>
          <a:p>
            <a:r>
              <a:rPr b="0" lang="en-US" sz="2000" spc="-1" strike="noStrike">
                <a:latin typeface="Arial"/>
              </a:rPr>
              <a:t>- Built: Training — Confirm submission</a:t>
            </a:r>
            <a:endParaRPr b="0" lang="en-US" sz="2000" spc="-1" strike="noStrike">
              <a:latin typeface="Arial"/>
            </a:endParaRPr>
          </a:p>
          <a:p>
            <a:r>
              <a:rPr b="0" lang="en-US" sz="2000" spc="-1" strike="noStrike">
                <a:latin typeface="Arial"/>
              </a:rPr>
              <a:t>- Potential: Finance — Release payment</a:t>
            </a:r>
            <a:endParaRPr b="0" lang="en-US" sz="2000" spc="-1" strike="noStrike">
              <a:latin typeface="Arial"/>
            </a:endParaRPr>
          </a:p>
          <a:p>
            <a:r>
              <a:rPr b="0" lang="en-US" sz="2000" spc="-1" strike="noStrike">
                <a:latin typeface="Arial"/>
              </a:rPr>
              <a:t>- Potential: Access — Grant privilege</a:t>
            </a:r>
            <a:endParaRPr b="0" lang="en-US" sz="2000" spc="-1" strike="noStrike">
              <a:latin typeface="Arial"/>
            </a:endParaRPr>
          </a:p>
          <a:p>
            <a:r>
              <a:rPr b="0" lang="en-US" sz="2000" spc="-1" strike="noStrike">
                <a:latin typeface="Arial"/>
              </a:rPr>
              <a:t>- Potential: Operations — Authorize production change</a:t>
            </a:r>
            <a:endParaRPr b="0" lang="en-US" sz="2000" spc="-1" strike="noStrike">
              <a:latin typeface="Arial"/>
            </a:endParaRPr>
          </a:p>
          <a:p>
            <a:endParaRPr b="0" lang="en-US" sz="2000" spc="-1" strike="noStrike">
              <a:latin typeface="Arial"/>
            </a:endParaRPr>
          </a:p>
          <a:p>
            <a:r>
              <a:rPr b="0" lang="en-US" sz="2000" spc="-1" strike="noStrike">
                <a:latin typeface="Arial"/>
              </a:rPr>
              <a:t>Say:</a:t>
            </a:r>
            <a:endParaRPr b="0" lang="en-US" sz="2000" spc="-1" strike="noStrike">
              <a:latin typeface="Arial"/>
            </a:endParaRPr>
          </a:p>
          <a:p>
            <a:endParaRPr b="0" lang="en-US" sz="2000" spc="-1" strike="noStrike">
              <a:latin typeface="Arial"/>
            </a:endParaRPr>
          </a:p>
          <a:p>
            <a:r>
              <a:rPr b="0" lang="en-US" sz="2000" spc="-1" strike="noStrike">
                <a:latin typeface="Arial"/>
              </a:rPr>
              <a:t>“</a:t>
            </a:r>
            <a:r>
              <a:rPr b="0" lang="en-US" sz="2000" spc="-1" strike="noStrike">
                <a:latin typeface="Arial"/>
              </a:rPr>
              <a:t>We focused on training because that was the use case. The same boundary becomes even more consequential when an assistant prepares a payment, a privileged-access change, or a production-system change. Let it do the preparation; require the authorized human's fresh confirmation before the final action. These are future integrations, not deployments we've built. Each would still need its own identity, authorization, approval rules, and safety controls.”</a:t>
            </a:r>
            <a:endParaRPr b="0" lang="en-US" sz="2000" spc="-1" strike="noStrike">
              <a:latin typeface="Arial"/>
            </a:endParaRPr>
          </a:p>
          <a:p>
            <a:endParaRPr b="0" lang="en-US" sz="2000" spc="-1" strike="noStrike">
              <a:latin typeface="Arial"/>
            </a:endParaRPr>
          </a:p>
          <a:p>
            <a:r>
              <a:rPr b="0" lang="en-US" sz="2000" spc="-1" strike="noStrike">
                <a:latin typeface="Arial"/>
              </a:rPr>
              <a:t>Optional Q&amp;A example, not a fifth card: a clinician confirming a medication order. The checkpoint would not establish clinical correctness or replace clinical safeguards. Prefer the three on-slide examples to avoid turning the pitch into a claim of medical or mission-critical readiness.</a:t>
            </a:r>
            <a:endParaRPr b="0" lang="en-US" sz="2000" spc="-1" strike="noStrike">
              <a:latin typeface="Arial"/>
            </a:endParaRPr>
          </a:p>
          <a:p>
            <a:endParaRPr b="0" lang="en-US" sz="2000" spc="-1" strike="noStrike">
              <a:latin typeface="Arial"/>
            </a:endParaRPr>
          </a:p>
          <a:p>
            <a:endParaRPr b="0" lang="en-US" sz="2000" spc="-1" strike="noStrike">
              <a:latin typeface="Arial"/>
            </a:endParaRPr>
          </a:p>
          <a:p>
            <a:r>
              <a:rPr b="0" lang="en-US" sz="2000" spc="-1" strike="noStrike">
                <a:latin typeface="Arial"/>
              </a:rPr>
              <a:t>PRODUCTION / EVIDENCE NOTES</a:t>
            </a:r>
            <a:endParaRPr b="0" lang="en-US" sz="2000" spc="-1" strike="noStrike">
              <a:latin typeface="Arial"/>
            </a:endParaRPr>
          </a:p>
          <a:p>
            <a:pPr marL="216000" indent="-216000">
              <a:lnSpc>
                <a:spcPct val="100000"/>
              </a:lnSpc>
              <a:buNone/>
            </a:pPr>
            <a:r>
              <a:rPr b="0" lang="en-US" sz="2000" spc="-1" strike="noStrike">
                <a:latin typeface="Arial"/>
              </a:rPr>
              <a:t>The training portal is built; finance, access, and operations are POTENTIAL integrations. Fresh confirmation does not replace authorization, separation of duties, domain safety, or comprehension. A medication order can be a Q&amp;A example, but do not imply medical readiness.</a:t>
            </a:r>
            <a:endParaRPr b="0" lang="en-US" sz="2000" spc="-1" strike="noStrike">
              <a:latin typeface="Arial"/>
            </a:endParaRPr>
          </a:p>
        </p:txBody>
      </p:sp>
      <p:sp>
        <p:nvSpPr>
          <p:cNvPr id="332" name="PlaceHolder 3"/>
          <p:cNvSpPr>
            <a:spLocks noGrp="1"/>
          </p:cNvSpPr>
          <p:nvPr>
            <p:ph type="sldNum" idx="10"/>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41063CDE-C442-48E2-9DEF-1AB34687D110}"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3" name="PlaceHolder 1"/>
          <p:cNvSpPr>
            <a:spLocks noGrp="1"/>
          </p:cNvSpPr>
          <p:nvPr>
            <p:ph type="sldImg"/>
          </p:nvPr>
        </p:nvSpPr>
        <p:spPr>
          <a:xfrm>
            <a:off x="685800" y="1143000"/>
            <a:ext cx="5486040" cy="3085920"/>
          </a:xfrm>
          <a:prstGeom prst="rect">
            <a:avLst/>
          </a:prstGeom>
          <a:ln w="0">
            <a:noFill/>
          </a:ln>
        </p:spPr>
      </p:sp>
      <p:sp>
        <p:nvSpPr>
          <p:cNvPr id="334" name="PlaceHolder 2"/>
          <p:cNvSpPr>
            <a:spLocks noGrp="1"/>
          </p:cNvSpPr>
          <p:nvPr>
            <p:ph type="body"/>
          </p:nvPr>
        </p:nvSpPr>
        <p:spPr>
          <a:xfrm>
            <a:off x="685800" y="4400640"/>
            <a:ext cx="5486040" cy="3600000"/>
          </a:xfrm>
          <a:prstGeom prst="rect">
            <a:avLst/>
          </a:prstGeom>
          <a:noFill/>
          <a:ln w="0">
            <a:noFill/>
          </a:ln>
        </p:spPr>
        <p:txBody>
          <a:bodyPr anchor="t">
            <a:noAutofit/>
          </a:bodyPr>
          <a:p>
            <a:r>
              <a:rPr b="0" lang="en-US" sz="2000" spc="-1" strike="noStrike">
                <a:latin typeface="Arial"/>
              </a:rPr>
              <a:t>SLIDE 8 · 30 seconds · 6:00–6:30</a:t>
            </a:r>
            <a:endParaRPr b="0" lang="en-US" sz="2000" spc="-1" strike="noStrike">
              <a:latin typeface="Arial"/>
            </a:endParaRPr>
          </a:p>
          <a:p>
            <a:endParaRPr b="0" lang="en-US" sz="2000" spc="-1" strike="noStrike">
              <a:latin typeface="Arial"/>
            </a:endParaRPr>
          </a:p>
          <a:p>
            <a:r>
              <a:rPr b="0" lang="en-US" sz="2000" spc="-1" strike="noStrike">
                <a:latin typeface="Arial"/>
              </a:rPr>
              <a:t>Slide 8 — Choose one action. Require a countersign.</a:t>
            </a:r>
            <a:endParaRPr b="0" lang="en-US" sz="2000" spc="-1" strike="noStrike">
              <a:latin typeface="Arial"/>
            </a:endParaRPr>
          </a:p>
          <a:p>
            <a:endParaRPr b="0" lang="en-US" sz="2000" spc="-1" strike="noStrike">
              <a:latin typeface="Arial"/>
            </a:endParaRPr>
          </a:p>
          <a:p>
            <a:r>
              <a:rPr b="0" lang="en-US" sz="2000" spc="-1" strike="noStrike">
                <a:latin typeface="Arial"/>
              </a:rPr>
              <a:t>On screen:</a:t>
            </a:r>
            <a:endParaRPr b="0" lang="en-US" sz="2000" spc="-1" strike="noStrike">
              <a:latin typeface="Arial"/>
            </a:endParaRPr>
          </a:p>
          <a:p>
            <a:endParaRPr b="0" lang="en-US" sz="2000" spc="-1" strike="noStrike">
              <a:latin typeface="Arial"/>
            </a:endParaRPr>
          </a:p>
          <a:p>
            <a:r>
              <a:rPr b="0" lang="en-US" sz="2000" spc="-1" strike="noStrike">
                <a:latin typeface="Arial"/>
              </a:rPr>
              <a:t>Which action in your application needs a human's confirmation?</a:t>
            </a:r>
            <a:endParaRPr b="0" lang="en-US" sz="2000" spc="-1" strike="noStrike">
              <a:latin typeface="Arial"/>
            </a:endParaRPr>
          </a:p>
          <a:p>
            <a:endParaRPr b="0" lang="en-US" sz="2000" spc="-1" strike="noStrike">
              <a:latin typeface="Arial"/>
            </a:endParaRPr>
          </a:p>
          <a:p>
            <a:r>
              <a:rPr b="0" lang="en-US" sz="2000" spc="-1" strike="noStrike">
                <a:latin typeface="Arial"/>
              </a:rPr>
              <a:t>Choose one action. Require a countersign.</a:t>
            </a:r>
            <a:endParaRPr b="0" lang="en-US" sz="2000" spc="-1" strike="noStrike">
              <a:latin typeface="Arial"/>
            </a:endParaRPr>
          </a:p>
          <a:p>
            <a:endParaRPr b="0" lang="en-US" sz="2000" spc="-1" strike="noStrike">
              <a:latin typeface="Arial"/>
            </a:endParaRPr>
          </a:p>
          <a:p>
            <a:r>
              <a:rPr b="0" lang="en-US" sz="2000" spc="-1" strike="noStrike">
                <a:latin typeface="Arial"/>
              </a:rPr>
              <a:t>One strong checkpoint/checkmark visual and the Countersign wordmark. No roadmap grid, invented QR code, funding ask, or promised 90-day deployment.</a:t>
            </a:r>
            <a:endParaRPr b="0" lang="en-US" sz="2000" spc="-1" strike="noStrike">
              <a:latin typeface="Arial"/>
            </a:endParaRPr>
          </a:p>
          <a:p>
            <a:endParaRPr b="0" lang="en-US" sz="2000" spc="-1" strike="noStrike">
              <a:latin typeface="Arial"/>
            </a:endParaRPr>
          </a:p>
          <a:p>
            <a:r>
              <a:rPr b="0" lang="en-US" sz="2000" spc="-1" strike="noStrike">
                <a:latin typeface="Arial"/>
              </a:rPr>
              <a:t>Close:</a:t>
            </a:r>
            <a:endParaRPr b="0" lang="en-US" sz="2000" spc="-1" strike="noStrike">
              <a:latin typeface="Arial"/>
            </a:endParaRPr>
          </a:p>
          <a:p>
            <a:endParaRPr b="0" lang="en-US" sz="2000" spc="-1" strike="noStrike">
              <a:latin typeface="Arial"/>
            </a:endParaRPr>
          </a:p>
          <a:p>
            <a:r>
              <a:rPr b="0" lang="en-US" sz="2000" spc="-1" strike="noStrike">
                <a:latin typeface="Arial"/>
              </a:rPr>
              <a:t>“</a:t>
            </a:r>
            <a:r>
              <a:rPr b="0" lang="en-US" sz="2000" spc="-1" strike="noStrike">
                <a:latin typeface="Arial"/>
              </a:rPr>
              <a:t>We don't have to choose between useful AI and human control. Countersign makes that boundary explicit: let AI assist, require a human where the action matters, and keep the record. Our challenge to you is simple: pick one consequential action in an application you own. That is where to put the first countersign.”</a:t>
            </a:r>
            <a:endParaRPr b="0" lang="en-US" sz="2000" spc="-1" strike="noStrike">
              <a:latin typeface="Arial"/>
            </a:endParaRPr>
          </a:p>
          <a:p>
            <a:endParaRPr b="0" lang="en-US" sz="2000" spc="-1" strike="noStrike">
              <a:latin typeface="Arial"/>
            </a:endParaRPr>
          </a:p>
          <a:p>
            <a:r>
              <a:rPr b="0" lang="en-US" sz="2000" spc="-1" strike="noStrike">
                <a:latin typeface="Arial"/>
              </a:rPr>
              <a:t>Stop. Leave this slide up for questions.</a:t>
            </a:r>
            <a:endParaRPr b="0" lang="en-US" sz="2000" spc="-1" strike="noStrike">
              <a:latin typeface="Arial"/>
            </a:endParaRPr>
          </a:p>
          <a:p>
            <a:endParaRPr b="0" lang="en-US" sz="2000" spc="-1" strike="noStrike">
              <a:latin typeface="Arial"/>
            </a:endParaRPr>
          </a:p>
          <a:p>
            <a:endParaRPr b="0" lang="en-US" sz="2000" spc="-1" strike="noStrike">
              <a:latin typeface="Arial"/>
            </a:endParaRPr>
          </a:p>
          <a:p>
            <a:r>
              <a:rPr b="0" lang="en-US" sz="2000" spc="-1" strike="noStrike">
                <a:latin typeface="Arial"/>
              </a:rPr>
              <a:t>PRODUCTION / EVIDENCE NOTES</a:t>
            </a:r>
            <a:endParaRPr b="0" lang="en-US" sz="2000" spc="-1" strike="noStrike">
              <a:latin typeface="Arial"/>
            </a:endParaRPr>
          </a:p>
          <a:p>
            <a:r>
              <a:rPr b="0" lang="en-US" sz="2000" spc="-1" strike="noStrike">
                <a:latin typeface="Arial"/>
              </a:rPr>
              <a:t>Close at 6:30 and keep 30 seconds for recovery. Leave this slide visible during the separately allocated three minutes of Q&amp;A. Do not add a funding ask or a deployment commitment.</a:t>
            </a:r>
            <a:endParaRPr b="0" lang="en-US" sz="2000" spc="-1" strike="noStrike">
              <a:latin typeface="Arial"/>
            </a:endParaRPr>
          </a:p>
          <a:p>
            <a:endParaRPr b="0" lang="en-US" sz="2000" spc="-1" strike="noStrike">
              <a:latin typeface="Arial"/>
            </a:endParaRPr>
          </a:p>
          <a:p>
            <a:r>
              <a:rPr b="0" lang="en-US" sz="2000" spc="-1" strike="noStrike">
                <a:latin typeface="Arial"/>
              </a:rPr>
              <a:t>Q&amp;A REFERENCE</a:t>
            </a:r>
            <a:endParaRPr b="0" lang="en-US" sz="2000" spc="-1" strike="noStrike">
              <a:latin typeface="Arial"/>
            </a:endParaRPr>
          </a:p>
          <a:p>
            <a:r>
              <a:rPr b="0" lang="en-US" sz="2000" spc="-1" strike="noStrike">
                <a:latin typeface="Arial"/>
              </a:rPr>
              <a:t>## 8. Three-minute Q&amp;A preparation</a:t>
            </a:r>
            <a:endParaRPr b="0" lang="en-US" sz="2000" spc="-1" strike="noStrike">
              <a:latin typeface="Arial"/>
            </a:endParaRPr>
          </a:p>
          <a:p>
            <a:endParaRPr b="0" lang="en-US" sz="2000" spc="-1" strike="noStrike">
              <a:latin typeface="Arial"/>
            </a:endParaRPr>
          </a:p>
          <a:p>
            <a:r>
              <a:rPr b="0" lang="en-US" sz="2000" spc="-1" strike="noStrike">
                <a:latin typeface="Arial"/>
              </a:rPr>
              <a:t>Answer the question in the first sentence; target 15–20 seconds, then offer detail. The first three are the most important to rehearse.</a:t>
            </a:r>
            <a:endParaRPr b="0" lang="en-US" sz="2000" spc="-1" strike="noStrike">
              <a:latin typeface="Arial"/>
            </a:endParaRPr>
          </a:p>
          <a:p>
            <a:endParaRPr b="0" lang="en-US" sz="2000" spc="-1" strike="noStrike">
              <a:latin typeface="Arial"/>
            </a:endParaRPr>
          </a:p>
          <a:p>
            <a:r>
              <a:rPr b="0" lang="en-US" sz="2000" spc="-1" strike="noStrike">
                <a:latin typeface="Arial"/>
              </a:rPr>
              <a:t>| Likely question | Answer |</a:t>
            </a:r>
            <a:endParaRPr b="0" lang="en-US" sz="2000" spc="-1" strike="noStrike">
              <a:latin typeface="Arial"/>
            </a:endParaRPr>
          </a:p>
          <a:p>
            <a:r>
              <a:rPr b="0" lang="en-US" sz="2000" spc="-1" strike="noStrike">
                <a:latin typeface="Arial"/>
              </a:rPr>
              <a:t>|---|---|</a:t>
            </a:r>
            <a:endParaRPr b="0" lang="en-US" sz="2000" spc="-1" strike="noStrike">
              <a:latin typeface="Arial"/>
            </a:endParaRPr>
          </a:p>
          <a:p>
            <a:r>
              <a:rPr b="0" lang="en-US" sz="2000" spc="-1" strike="noStrike">
                <a:latin typeface="Arial"/>
              </a:rPr>
              <a:t>| Does this stop a student using AI to answer everything? | No. It establishes fresh confirmation at submission, not knowledge or authorship. Discussion adds explicit disclosure and advisory evidence for review. Assessment design still matters; continuous/per-question proctoring is not built. |</a:t>
            </a:r>
            <a:endParaRPr b="0" lang="en-US" sz="2000" spc="-1" strike="noStrike">
              <a:latin typeface="Arial"/>
            </a:endParaRPr>
          </a:p>
          <a:p>
            <a:r>
              <a:rPr b="0" lang="en-US" sz="2000" spc="-1" strike="noStrike">
                <a:latin typeface="Arial"/>
              </a:rPr>
              <a:t>| Isn't this just MFA? What's different? | It uses a familiar standard at a different boundary: a selected action, not just login. The challenge is bound server-side to the user/session, action, form data, and disclosure. Policy, integration, and the decision record make that boundary reusable. We are not claiming to have invented WebAuthn. |</a:t>
            </a:r>
            <a:endParaRPr b="0" lang="en-US" sz="2000" spc="-1" strike="noStrike">
              <a:latin typeface="Arial"/>
            </a:endParaRPr>
          </a:p>
          <a:p>
            <a:r>
              <a:rPr b="0" lang="en-US" sz="2000" spc="-1" strike="noStrike">
                <a:latin typeface="Arial"/>
              </a:rPr>
              <a:t>| Why should an application owner care? | The app, not whichever assistant happens to be used, decides what requires human confirmation. Start with an action where silent delegation would be unacceptable. |</a:t>
            </a:r>
            <a:endParaRPr b="0" lang="en-US" sz="2000" spc="-1" strike="noStrike">
              <a:latin typeface="Arial"/>
            </a:endParaRPr>
          </a:p>
          <a:p>
            <a:r>
              <a:rPr b="0" lang="en-US" sz="2000" spc="-1" strike="noStrike">
                <a:latin typeface="Arial"/>
              </a:rPr>
              <a:t>| Can the agent bypass the page and call the endpoint? | The protected server endpoint still requires a valid, fresh proof. A session cookie or replayed assertion is insufficient. This assumes trusted enrollment, authenticators, and server enforcement—not a compromised endpoint or signing key. |</a:t>
            </a:r>
            <a:endParaRPr b="0" lang="en-US" sz="2000" spc="-1" strike="noStrike">
              <a:latin typeface="Arial"/>
            </a:endParaRPr>
          </a:p>
          <a:p>
            <a:r>
              <a:rPr b="0" lang="en-US" sz="2000" spc="-1" strike="noStrike">
                <a:latin typeface="Arial"/>
              </a:rPr>
              <a:t>| What if the human approves without reading? | That remains possible. Confirmation is not comprehension or judgment. Stronger review, transaction display, separation of duties, and domain-specific approvals are additional controls, not claims of this prototype. |</a:t>
            </a:r>
            <a:endParaRPr b="0" lang="en-US" sz="2000" spc="-1" strike="noStrike">
              <a:latin typeface="Arial"/>
            </a:endParaRPr>
          </a:p>
          <a:p>
            <a:r>
              <a:rPr b="0" lang="en-US" sz="2000" spc="-1" strike="noStrike">
                <a:latin typeface="Arial"/>
              </a:rPr>
              <a:t>| Can the agent still read the protected record? | Not the withheld fields before a successful reveal. After reveal, a co-resident extension can read them. Markings can inform cooperating tools; endpoint/egress controls are needed for stronger read/exfiltration guarantees. |</a:t>
            </a:r>
            <a:endParaRPr b="0" lang="en-US" sz="2000" spc="-1" strike="noStrike">
              <a:latin typeface="Arial"/>
            </a:endParaRPr>
          </a:p>
          <a:p>
            <a:r>
              <a:rPr b="0" lang="en-US" sz="2000" spc="-1" strike="noStrike">
                <a:latin typeface="Arial"/>
              </a:rPr>
              <a:t>| Can this work with a legacy app? | The intended pattern is to add client confirmation and a server gate to selected actions while retaining the app. Express is the demonstrated integration. Other stacks need adapters; we have not built a universal no-change proxy. |</a:t>
            </a:r>
            <a:endParaRPr b="0" lang="en-US" sz="2000" spc="-1" strike="noStrike">
              <a:latin typeface="Arial"/>
            </a:endParaRPr>
          </a:p>
          <a:p>
            <a:r>
              <a:rPr b="0" lang="en-US" sz="2000" spc="-1" strike="noStrike">
                <a:latin typeface="Arial"/>
              </a:rPr>
              <a:t>| What exactly does the AI do? | It drafts policy and rationales from the three demo pages/forms within a constrained schema; a human reviews before activation. It does not identify who clicked, prove authorship, or adjudicate submissions at runtime. |</a:t>
            </a:r>
            <a:endParaRPr b="0" lang="en-US" sz="2000" spc="-1" strike="noStrike">
              <a:latin typeface="Arial"/>
            </a:endParaRPr>
          </a:p>
          <a:p>
            <a:r>
              <a:rPr b="0" lang="en-US" sz="2000" spc="-1" strike="noStrike">
                <a:latin typeface="Arial"/>
              </a:rPr>
              <a:t>| Where does policy-generation data go? | To the configured provider; the documented policy-generation run used OpenAI with synthetic portal content. Other adapters exist, but a production owner must authorize the model/environment before sending application content. We have not demonstrated a GovCloud deployment. |</a:t>
            </a:r>
            <a:endParaRPr b="0" lang="en-US" sz="2000" spc="-1" strike="noStrike">
              <a:latin typeface="Arial"/>
            </a:endParaRPr>
          </a:p>
          <a:p>
            <a:r>
              <a:rPr b="0" lang="en-US" sz="2000" spc="-1" strike="noStrike">
                <a:latin typeface="Arial"/>
              </a:rPr>
              <a:t>| Who is the human? Do you integrate with CAC? | The registered credential is associated with the app's user/session. This prototype uses demo login and passkeys, not CAC/PIV or independent identity proofing. Production enrollment and enterprise identity integration are additional work. |</a:t>
            </a:r>
            <a:endParaRPr b="0" lang="en-US" sz="2000" spc="-1" strike="noStrike">
              <a:latin typeface="Arial"/>
            </a:endParaRPr>
          </a:p>
          <a:p>
            <a:r>
              <a:rPr b="0" lang="en-US" sz="2000" spc="-1" strike="noStrike">
                <a:latin typeface="Arial"/>
              </a:rPr>
              <a:t>| What about accessibility or non-biometric users? | WebAuthn supports multiple authenticator and verification methods, including device PINs where supported. The chosen enrollment flow and required UP/UV must be tested for the deployment; we have not validated every device or accessibility path. |</a:t>
            </a:r>
            <a:endParaRPr b="0" lang="en-US" sz="2000" spc="-1" strike="noStrike">
              <a:latin typeface="Arial"/>
            </a:endParaRPr>
          </a:p>
          <a:p>
            <a:r>
              <a:rPr b="0" lang="en-US" sz="2000" spc="-1" strike="noStrike">
                <a:latin typeface="Arial"/>
              </a:rPr>
              <a:t>| Is the audit log tamper-proof? | No. The server verifies cryptographic proof and writes decision/evidence metadata to JSONL. The log itself is not signed or hash-chained, and a governance approval is not proof of every downstream business outcome. |</a:t>
            </a:r>
            <a:endParaRPr b="0" lang="en-US" sz="2000" spc="-1" strike="noStrike">
              <a:latin typeface="Arial"/>
            </a:endParaRPr>
          </a:p>
          <a:p>
            <a:r>
              <a:rPr b="0" lang="en-US" sz="2000" spc="-1" strike="noStrike">
                <a:latin typeface="Arial"/>
              </a:rPr>
              <a:t>| What would production require next? | Real identity and role-based policy administration; hardened credential/audit storage; security and accessibility review; deployment-specific integration and failure handling. Validate one consequential action first, rather than promising a universal rollout. |</a:t>
            </a:r>
            <a:endParaRPr b="0" lang="en-US" sz="2000" spc="-1" strike="noStrike">
              <a:latin typeface="Arial"/>
            </a:endParaRPr>
          </a:p>
          <a:p>
            <a:endParaRPr b="0" lang="en-US" sz="2000" spc="-1" strike="noStrike">
              <a:latin typeface="Arial"/>
            </a:endParaRPr>
          </a:p>
          <a:p>
            <a:r>
              <a:rPr b="0" lang="en-US" sz="2000" spc="-1" strike="noStrike">
                <a:latin typeface="Arial"/>
              </a:rPr>
              <a:t>Do not open Q&amp;A by apologizing for the prototype. Describe the precise guarantee, then its boundary. Keep the final slide visible unless a specific question warrants opening a prepared artifact.</a:t>
            </a:r>
            <a:endParaRPr b="0" lang="en-US" sz="2000" spc="-1" strike="noStrike">
              <a:latin typeface="Arial"/>
            </a:endParaRPr>
          </a:p>
          <a:p>
            <a:pPr marL="216000" indent="-216000">
              <a:lnSpc>
                <a:spcPct val="100000"/>
              </a:lnSpc>
              <a:buNone/>
            </a:pPr>
            <a:endParaRPr b="0" lang="en-US" sz="2000" spc="-1" strike="noStrike">
              <a:latin typeface="Arial"/>
            </a:endParaRPr>
          </a:p>
        </p:txBody>
      </p:sp>
      <p:sp>
        <p:nvSpPr>
          <p:cNvPr id="335" name="PlaceHolder 3"/>
          <p:cNvSpPr>
            <a:spLocks noGrp="1"/>
          </p:cNvSpPr>
          <p:nvPr>
            <p:ph type="sldNum" idx="11"/>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0B10F0E8-9EE1-45F4-B991-B7521FFB1C6A}"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endParaRPr b="0" lang="en-US" sz="1800" spc="-1" strike="noStrike">
              <a:solidFill>
                <a:srgbClr val="000000"/>
              </a:solidFill>
              <a:latin typeface="Arial"/>
            </a:endParaRPr>
          </a:p>
        </p:txBody>
      </p:sp>
      <p:sp>
        <p:nvSpPr>
          <p:cNvPr id="3"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endParaRPr b="0" lang="en-US" sz="1800" spc="-1" strike="noStrike">
              <a:solidFill>
                <a:srgbClr val="000000"/>
              </a:solidFill>
              <a:latin typeface="Arial"/>
            </a:endParaRPr>
          </a:p>
        </p:txBody>
      </p:sp>
      <p:sp>
        <p:nvSpPr>
          <p:cNvPr id="5"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endParaRPr b="0" lang="en-US" sz="3200" spc="-1" strike="noStrike">
              <a:solidFill>
                <a:srgbClr val="000000"/>
              </a:solidFill>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endParaRPr b="0" lang="en-US" sz="1800" spc="-1" strike="noStrike">
              <a:solidFill>
                <a:srgbClr val="000000"/>
              </a:solidFill>
              <a:latin typeface="Arial"/>
            </a:endParaRPr>
          </a:p>
        </p:txBody>
      </p:sp>
      <p:sp>
        <p:nvSpPr>
          <p:cNvPr id="7"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endParaRPr b="0" lang="en-US" sz="3200" spc="-1" strike="noStrike">
              <a:solidFill>
                <a:srgbClr val="000000"/>
              </a:solidFill>
              <a:latin typeface="Arial"/>
            </a:endParaRPr>
          </a:p>
        </p:txBody>
      </p:sp>
      <p:sp>
        <p:nvSpPr>
          <p:cNvPr id="8"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endParaRPr b="0" lang="en-US" sz="3200" spc="-1" strike="noStrike">
              <a:solidFill>
                <a:srgbClr val="000000"/>
              </a:solidFill>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endParaRPr b="0" lang="en-US" sz="1800" spc="-1" strike="noStrike">
              <a:solidFill>
                <a:srgbClr val="000000"/>
              </a:solidFill>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0" name="PlaceHolder 1"/>
          <p:cNvSpPr>
            <a:spLocks noGrp="1"/>
          </p:cNvSpPr>
          <p:nvPr>
            <p:ph type="subTitle"/>
          </p:nvPr>
        </p:nvSpPr>
        <p:spPr>
          <a:xfrm>
            <a:off x="609480" y="273600"/>
            <a:ext cx="10972440" cy="530784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endParaRPr b="0" lang="en-US" sz="1800" spc="-1" strike="noStrike">
              <a:solidFill>
                <a:srgbClr val="000000"/>
              </a:solidFill>
              <a:latin typeface="Arial"/>
            </a:endParaRPr>
          </a:p>
        </p:txBody>
      </p:sp>
      <p:sp>
        <p:nvSpPr>
          <p:cNvPr id="12"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US" sz="3200" spc="-1" strike="noStrike">
              <a:solidFill>
                <a:srgbClr val="000000"/>
              </a:solidFill>
              <a:latin typeface="Arial"/>
            </a:endParaRPr>
          </a:p>
        </p:txBody>
      </p:sp>
      <p:sp>
        <p:nvSpPr>
          <p:cNvPr id="13"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endParaRPr b="0" lang="en-US" sz="3200" spc="-1" strike="noStrike">
              <a:solidFill>
                <a:srgbClr val="000000"/>
              </a:solidFill>
              <a:latin typeface="Arial"/>
            </a:endParaRPr>
          </a:p>
        </p:txBody>
      </p:sp>
      <p:sp>
        <p:nvSpPr>
          <p:cNvPr id="14"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endParaRPr b="0" lang="en-US" sz="3200" spc="-1" strike="noStrike">
              <a:solidFill>
                <a:srgbClr val="000000"/>
              </a:solidFill>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endParaRPr b="0" lang="en-US" sz="1800" spc="-1" strike="noStrike">
              <a:solidFill>
                <a:srgbClr val="000000"/>
              </a:solidFill>
              <a:latin typeface="Arial"/>
            </a:endParaRPr>
          </a:p>
        </p:txBody>
      </p:sp>
      <p:sp>
        <p:nvSpPr>
          <p:cNvPr id="16"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endParaRPr b="0" lang="en-US" sz="3200" spc="-1" strike="noStrike">
              <a:solidFill>
                <a:srgbClr val="000000"/>
              </a:solidFill>
              <a:latin typeface="Arial"/>
            </a:endParaRPr>
          </a:p>
        </p:txBody>
      </p:sp>
      <p:sp>
        <p:nvSpPr>
          <p:cNvPr id="17"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US" sz="3200" spc="-1" strike="noStrike">
              <a:solidFill>
                <a:srgbClr val="000000"/>
              </a:solidFill>
              <a:latin typeface="Arial"/>
            </a:endParaRPr>
          </a:p>
        </p:txBody>
      </p:sp>
      <p:sp>
        <p:nvSpPr>
          <p:cNvPr id="18" name="PlaceHolder 4"/>
          <p:cNvSpPr>
            <a:spLocks noGrp="1"/>
          </p:cNvSpPr>
          <p:nvPr>
            <p:ph/>
          </p:nvPr>
        </p:nvSpPr>
        <p:spPr>
          <a:xfrm>
            <a:off x="6231960" y="3682080"/>
            <a:ext cx="5354280" cy="1896840"/>
          </a:xfrm>
          <a:prstGeom prst="rect">
            <a:avLst/>
          </a:prstGeom>
          <a:noFill/>
          <a:ln w="0">
            <a:noFill/>
          </a:ln>
        </p:spPr>
        <p:txBody>
          <a:bodyPr lIns="0" rIns="0" tIns="0" bIns="0" anchor="t">
            <a:normAutofit/>
          </a:bodyPr>
          <a:p>
            <a:endParaRPr b="0" lang="en-US" sz="3200" spc="-1" strike="noStrike">
              <a:solidFill>
                <a:srgbClr val="000000"/>
              </a:solidFill>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endParaRPr b="0" lang="en-US" sz="1800" spc="-1" strike="noStrike">
              <a:solidFill>
                <a:srgbClr val="000000"/>
              </a:solidFill>
              <a:latin typeface="Arial"/>
            </a:endParaRPr>
          </a:p>
        </p:txBody>
      </p:sp>
      <p:sp>
        <p:nvSpPr>
          <p:cNvPr id="20"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US" sz="3200" spc="-1" strike="noStrike">
              <a:solidFill>
                <a:srgbClr val="000000"/>
              </a:solidFill>
              <a:latin typeface="Arial"/>
            </a:endParaRPr>
          </a:p>
        </p:txBody>
      </p:sp>
      <p:sp>
        <p:nvSpPr>
          <p:cNvPr id="21"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US" sz="3200" spc="-1" strike="noStrike">
              <a:solidFill>
                <a:srgbClr val="000000"/>
              </a:solidFill>
              <a:latin typeface="Arial"/>
            </a:endParaRPr>
          </a:p>
        </p:txBody>
      </p:sp>
      <p:sp>
        <p:nvSpPr>
          <p:cNvPr id="22" name="PlaceHolder 4"/>
          <p:cNvSpPr>
            <a:spLocks noGrp="1"/>
          </p:cNvSpPr>
          <p:nvPr>
            <p:ph/>
          </p:nvPr>
        </p:nvSpPr>
        <p:spPr>
          <a:xfrm>
            <a:off x="609480" y="3682080"/>
            <a:ext cx="10972440" cy="1896840"/>
          </a:xfrm>
          <a:prstGeom prst="rect">
            <a:avLst/>
          </a:prstGeom>
          <a:noFill/>
          <a:ln w="0">
            <a:noFill/>
          </a:ln>
        </p:spPr>
        <p:txBody>
          <a:bodyPr lIns="0" rIns="0" tIns="0" bIns="0" anchor="t">
            <a:normAutofit/>
          </a:bodyPr>
          <a:p>
            <a:endParaRPr b="0" lang="en-US" sz="3200" spc="-1" strike="noStrike">
              <a:solidFill>
                <a:srgbClr val="000000"/>
              </a:solidFill>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endParaRPr b="0" lang="en-US" sz="1800" spc="-1" strike="noStrike">
              <a:solidFill>
                <a:srgbClr val="000000"/>
              </a:solidFill>
              <a:latin typeface="Arial"/>
            </a:endParaRPr>
          </a:p>
        </p:txBody>
      </p:sp>
      <p:sp>
        <p:nvSpPr>
          <p:cNvPr id="24" name="PlaceHolder 2"/>
          <p:cNvSpPr>
            <a:spLocks noGrp="1"/>
          </p:cNvSpPr>
          <p:nvPr>
            <p:ph/>
          </p:nvPr>
        </p:nvSpPr>
        <p:spPr>
          <a:xfrm>
            <a:off x="609480" y="1604520"/>
            <a:ext cx="10972440" cy="1896840"/>
          </a:xfrm>
          <a:prstGeom prst="rect">
            <a:avLst/>
          </a:prstGeom>
          <a:noFill/>
          <a:ln w="0">
            <a:noFill/>
          </a:ln>
        </p:spPr>
        <p:txBody>
          <a:bodyPr lIns="0" rIns="0" tIns="0" bIns="0" anchor="t">
            <a:normAutofit/>
          </a:bodyPr>
          <a:p>
            <a:endParaRPr b="0" lang="en-US" sz="3200" spc="-1" strike="noStrike">
              <a:solidFill>
                <a:srgbClr val="000000"/>
              </a:solidFill>
              <a:latin typeface="Arial"/>
            </a:endParaRPr>
          </a:p>
        </p:txBody>
      </p:sp>
      <p:sp>
        <p:nvSpPr>
          <p:cNvPr id="25" name="PlaceHolder 3"/>
          <p:cNvSpPr>
            <a:spLocks noGrp="1"/>
          </p:cNvSpPr>
          <p:nvPr>
            <p:ph/>
          </p:nvPr>
        </p:nvSpPr>
        <p:spPr>
          <a:xfrm>
            <a:off x="609480" y="3682080"/>
            <a:ext cx="10972440" cy="1896840"/>
          </a:xfrm>
          <a:prstGeom prst="rect">
            <a:avLst/>
          </a:prstGeom>
          <a:noFill/>
          <a:ln w="0">
            <a:noFill/>
          </a:ln>
        </p:spPr>
        <p:txBody>
          <a:bodyPr lIns="0" rIns="0" tIns="0" bIns="0" anchor="t">
            <a:normAutofit/>
          </a:bodyPr>
          <a:p>
            <a:endParaRPr b="0" lang="en-US" sz="3200" spc="-1" strike="noStrike">
              <a:solidFill>
                <a:srgbClr val="000000"/>
              </a:solidFill>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endParaRPr b="0" lang="en-US" sz="1800" spc="-1" strike="noStrike">
              <a:solidFill>
                <a:srgbClr val="000000"/>
              </a:solidFill>
              <a:latin typeface="Arial"/>
            </a:endParaRPr>
          </a:p>
        </p:txBody>
      </p:sp>
      <p:sp>
        <p:nvSpPr>
          <p:cNvPr id="27"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US" sz="3200" spc="-1" strike="noStrike">
              <a:solidFill>
                <a:srgbClr val="000000"/>
              </a:solidFill>
              <a:latin typeface="Arial"/>
            </a:endParaRPr>
          </a:p>
        </p:txBody>
      </p:sp>
      <p:sp>
        <p:nvSpPr>
          <p:cNvPr id="28"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US" sz="3200" spc="-1" strike="noStrike">
              <a:solidFill>
                <a:srgbClr val="000000"/>
              </a:solidFill>
              <a:latin typeface="Arial"/>
            </a:endParaRPr>
          </a:p>
        </p:txBody>
      </p:sp>
      <p:sp>
        <p:nvSpPr>
          <p:cNvPr id="29"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endParaRPr b="0" lang="en-US" sz="3200" spc="-1" strike="noStrike">
              <a:solidFill>
                <a:srgbClr val="000000"/>
              </a:solidFill>
              <a:latin typeface="Arial"/>
            </a:endParaRPr>
          </a:p>
        </p:txBody>
      </p:sp>
      <p:sp>
        <p:nvSpPr>
          <p:cNvPr id="30" name="PlaceHolder 5"/>
          <p:cNvSpPr>
            <a:spLocks noGrp="1"/>
          </p:cNvSpPr>
          <p:nvPr>
            <p:ph/>
          </p:nvPr>
        </p:nvSpPr>
        <p:spPr>
          <a:xfrm>
            <a:off x="6231960" y="3682080"/>
            <a:ext cx="5354280" cy="1896840"/>
          </a:xfrm>
          <a:prstGeom prst="rect">
            <a:avLst/>
          </a:prstGeom>
          <a:noFill/>
          <a:ln w="0">
            <a:noFill/>
          </a:ln>
        </p:spPr>
        <p:txBody>
          <a:bodyPr lIns="0" rIns="0" tIns="0" bIns="0" anchor="t">
            <a:normAutofit/>
          </a:bodyPr>
          <a:p>
            <a:endParaRPr b="0" lang="en-US" sz="3200" spc="-1" strike="noStrike">
              <a:solidFill>
                <a:srgbClr val="000000"/>
              </a:solidFill>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endParaRPr b="0" lang="en-US" sz="1800" spc="-1" strike="noStrike">
              <a:solidFill>
                <a:srgbClr val="000000"/>
              </a:solidFill>
              <a:latin typeface="Arial"/>
            </a:endParaRPr>
          </a:p>
        </p:txBody>
      </p:sp>
      <p:sp>
        <p:nvSpPr>
          <p:cNvPr id="32" name="PlaceHolder 2"/>
          <p:cNvSpPr>
            <a:spLocks noGrp="1"/>
          </p:cNvSpPr>
          <p:nvPr>
            <p:ph/>
          </p:nvPr>
        </p:nvSpPr>
        <p:spPr>
          <a:xfrm>
            <a:off x="609480" y="1604520"/>
            <a:ext cx="3533040" cy="1896840"/>
          </a:xfrm>
          <a:prstGeom prst="rect">
            <a:avLst/>
          </a:prstGeom>
          <a:noFill/>
          <a:ln w="0">
            <a:noFill/>
          </a:ln>
        </p:spPr>
        <p:txBody>
          <a:bodyPr lIns="0" rIns="0" tIns="0" bIns="0" anchor="t">
            <a:normAutofit/>
          </a:bodyPr>
          <a:p>
            <a:endParaRPr b="0" lang="en-US" sz="3200" spc="-1" strike="noStrike">
              <a:solidFill>
                <a:srgbClr val="000000"/>
              </a:solidFill>
              <a:latin typeface="Arial"/>
            </a:endParaRPr>
          </a:p>
        </p:txBody>
      </p:sp>
      <p:sp>
        <p:nvSpPr>
          <p:cNvPr id="33" name="PlaceHolder 3"/>
          <p:cNvSpPr>
            <a:spLocks noGrp="1"/>
          </p:cNvSpPr>
          <p:nvPr>
            <p:ph/>
          </p:nvPr>
        </p:nvSpPr>
        <p:spPr>
          <a:xfrm>
            <a:off x="4319640" y="1604520"/>
            <a:ext cx="3533040" cy="1896840"/>
          </a:xfrm>
          <a:prstGeom prst="rect">
            <a:avLst/>
          </a:prstGeom>
          <a:noFill/>
          <a:ln w="0">
            <a:noFill/>
          </a:ln>
        </p:spPr>
        <p:txBody>
          <a:bodyPr lIns="0" rIns="0" tIns="0" bIns="0" anchor="t">
            <a:normAutofit/>
          </a:bodyPr>
          <a:p>
            <a:endParaRPr b="0" lang="en-US" sz="3200" spc="-1" strike="noStrike">
              <a:solidFill>
                <a:srgbClr val="000000"/>
              </a:solidFill>
              <a:latin typeface="Arial"/>
            </a:endParaRPr>
          </a:p>
        </p:txBody>
      </p:sp>
      <p:sp>
        <p:nvSpPr>
          <p:cNvPr id="34" name="PlaceHolder 4"/>
          <p:cNvSpPr>
            <a:spLocks noGrp="1"/>
          </p:cNvSpPr>
          <p:nvPr>
            <p:ph/>
          </p:nvPr>
        </p:nvSpPr>
        <p:spPr>
          <a:xfrm>
            <a:off x="8029800" y="1604520"/>
            <a:ext cx="3533040" cy="1896840"/>
          </a:xfrm>
          <a:prstGeom prst="rect">
            <a:avLst/>
          </a:prstGeom>
          <a:noFill/>
          <a:ln w="0">
            <a:noFill/>
          </a:ln>
        </p:spPr>
        <p:txBody>
          <a:bodyPr lIns="0" rIns="0" tIns="0" bIns="0" anchor="t">
            <a:normAutofit/>
          </a:bodyPr>
          <a:p>
            <a:endParaRPr b="0" lang="en-US" sz="3200" spc="-1" strike="noStrike">
              <a:solidFill>
                <a:srgbClr val="000000"/>
              </a:solidFill>
              <a:latin typeface="Arial"/>
            </a:endParaRPr>
          </a:p>
        </p:txBody>
      </p:sp>
      <p:sp>
        <p:nvSpPr>
          <p:cNvPr id="35" name="PlaceHolder 5"/>
          <p:cNvSpPr>
            <a:spLocks noGrp="1"/>
          </p:cNvSpPr>
          <p:nvPr>
            <p:ph/>
          </p:nvPr>
        </p:nvSpPr>
        <p:spPr>
          <a:xfrm>
            <a:off x="609480" y="3682080"/>
            <a:ext cx="3533040" cy="1896840"/>
          </a:xfrm>
          <a:prstGeom prst="rect">
            <a:avLst/>
          </a:prstGeom>
          <a:noFill/>
          <a:ln w="0">
            <a:noFill/>
          </a:ln>
        </p:spPr>
        <p:txBody>
          <a:bodyPr lIns="0" rIns="0" tIns="0" bIns="0" anchor="t">
            <a:normAutofit/>
          </a:bodyPr>
          <a:p>
            <a:endParaRPr b="0" lang="en-US" sz="3200" spc="-1" strike="noStrike">
              <a:solidFill>
                <a:srgbClr val="000000"/>
              </a:solidFill>
              <a:latin typeface="Arial"/>
            </a:endParaRPr>
          </a:p>
        </p:txBody>
      </p:sp>
      <p:sp>
        <p:nvSpPr>
          <p:cNvPr id="36" name="PlaceHolder 6"/>
          <p:cNvSpPr>
            <a:spLocks noGrp="1"/>
          </p:cNvSpPr>
          <p:nvPr>
            <p:ph/>
          </p:nvPr>
        </p:nvSpPr>
        <p:spPr>
          <a:xfrm>
            <a:off x="4319640" y="3682080"/>
            <a:ext cx="3533040" cy="1896840"/>
          </a:xfrm>
          <a:prstGeom prst="rect">
            <a:avLst/>
          </a:prstGeom>
          <a:noFill/>
          <a:ln w="0">
            <a:noFill/>
          </a:ln>
        </p:spPr>
        <p:txBody>
          <a:bodyPr lIns="0" rIns="0" tIns="0" bIns="0" anchor="t">
            <a:normAutofit/>
          </a:bodyPr>
          <a:p>
            <a:endParaRPr b="0" lang="en-US" sz="3200" spc="-1" strike="noStrike">
              <a:solidFill>
                <a:srgbClr val="000000"/>
              </a:solidFill>
              <a:latin typeface="Arial"/>
            </a:endParaRPr>
          </a:p>
        </p:txBody>
      </p:sp>
      <p:sp>
        <p:nvSpPr>
          <p:cNvPr id="37" name="PlaceHolder 7"/>
          <p:cNvSpPr>
            <a:spLocks noGrp="1"/>
          </p:cNvSpPr>
          <p:nvPr>
            <p:ph/>
          </p:nvPr>
        </p:nvSpPr>
        <p:spPr>
          <a:xfrm>
            <a:off x="8029800" y="3682080"/>
            <a:ext cx="3533040" cy="1896840"/>
          </a:xfrm>
          <a:prstGeom prst="rect">
            <a:avLst/>
          </a:prstGeom>
          <a:noFill/>
          <a:ln w="0">
            <a:noFill/>
          </a:ln>
        </p:spPr>
        <p:txBody>
          <a:bodyPr lIns="0" rIns="0" tIns="0" bIns="0" anchor="t">
            <a:normAutofit/>
          </a:bodyPr>
          <a:p>
            <a:endParaRPr b="0" lang="en-US" sz="3200" spc="-1" strike="noStrike">
              <a:solidFill>
                <a:srgbClr val="000000"/>
              </a:solidFill>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400" spc="-1" strike="noStrike">
                <a:solidFill>
                  <a:srgbClr val="000000"/>
                </a:solidFill>
                <a:latin typeface="Arial"/>
              </a:rPr>
              <a:t>Second Outline Level</a:t>
            </a:r>
            <a:endParaRPr b="0" lang="en-US" sz="2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000" spc="-1" strike="noStrike">
                <a:solidFill>
                  <a:srgbClr val="000000"/>
                </a:solidFill>
                <a:latin typeface="Arial"/>
              </a:rPr>
              <a:t>Third Outline Level</a:t>
            </a:r>
            <a:endParaRPr b="0" lang="en-US" sz="20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hyperlink" Target="http://localhost:3001/quiz/1" TargetMode="External"/><Relationship Id="rId3" Type="http://schemas.openxmlformats.org/officeDocument/2006/relationships/hyperlink" Target="http://localhost:3001/quiz/1" TargetMode="External"/><Relationship Id="rId4" Type="http://schemas.openxmlformats.org/officeDocument/2006/relationships/hyperlink" Target="http://localhost:3000/quiz/1" TargetMode="External"/><Relationship Id="rId5" Type="http://schemas.openxmlformats.org/officeDocument/2006/relationships/hyperlink" Target="http://localhost:3000/quiz/1" TargetMode="External"/><Relationship Id="rId6" Type="http://schemas.openxmlformats.org/officeDocument/2006/relationships/slideLayout" Target="../slideLayouts/slideLayout1.xml"/><Relationship Id="rId7"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slideLayout" Target="../slideLayouts/slideLayout1.xml"/><Relationship Id="rId4"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png"/><Relationship Id="rId3" Type="http://schemas.openxmlformats.org/officeDocument/2006/relationships/slideLayout" Target="../slideLayouts/slideLayout1.xml"/><Relationship Id="rId4"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0243a"/>
        </a:solidFill>
      </p:bgPr>
    </p:bg>
    <p:spTree>
      <p:nvGrpSpPr>
        <p:cNvPr id="1" name=""/>
        <p:cNvGrpSpPr/>
        <p:nvPr/>
      </p:nvGrpSpPr>
      <p:grpSpPr>
        <a:xfrm>
          <a:off x="0" y="0"/>
          <a:ext cx="0" cy="0"/>
          <a:chOff x="0" y="0"/>
          <a:chExt cx="0" cy="0"/>
        </a:xfrm>
      </p:grpSpPr>
      <p:sp>
        <p:nvSpPr>
          <p:cNvPr id="44" name="Text 0"/>
          <p:cNvSpPr/>
          <p:nvPr/>
        </p:nvSpPr>
        <p:spPr>
          <a:xfrm>
            <a:off x="658440" y="384120"/>
            <a:ext cx="7772040" cy="20088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150" spc="117" strike="noStrike">
                <a:solidFill>
                  <a:srgbClr val="bcf58a"/>
                </a:solidFill>
                <a:latin typeface="Arial"/>
                <a:ea typeface="Arial"/>
              </a:rPr>
              <a:t>WHAT / THE TRAINING USE CASE</a:t>
            </a:r>
            <a:endParaRPr b="0" lang="en-US" sz="1150" spc="-1" strike="noStrike">
              <a:latin typeface="Arial"/>
            </a:endParaRPr>
          </a:p>
        </p:txBody>
      </p:sp>
      <p:sp>
        <p:nvSpPr>
          <p:cNvPr id="45" name="Text 1"/>
          <p:cNvSpPr/>
          <p:nvPr/>
        </p:nvSpPr>
        <p:spPr>
          <a:xfrm>
            <a:off x="9464040" y="365760"/>
            <a:ext cx="2075400" cy="255600"/>
          </a:xfrm>
          <a:prstGeom prst="rect">
            <a:avLst/>
          </a:prstGeom>
          <a:noFill/>
          <a:ln w="0">
            <a:noFill/>
          </a:ln>
        </p:spPr>
        <p:style>
          <a:lnRef idx="0"/>
          <a:fillRef idx="0"/>
          <a:effectRef idx="0"/>
          <a:fontRef idx="minor"/>
        </p:style>
        <p:txBody>
          <a:bodyPr lIns="0" rIns="0" tIns="0" bIns="0" anchor="ctr">
            <a:noAutofit/>
          </a:bodyPr>
          <a:p>
            <a:pPr algn="r">
              <a:lnSpc>
                <a:spcPct val="100000"/>
              </a:lnSpc>
              <a:buNone/>
              <a:tabLst>
                <a:tab algn="l" pos="0"/>
              </a:tabLst>
            </a:pPr>
            <a:r>
              <a:rPr b="1" lang="en-US" sz="1500" spc="-1" strike="noStrike">
                <a:solidFill>
                  <a:srgbClr val="ffffff"/>
                </a:solidFill>
                <a:latin typeface="Arial"/>
                <a:ea typeface="Arial"/>
              </a:rPr>
              <a:t>countersign.</a:t>
            </a:r>
            <a:endParaRPr b="0" lang="en-US" sz="1500" spc="-1" strike="noStrike">
              <a:latin typeface="Arial"/>
            </a:endParaRPr>
          </a:p>
        </p:txBody>
      </p:sp>
      <p:sp>
        <p:nvSpPr>
          <p:cNvPr id="46" name="Shape 2"/>
          <p:cNvSpPr/>
          <p:nvPr/>
        </p:nvSpPr>
        <p:spPr>
          <a:xfrm>
            <a:off x="658080" y="6437160"/>
            <a:ext cx="10872360" cy="360"/>
          </a:xfrm>
          <a:prstGeom prst="line">
            <a:avLst/>
          </a:prstGeom>
          <a:ln w="8890">
            <a:solidFill>
              <a:srgbClr val="2d485a"/>
            </a:solidFill>
            <a:round/>
          </a:ln>
        </p:spPr>
        <p:style>
          <a:lnRef idx="0"/>
          <a:fillRef idx="0"/>
          <a:effectRef idx="0"/>
          <a:fontRef idx="minor"/>
        </p:style>
      </p:sp>
      <p:sp>
        <p:nvSpPr>
          <p:cNvPr id="47" name="Text 3"/>
          <p:cNvSpPr/>
          <p:nvPr/>
        </p:nvSpPr>
        <p:spPr>
          <a:xfrm>
            <a:off x="676800" y="6537960"/>
            <a:ext cx="8412120" cy="1458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850" spc="109" strike="noStrike">
                <a:solidFill>
                  <a:srgbClr val="8ca5b6"/>
                </a:solidFill>
                <a:latin typeface="Arial"/>
                <a:ea typeface="Arial"/>
              </a:rPr>
              <a:t>HUMAN VERIFICATION FOR WEB APPS</a:t>
            </a:r>
            <a:endParaRPr b="0" lang="en-US" sz="850" spc="-1" strike="noStrike">
              <a:latin typeface="Arial"/>
            </a:endParaRPr>
          </a:p>
        </p:txBody>
      </p:sp>
      <p:sp>
        <p:nvSpPr>
          <p:cNvPr id="48" name="Text 4"/>
          <p:cNvSpPr/>
          <p:nvPr/>
        </p:nvSpPr>
        <p:spPr>
          <a:xfrm>
            <a:off x="11027520" y="6519600"/>
            <a:ext cx="475200" cy="182520"/>
          </a:xfrm>
          <a:prstGeom prst="rect">
            <a:avLst/>
          </a:prstGeom>
          <a:noFill/>
          <a:ln w="0">
            <a:noFill/>
          </a:ln>
        </p:spPr>
        <p:style>
          <a:lnRef idx="0"/>
          <a:fillRef idx="0"/>
          <a:effectRef idx="0"/>
          <a:fontRef idx="minor"/>
        </p:style>
        <p:txBody>
          <a:bodyPr lIns="0" rIns="0" tIns="0" bIns="0" anchor="ctr">
            <a:noAutofit/>
          </a:bodyPr>
          <a:p>
            <a:pPr algn="r">
              <a:lnSpc>
                <a:spcPct val="100000"/>
              </a:lnSpc>
              <a:buNone/>
              <a:tabLst>
                <a:tab algn="l" pos="0"/>
              </a:tabLst>
            </a:pPr>
            <a:r>
              <a:rPr b="0" lang="en-US" sz="1000" spc="-1" strike="noStrike">
                <a:solidFill>
                  <a:srgbClr val="8ca5b6"/>
                </a:solidFill>
                <a:latin typeface="Arial"/>
                <a:ea typeface="Arial"/>
              </a:rPr>
              <a:t>01</a:t>
            </a:r>
            <a:endParaRPr b="0" lang="en-US" sz="1000" spc="-1" strike="noStrike">
              <a:latin typeface="Arial"/>
            </a:endParaRPr>
          </a:p>
        </p:txBody>
      </p:sp>
      <p:sp>
        <p:nvSpPr>
          <p:cNvPr id="49" name="Text 5"/>
          <p:cNvSpPr/>
          <p:nvPr/>
        </p:nvSpPr>
        <p:spPr>
          <a:xfrm>
            <a:off x="685800" y="1261800"/>
            <a:ext cx="10698120" cy="7128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4300" spc="-1" strike="noStrike">
                <a:solidFill>
                  <a:srgbClr val="ffffff"/>
                </a:solidFill>
                <a:latin typeface="Arial"/>
                <a:ea typeface="Arial"/>
              </a:rPr>
              <a:t>A valid session is not a</a:t>
            </a:r>
            <a:endParaRPr b="0" lang="en-US" sz="4300" spc="-1" strike="noStrike">
              <a:latin typeface="Arial"/>
            </a:endParaRPr>
          </a:p>
        </p:txBody>
      </p:sp>
      <p:sp>
        <p:nvSpPr>
          <p:cNvPr id="50" name="Text 6"/>
          <p:cNvSpPr/>
          <p:nvPr/>
        </p:nvSpPr>
        <p:spPr>
          <a:xfrm>
            <a:off x="685800" y="1993320"/>
            <a:ext cx="10698120" cy="77688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4800" spc="-1" strike="noStrike">
                <a:solidFill>
                  <a:srgbClr val="bcf58a"/>
                </a:solidFill>
                <a:latin typeface="Arial"/>
                <a:ea typeface="Arial"/>
              </a:rPr>
              <a:t>human decision.</a:t>
            </a:r>
            <a:endParaRPr b="0" lang="en-US" sz="4800" spc="-1" strike="noStrike">
              <a:latin typeface="Arial"/>
            </a:endParaRPr>
          </a:p>
        </p:txBody>
      </p:sp>
      <p:sp>
        <p:nvSpPr>
          <p:cNvPr id="51" name="Shape 7"/>
          <p:cNvSpPr/>
          <p:nvPr/>
        </p:nvSpPr>
        <p:spPr>
          <a:xfrm>
            <a:off x="685800" y="3319200"/>
            <a:ext cx="10826280" cy="2605680"/>
          </a:xfrm>
          <a:prstGeom prst="roundRect">
            <a:avLst>
              <a:gd name="adj" fmla="val 4211"/>
            </a:avLst>
          </a:prstGeom>
          <a:solidFill>
            <a:srgbClr val="17354a"/>
          </a:solidFill>
          <a:ln w="12700">
            <a:solidFill>
              <a:srgbClr val="2a485d"/>
            </a:solidFill>
            <a:round/>
          </a:ln>
        </p:spPr>
        <p:style>
          <a:lnRef idx="0"/>
          <a:fillRef idx="0"/>
          <a:effectRef idx="0"/>
          <a:fontRef idx="minor"/>
        </p:style>
      </p:sp>
      <p:sp>
        <p:nvSpPr>
          <p:cNvPr id="52" name="Text 8"/>
          <p:cNvSpPr/>
          <p:nvPr/>
        </p:nvSpPr>
        <p:spPr>
          <a:xfrm>
            <a:off x="987480" y="3602880"/>
            <a:ext cx="7314840" cy="20088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150" spc="117" strike="noStrike">
                <a:solidFill>
                  <a:srgbClr val="8ca5b6"/>
                </a:solidFill>
                <a:latin typeface="Arial"/>
                <a:ea typeface="Arial"/>
              </a:rPr>
              <a:t>ONE LOGGED-IN SESSION</a:t>
            </a:r>
            <a:endParaRPr b="0" lang="en-US" sz="1150" spc="-1" strike="noStrike">
              <a:latin typeface="Arial"/>
            </a:endParaRPr>
          </a:p>
        </p:txBody>
      </p:sp>
      <p:sp>
        <p:nvSpPr>
          <p:cNvPr id="53" name="Shape 9"/>
          <p:cNvSpPr/>
          <p:nvPr/>
        </p:nvSpPr>
        <p:spPr>
          <a:xfrm>
            <a:off x="3456360" y="4635720"/>
            <a:ext cx="1344240" cy="360"/>
          </a:xfrm>
          <a:prstGeom prst="line">
            <a:avLst/>
          </a:prstGeom>
          <a:ln w="27940">
            <a:solidFill>
              <a:srgbClr val="8ca5b6"/>
            </a:solidFill>
            <a:round/>
            <a:tailEnd len="med" type="triangle" w="med"/>
          </a:ln>
        </p:spPr>
        <p:style>
          <a:lnRef idx="0"/>
          <a:fillRef idx="0"/>
          <a:effectRef idx="0"/>
          <a:fontRef idx="minor"/>
        </p:style>
      </p:sp>
      <p:sp>
        <p:nvSpPr>
          <p:cNvPr id="54" name="Shape 10"/>
          <p:cNvSpPr/>
          <p:nvPr/>
        </p:nvSpPr>
        <p:spPr>
          <a:xfrm>
            <a:off x="7132320" y="4635720"/>
            <a:ext cx="1353240" cy="360"/>
          </a:xfrm>
          <a:prstGeom prst="line">
            <a:avLst/>
          </a:prstGeom>
          <a:ln w="27940">
            <a:solidFill>
              <a:srgbClr val="8ca5b6"/>
            </a:solidFill>
            <a:round/>
            <a:tailEnd len="med" type="triangle" w="med"/>
          </a:ln>
        </p:spPr>
        <p:style>
          <a:lnRef idx="0"/>
          <a:fillRef idx="0"/>
          <a:effectRef idx="0"/>
          <a:fontRef idx="minor"/>
        </p:style>
      </p:sp>
      <p:sp>
        <p:nvSpPr>
          <p:cNvPr id="55" name="Shape 11"/>
          <p:cNvSpPr/>
          <p:nvPr/>
        </p:nvSpPr>
        <p:spPr>
          <a:xfrm>
            <a:off x="2100240" y="4129560"/>
            <a:ext cx="279360" cy="279360"/>
          </a:xfrm>
          <a:prstGeom prst="ellipse">
            <a:avLst/>
          </a:prstGeom>
          <a:solidFill>
            <a:srgbClr val="17354a"/>
          </a:solidFill>
          <a:ln w="25400">
            <a:solidFill>
              <a:srgbClr val="ffffff"/>
            </a:solidFill>
            <a:round/>
          </a:ln>
        </p:spPr>
        <p:style>
          <a:lnRef idx="0"/>
          <a:fillRef idx="0"/>
          <a:effectRef idx="0"/>
          <a:fontRef idx="minor"/>
        </p:style>
      </p:sp>
      <p:sp>
        <p:nvSpPr>
          <p:cNvPr id="56" name="Shape 12"/>
          <p:cNvSpPr/>
          <p:nvPr/>
        </p:nvSpPr>
        <p:spPr>
          <a:xfrm flipV="1">
            <a:off x="1944000" y="4705200"/>
            <a:ext cx="360" cy="140040"/>
          </a:xfrm>
          <a:prstGeom prst="line">
            <a:avLst/>
          </a:prstGeom>
          <a:ln w="25400">
            <a:solidFill>
              <a:srgbClr val="ffffff"/>
            </a:solidFill>
            <a:round/>
          </a:ln>
        </p:spPr>
        <p:style>
          <a:lnRef idx="0"/>
          <a:fillRef idx="0"/>
          <a:effectRef idx="0"/>
          <a:fontRef idx="minor"/>
        </p:style>
      </p:sp>
      <p:sp>
        <p:nvSpPr>
          <p:cNvPr id="57" name="Shape 13"/>
          <p:cNvSpPr/>
          <p:nvPr/>
        </p:nvSpPr>
        <p:spPr>
          <a:xfrm flipV="1">
            <a:off x="1944000" y="4548960"/>
            <a:ext cx="139680" cy="156240"/>
          </a:xfrm>
          <a:prstGeom prst="line">
            <a:avLst/>
          </a:prstGeom>
          <a:ln w="25400">
            <a:solidFill>
              <a:srgbClr val="ffffff"/>
            </a:solidFill>
            <a:round/>
          </a:ln>
        </p:spPr>
        <p:style>
          <a:lnRef idx="0"/>
          <a:fillRef idx="0"/>
          <a:effectRef idx="0"/>
          <a:fontRef idx="minor"/>
        </p:style>
      </p:sp>
      <p:sp>
        <p:nvSpPr>
          <p:cNvPr id="58" name="Shape 14"/>
          <p:cNvSpPr/>
          <p:nvPr/>
        </p:nvSpPr>
        <p:spPr>
          <a:xfrm>
            <a:off x="2083680" y="4548960"/>
            <a:ext cx="312840" cy="360"/>
          </a:xfrm>
          <a:prstGeom prst="line">
            <a:avLst/>
          </a:prstGeom>
          <a:ln w="25400">
            <a:solidFill>
              <a:srgbClr val="ffffff"/>
            </a:solidFill>
            <a:round/>
          </a:ln>
        </p:spPr>
        <p:style>
          <a:lnRef idx="0"/>
          <a:fillRef idx="0"/>
          <a:effectRef idx="0"/>
          <a:fontRef idx="minor"/>
        </p:style>
      </p:sp>
      <p:sp>
        <p:nvSpPr>
          <p:cNvPr id="59" name="Shape 15"/>
          <p:cNvSpPr/>
          <p:nvPr/>
        </p:nvSpPr>
        <p:spPr>
          <a:xfrm>
            <a:off x="2396520" y="4548960"/>
            <a:ext cx="139680" cy="156240"/>
          </a:xfrm>
          <a:prstGeom prst="line">
            <a:avLst/>
          </a:prstGeom>
          <a:ln w="25400">
            <a:solidFill>
              <a:srgbClr val="ffffff"/>
            </a:solidFill>
            <a:round/>
          </a:ln>
        </p:spPr>
        <p:style>
          <a:lnRef idx="0"/>
          <a:fillRef idx="0"/>
          <a:effectRef idx="0"/>
          <a:fontRef idx="minor"/>
        </p:style>
      </p:sp>
      <p:sp>
        <p:nvSpPr>
          <p:cNvPr id="60" name="Shape 16"/>
          <p:cNvSpPr/>
          <p:nvPr/>
        </p:nvSpPr>
        <p:spPr>
          <a:xfrm>
            <a:off x="2536200" y="4705200"/>
            <a:ext cx="360" cy="140040"/>
          </a:xfrm>
          <a:prstGeom prst="line">
            <a:avLst/>
          </a:prstGeom>
          <a:ln w="25400">
            <a:solidFill>
              <a:srgbClr val="ffffff"/>
            </a:solidFill>
            <a:round/>
          </a:ln>
        </p:spPr>
        <p:style>
          <a:lnRef idx="0"/>
          <a:fillRef idx="0"/>
          <a:effectRef idx="0"/>
          <a:fontRef idx="minor"/>
        </p:style>
      </p:sp>
      <p:sp>
        <p:nvSpPr>
          <p:cNvPr id="61" name="Text 17"/>
          <p:cNvSpPr/>
          <p:nvPr/>
        </p:nvSpPr>
        <p:spPr>
          <a:xfrm>
            <a:off x="1252800" y="5166360"/>
            <a:ext cx="1983960" cy="33804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2100" spc="-1" strike="noStrike">
                <a:solidFill>
                  <a:srgbClr val="ffffff"/>
                </a:solidFill>
                <a:latin typeface="Arial"/>
                <a:ea typeface="Arial"/>
              </a:rPr>
              <a:t>Learner</a:t>
            </a:r>
            <a:endParaRPr b="0" lang="en-US" sz="2100" spc="-1" strike="noStrike">
              <a:latin typeface="Arial"/>
            </a:endParaRPr>
          </a:p>
        </p:txBody>
      </p:sp>
      <p:sp>
        <p:nvSpPr>
          <p:cNvPr id="62" name="Shape 18"/>
          <p:cNvSpPr/>
          <p:nvPr/>
        </p:nvSpPr>
        <p:spPr>
          <a:xfrm>
            <a:off x="5915880" y="4129200"/>
            <a:ext cx="99000" cy="263520"/>
          </a:xfrm>
          <a:prstGeom prst="line">
            <a:avLst/>
          </a:prstGeom>
          <a:ln w="25400">
            <a:solidFill>
              <a:srgbClr val="ffffff"/>
            </a:solidFill>
            <a:round/>
          </a:ln>
        </p:spPr>
        <p:style>
          <a:lnRef idx="0"/>
          <a:fillRef idx="0"/>
          <a:effectRef idx="0"/>
          <a:fontRef idx="minor"/>
        </p:style>
      </p:sp>
      <p:sp>
        <p:nvSpPr>
          <p:cNvPr id="63" name="Shape 19"/>
          <p:cNvSpPr/>
          <p:nvPr/>
        </p:nvSpPr>
        <p:spPr>
          <a:xfrm>
            <a:off x="6014880" y="4392720"/>
            <a:ext cx="263160" cy="98640"/>
          </a:xfrm>
          <a:prstGeom prst="line">
            <a:avLst/>
          </a:prstGeom>
          <a:ln w="25400">
            <a:solidFill>
              <a:srgbClr val="ffffff"/>
            </a:solidFill>
            <a:round/>
          </a:ln>
        </p:spPr>
        <p:style>
          <a:lnRef idx="0"/>
          <a:fillRef idx="0"/>
          <a:effectRef idx="0"/>
          <a:fontRef idx="minor"/>
        </p:style>
      </p:sp>
      <p:sp>
        <p:nvSpPr>
          <p:cNvPr id="64" name="Shape 20"/>
          <p:cNvSpPr/>
          <p:nvPr/>
        </p:nvSpPr>
        <p:spPr>
          <a:xfrm flipH="1">
            <a:off x="6014880" y="4491360"/>
            <a:ext cx="263160" cy="98640"/>
          </a:xfrm>
          <a:prstGeom prst="line">
            <a:avLst/>
          </a:prstGeom>
          <a:ln w="25400">
            <a:solidFill>
              <a:srgbClr val="ffffff"/>
            </a:solidFill>
            <a:round/>
          </a:ln>
        </p:spPr>
        <p:style>
          <a:lnRef idx="0"/>
          <a:fillRef idx="0"/>
          <a:effectRef idx="0"/>
          <a:fontRef idx="minor"/>
        </p:style>
      </p:sp>
      <p:sp>
        <p:nvSpPr>
          <p:cNvPr id="65" name="Shape 21"/>
          <p:cNvSpPr/>
          <p:nvPr/>
        </p:nvSpPr>
        <p:spPr>
          <a:xfrm flipH="1">
            <a:off x="5915880" y="4590000"/>
            <a:ext cx="99000" cy="271800"/>
          </a:xfrm>
          <a:prstGeom prst="line">
            <a:avLst/>
          </a:prstGeom>
          <a:ln w="25400">
            <a:solidFill>
              <a:srgbClr val="ffffff"/>
            </a:solidFill>
            <a:round/>
          </a:ln>
        </p:spPr>
        <p:style>
          <a:lnRef idx="0"/>
          <a:fillRef idx="0"/>
          <a:effectRef idx="0"/>
          <a:fontRef idx="minor"/>
        </p:style>
      </p:sp>
      <p:sp>
        <p:nvSpPr>
          <p:cNvPr id="66" name="Shape 22"/>
          <p:cNvSpPr/>
          <p:nvPr/>
        </p:nvSpPr>
        <p:spPr>
          <a:xfrm flipH="1" flipV="1">
            <a:off x="5817240" y="4590000"/>
            <a:ext cx="98640" cy="271800"/>
          </a:xfrm>
          <a:prstGeom prst="line">
            <a:avLst/>
          </a:prstGeom>
          <a:ln w="25400">
            <a:solidFill>
              <a:srgbClr val="ffffff"/>
            </a:solidFill>
            <a:round/>
          </a:ln>
        </p:spPr>
        <p:style>
          <a:lnRef idx="0"/>
          <a:fillRef idx="0"/>
          <a:effectRef idx="0"/>
          <a:fontRef idx="minor"/>
        </p:style>
      </p:sp>
      <p:sp>
        <p:nvSpPr>
          <p:cNvPr id="67" name="Shape 23"/>
          <p:cNvSpPr/>
          <p:nvPr/>
        </p:nvSpPr>
        <p:spPr>
          <a:xfrm flipH="1" flipV="1">
            <a:off x="5553720" y="4491360"/>
            <a:ext cx="263520" cy="98640"/>
          </a:xfrm>
          <a:prstGeom prst="line">
            <a:avLst/>
          </a:prstGeom>
          <a:ln w="25400">
            <a:solidFill>
              <a:srgbClr val="ffffff"/>
            </a:solidFill>
            <a:round/>
          </a:ln>
        </p:spPr>
        <p:style>
          <a:lnRef idx="0"/>
          <a:fillRef idx="0"/>
          <a:effectRef idx="0"/>
          <a:fontRef idx="minor"/>
        </p:style>
      </p:sp>
      <p:sp>
        <p:nvSpPr>
          <p:cNvPr id="68" name="Shape 24"/>
          <p:cNvSpPr/>
          <p:nvPr/>
        </p:nvSpPr>
        <p:spPr>
          <a:xfrm flipV="1">
            <a:off x="5553720" y="4392720"/>
            <a:ext cx="263520" cy="98640"/>
          </a:xfrm>
          <a:prstGeom prst="line">
            <a:avLst/>
          </a:prstGeom>
          <a:ln w="25400">
            <a:solidFill>
              <a:srgbClr val="ffffff"/>
            </a:solidFill>
            <a:round/>
          </a:ln>
        </p:spPr>
        <p:style>
          <a:lnRef idx="0"/>
          <a:fillRef idx="0"/>
          <a:effectRef idx="0"/>
          <a:fontRef idx="minor"/>
        </p:style>
      </p:sp>
      <p:sp>
        <p:nvSpPr>
          <p:cNvPr id="69" name="Shape 25"/>
          <p:cNvSpPr/>
          <p:nvPr/>
        </p:nvSpPr>
        <p:spPr>
          <a:xfrm flipV="1">
            <a:off x="5817240" y="4129200"/>
            <a:ext cx="98640" cy="263520"/>
          </a:xfrm>
          <a:prstGeom prst="line">
            <a:avLst/>
          </a:prstGeom>
          <a:ln w="25400">
            <a:solidFill>
              <a:srgbClr val="ffffff"/>
            </a:solidFill>
            <a:round/>
          </a:ln>
        </p:spPr>
        <p:style>
          <a:lnRef idx="0"/>
          <a:fillRef idx="0"/>
          <a:effectRef idx="0"/>
          <a:fontRef idx="minor"/>
        </p:style>
      </p:sp>
      <p:sp>
        <p:nvSpPr>
          <p:cNvPr id="70" name="Text 26"/>
          <p:cNvSpPr/>
          <p:nvPr/>
        </p:nvSpPr>
        <p:spPr>
          <a:xfrm>
            <a:off x="4928760" y="5166360"/>
            <a:ext cx="1983960" cy="33804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2100" spc="-1" strike="noStrike">
                <a:solidFill>
                  <a:srgbClr val="ffffff"/>
                </a:solidFill>
                <a:latin typeface="Arial"/>
                <a:ea typeface="Arial"/>
              </a:rPr>
              <a:t>AI assistant</a:t>
            </a:r>
            <a:endParaRPr b="0" lang="en-US" sz="2100" spc="-1" strike="noStrike">
              <a:latin typeface="Arial"/>
            </a:endParaRPr>
          </a:p>
        </p:txBody>
      </p:sp>
      <p:sp>
        <p:nvSpPr>
          <p:cNvPr id="71" name="Shape 27"/>
          <p:cNvSpPr/>
          <p:nvPr/>
        </p:nvSpPr>
        <p:spPr>
          <a:xfrm>
            <a:off x="9320400" y="4145760"/>
            <a:ext cx="542880" cy="707400"/>
          </a:xfrm>
          <a:prstGeom prst="roundRect">
            <a:avLst>
              <a:gd name="adj" fmla="val 20202"/>
            </a:avLst>
          </a:prstGeom>
          <a:solidFill>
            <a:srgbClr val="17354a"/>
          </a:solidFill>
          <a:ln w="25400">
            <a:solidFill>
              <a:srgbClr val="f6c66c"/>
            </a:solidFill>
            <a:round/>
          </a:ln>
        </p:spPr>
        <p:style>
          <a:lnRef idx="0"/>
          <a:fillRef idx="0"/>
          <a:effectRef idx="0"/>
          <a:fontRef idx="minor"/>
        </p:style>
      </p:sp>
      <p:sp>
        <p:nvSpPr>
          <p:cNvPr id="72" name="Shape 28"/>
          <p:cNvSpPr/>
          <p:nvPr/>
        </p:nvSpPr>
        <p:spPr>
          <a:xfrm>
            <a:off x="9435600" y="4343400"/>
            <a:ext cx="304560" cy="360"/>
          </a:xfrm>
          <a:prstGeom prst="line">
            <a:avLst/>
          </a:prstGeom>
          <a:ln w="25400">
            <a:solidFill>
              <a:srgbClr val="f6c66c"/>
            </a:solidFill>
            <a:round/>
          </a:ln>
        </p:spPr>
        <p:style>
          <a:lnRef idx="0"/>
          <a:fillRef idx="0"/>
          <a:effectRef idx="0"/>
          <a:fontRef idx="minor"/>
        </p:style>
      </p:sp>
      <p:sp>
        <p:nvSpPr>
          <p:cNvPr id="73" name="Shape 29"/>
          <p:cNvSpPr/>
          <p:nvPr/>
        </p:nvSpPr>
        <p:spPr>
          <a:xfrm>
            <a:off x="9435600" y="4499640"/>
            <a:ext cx="304560" cy="360"/>
          </a:xfrm>
          <a:prstGeom prst="line">
            <a:avLst/>
          </a:prstGeom>
          <a:ln w="25400">
            <a:solidFill>
              <a:srgbClr val="f6c66c"/>
            </a:solidFill>
            <a:round/>
          </a:ln>
        </p:spPr>
        <p:style>
          <a:lnRef idx="0"/>
          <a:fillRef idx="0"/>
          <a:effectRef idx="0"/>
          <a:fontRef idx="minor"/>
        </p:style>
      </p:sp>
      <p:sp>
        <p:nvSpPr>
          <p:cNvPr id="74" name="Shape 30"/>
          <p:cNvSpPr/>
          <p:nvPr/>
        </p:nvSpPr>
        <p:spPr>
          <a:xfrm>
            <a:off x="9435600" y="4655880"/>
            <a:ext cx="304560" cy="360"/>
          </a:xfrm>
          <a:prstGeom prst="line">
            <a:avLst/>
          </a:prstGeom>
          <a:ln w="25400">
            <a:solidFill>
              <a:srgbClr val="f6c66c"/>
            </a:solidFill>
            <a:round/>
          </a:ln>
        </p:spPr>
        <p:style>
          <a:lnRef idx="0"/>
          <a:fillRef idx="0"/>
          <a:effectRef idx="0"/>
          <a:fontRef idx="minor"/>
        </p:style>
      </p:sp>
      <p:sp>
        <p:nvSpPr>
          <p:cNvPr id="75" name="Text 31"/>
          <p:cNvSpPr/>
          <p:nvPr/>
        </p:nvSpPr>
        <p:spPr>
          <a:xfrm>
            <a:off x="8604360" y="5166360"/>
            <a:ext cx="1983960" cy="33804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2100" spc="-1" strike="noStrike">
                <a:solidFill>
                  <a:srgbClr val="f6c66c"/>
                </a:solidFill>
                <a:latin typeface="Arial"/>
                <a:ea typeface="Arial"/>
              </a:rPr>
              <a:t>Submit</a:t>
            </a:r>
            <a:endParaRPr b="0" lang="en-US" sz="2100" spc="-1" strike="noStrike">
              <a:latin typeface="Arial"/>
            </a:endParaRPr>
          </a:p>
        </p:txBody>
      </p:sp>
      <p:sp>
        <p:nvSpPr>
          <p:cNvPr id="76" name="Shape 32"/>
          <p:cNvSpPr/>
          <p:nvPr/>
        </p:nvSpPr>
        <p:spPr>
          <a:xfrm>
            <a:off x="10405800" y="3968640"/>
            <a:ext cx="411120" cy="411120"/>
          </a:xfrm>
          <a:prstGeom prst="ellipse">
            <a:avLst/>
          </a:prstGeom>
          <a:solidFill>
            <a:srgbClr val="f6c66c"/>
          </a:solidFill>
          <a:ln w="12700">
            <a:solidFill>
              <a:srgbClr val="f6c66c"/>
            </a:solidFill>
            <a:round/>
          </a:ln>
        </p:spPr>
        <p:style>
          <a:lnRef idx="0"/>
          <a:fillRef idx="0"/>
          <a:effectRef idx="0"/>
          <a:fontRef idx="minor"/>
        </p:style>
      </p:sp>
      <p:sp>
        <p:nvSpPr>
          <p:cNvPr id="77" name="Text 33"/>
          <p:cNvSpPr/>
          <p:nvPr/>
        </p:nvSpPr>
        <p:spPr>
          <a:xfrm>
            <a:off x="10415160" y="3986640"/>
            <a:ext cx="392760" cy="34704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1900" spc="-1" strike="noStrike">
                <a:solidFill>
                  <a:srgbClr val="10243a"/>
                </a:solidFill>
                <a:latin typeface="Arial"/>
                <a:ea typeface="Arial"/>
              </a:rPr>
              <a:t>?</a:t>
            </a:r>
            <a:endParaRPr b="0" lang="en-US" sz="1900" spc="-1" strike="noStrike">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3f6fa"/>
        </a:solidFill>
      </p:bgPr>
    </p:bg>
    <p:spTree>
      <p:nvGrpSpPr>
        <p:cNvPr id="1" name=""/>
        <p:cNvGrpSpPr/>
        <p:nvPr/>
      </p:nvGrpSpPr>
      <p:grpSpPr>
        <a:xfrm>
          <a:off x="0" y="0"/>
          <a:ext cx="0" cy="0"/>
          <a:chOff x="0" y="0"/>
          <a:chExt cx="0" cy="0"/>
        </a:xfrm>
      </p:grpSpPr>
      <p:sp>
        <p:nvSpPr>
          <p:cNvPr id="78" name="Text 0"/>
          <p:cNvSpPr/>
          <p:nvPr/>
        </p:nvSpPr>
        <p:spPr>
          <a:xfrm>
            <a:off x="658440" y="384120"/>
            <a:ext cx="7772040" cy="20088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150" spc="117" strike="noStrike">
                <a:solidFill>
                  <a:srgbClr val="006d68"/>
                </a:solidFill>
                <a:latin typeface="Arial"/>
                <a:ea typeface="Arial"/>
              </a:rPr>
              <a:t>WHAT / THE HUMAN CHECKPOINT</a:t>
            </a:r>
            <a:endParaRPr b="0" lang="en-US" sz="1150" spc="-1" strike="noStrike">
              <a:latin typeface="Arial"/>
            </a:endParaRPr>
          </a:p>
        </p:txBody>
      </p:sp>
      <p:sp>
        <p:nvSpPr>
          <p:cNvPr id="79" name="Text 1"/>
          <p:cNvSpPr/>
          <p:nvPr/>
        </p:nvSpPr>
        <p:spPr>
          <a:xfrm>
            <a:off x="9464040" y="365760"/>
            <a:ext cx="2075400" cy="255600"/>
          </a:xfrm>
          <a:prstGeom prst="rect">
            <a:avLst/>
          </a:prstGeom>
          <a:noFill/>
          <a:ln w="0">
            <a:noFill/>
          </a:ln>
        </p:spPr>
        <p:style>
          <a:lnRef idx="0"/>
          <a:fillRef idx="0"/>
          <a:effectRef idx="0"/>
          <a:fontRef idx="minor"/>
        </p:style>
        <p:txBody>
          <a:bodyPr lIns="0" rIns="0" tIns="0" bIns="0" anchor="ctr">
            <a:noAutofit/>
          </a:bodyPr>
          <a:p>
            <a:pPr algn="r">
              <a:lnSpc>
                <a:spcPct val="100000"/>
              </a:lnSpc>
              <a:buNone/>
              <a:tabLst>
                <a:tab algn="l" pos="0"/>
              </a:tabLst>
            </a:pPr>
            <a:r>
              <a:rPr b="1" lang="en-US" sz="1500" spc="-1" strike="noStrike">
                <a:solidFill>
                  <a:srgbClr val="10243a"/>
                </a:solidFill>
                <a:latin typeface="Arial"/>
                <a:ea typeface="Arial"/>
              </a:rPr>
              <a:t>countersign.</a:t>
            </a:r>
            <a:endParaRPr b="0" lang="en-US" sz="1500" spc="-1" strike="noStrike">
              <a:latin typeface="Arial"/>
            </a:endParaRPr>
          </a:p>
        </p:txBody>
      </p:sp>
      <p:sp>
        <p:nvSpPr>
          <p:cNvPr id="80" name="Shape 2"/>
          <p:cNvSpPr/>
          <p:nvPr/>
        </p:nvSpPr>
        <p:spPr>
          <a:xfrm>
            <a:off x="658080" y="6437160"/>
            <a:ext cx="10872360" cy="360"/>
          </a:xfrm>
          <a:prstGeom prst="line">
            <a:avLst/>
          </a:prstGeom>
          <a:ln w="8890">
            <a:solidFill>
              <a:srgbClr val="dce4ee"/>
            </a:solidFill>
            <a:round/>
          </a:ln>
        </p:spPr>
        <p:style>
          <a:lnRef idx="0"/>
          <a:fillRef idx="0"/>
          <a:effectRef idx="0"/>
          <a:fontRef idx="minor"/>
        </p:style>
      </p:sp>
      <p:sp>
        <p:nvSpPr>
          <p:cNvPr id="81" name="Text 3"/>
          <p:cNvSpPr/>
          <p:nvPr/>
        </p:nvSpPr>
        <p:spPr>
          <a:xfrm>
            <a:off x="676800" y="6537960"/>
            <a:ext cx="8412120" cy="1458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850" spc="109" strike="noStrike">
                <a:solidFill>
                  <a:srgbClr val="54647b"/>
                </a:solidFill>
                <a:latin typeface="Arial"/>
                <a:ea typeface="Arial"/>
              </a:rPr>
              <a:t>HUMAN VERIFICATION FOR WEB APPS</a:t>
            </a:r>
            <a:endParaRPr b="0" lang="en-US" sz="850" spc="-1" strike="noStrike">
              <a:latin typeface="Arial"/>
            </a:endParaRPr>
          </a:p>
        </p:txBody>
      </p:sp>
      <p:sp>
        <p:nvSpPr>
          <p:cNvPr id="82" name="Text 4"/>
          <p:cNvSpPr/>
          <p:nvPr/>
        </p:nvSpPr>
        <p:spPr>
          <a:xfrm>
            <a:off x="11027520" y="6519600"/>
            <a:ext cx="475200" cy="182520"/>
          </a:xfrm>
          <a:prstGeom prst="rect">
            <a:avLst/>
          </a:prstGeom>
          <a:noFill/>
          <a:ln w="0">
            <a:noFill/>
          </a:ln>
        </p:spPr>
        <p:style>
          <a:lnRef idx="0"/>
          <a:fillRef idx="0"/>
          <a:effectRef idx="0"/>
          <a:fontRef idx="minor"/>
        </p:style>
        <p:txBody>
          <a:bodyPr lIns="0" rIns="0" tIns="0" bIns="0" anchor="ctr">
            <a:noAutofit/>
          </a:bodyPr>
          <a:p>
            <a:pPr algn="r">
              <a:lnSpc>
                <a:spcPct val="100000"/>
              </a:lnSpc>
              <a:buNone/>
              <a:tabLst>
                <a:tab algn="l" pos="0"/>
              </a:tabLst>
            </a:pPr>
            <a:r>
              <a:rPr b="0" lang="en-US" sz="1000" spc="-1" strike="noStrike">
                <a:solidFill>
                  <a:srgbClr val="54647b"/>
                </a:solidFill>
                <a:latin typeface="Arial"/>
                <a:ea typeface="Arial"/>
              </a:rPr>
              <a:t>02</a:t>
            </a:r>
            <a:endParaRPr b="0" lang="en-US" sz="1000" spc="-1" strike="noStrike">
              <a:latin typeface="Arial"/>
            </a:endParaRPr>
          </a:p>
        </p:txBody>
      </p:sp>
      <p:sp>
        <p:nvSpPr>
          <p:cNvPr id="83" name="Text 5"/>
          <p:cNvSpPr/>
          <p:nvPr/>
        </p:nvSpPr>
        <p:spPr>
          <a:xfrm>
            <a:off x="667440" y="914400"/>
            <a:ext cx="9600840" cy="75852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4900" spc="-1" strike="noStrike">
                <a:solidFill>
                  <a:srgbClr val="10243a"/>
                </a:solidFill>
                <a:latin typeface="Arial"/>
                <a:ea typeface="Arial"/>
              </a:rPr>
              <a:t>Countersign.</a:t>
            </a:r>
            <a:endParaRPr b="0" lang="en-US" sz="4900" spc="-1" strike="noStrike">
              <a:latin typeface="Arial"/>
            </a:endParaRPr>
          </a:p>
        </p:txBody>
      </p:sp>
      <p:sp>
        <p:nvSpPr>
          <p:cNvPr id="84" name="Text 6"/>
          <p:cNvSpPr/>
          <p:nvPr/>
        </p:nvSpPr>
        <p:spPr>
          <a:xfrm>
            <a:off x="694800" y="1874520"/>
            <a:ext cx="10606680" cy="43848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2500" spc="-1" strike="noStrike">
                <a:solidFill>
                  <a:srgbClr val="006d68"/>
                </a:solidFill>
                <a:latin typeface="Arial"/>
                <a:ea typeface="Arial"/>
              </a:rPr>
              <a:t>AI where it helps. Humans where it matters.</a:t>
            </a:r>
            <a:endParaRPr b="0" lang="en-US" sz="2500" spc="-1" strike="noStrike">
              <a:latin typeface="Arial"/>
            </a:endParaRPr>
          </a:p>
        </p:txBody>
      </p:sp>
      <p:sp>
        <p:nvSpPr>
          <p:cNvPr id="85" name="Shape 7"/>
          <p:cNvSpPr/>
          <p:nvPr/>
        </p:nvSpPr>
        <p:spPr>
          <a:xfrm>
            <a:off x="3373920" y="4160520"/>
            <a:ext cx="978480" cy="360"/>
          </a:xfrm>
          <a:prstGeom prst="line">
            <a:avLst/>
          </a:prstGeom>
          <a:ln w="30480">
            <a:solidFill>
              <a:srgbClr val="006d68"/>
            </a:solidFill>
            <a:round/>
            <a:tailEnd len="med" type="triangle" w="med"/>
          </a:ln>
        </p:spPr>
        <p:style>
          <a:lnRef idx="0"/>
          <a:fillRef idx="0"/>
          <a:effectRef idx="0"/>
          <a:fontRef idx="minor"/>
        </p:style>
      </p:sp>
      <p:sp>
        <p:nvSpPr>
          <p:cNvPr id="86" name="Shape 8"/>
          <p:cNvSpPr/>
          <p:nvPr/>
        </p:nvSpPr>
        <p:spPr>
          <a:xfrm>
            <a:off x="7818120" y="4160520"/>
            <a:ext cx="914400" cy="360"/>
          </a:xfrm>
          <a:prstGeom prst="line">
            <a:avLst/>
          </a:prstGeom>
          <a:ln w="30480">
            <a:solidFill>
              <a:srgbClr val="006d68"/>
            </a:solidFill>
            <a:round/>
            <a:tailEnd len="med" type="triangle" w="med"/>
          </a:ln>
        </p:spPr>
        <p:style>
          <a:lnRef idx="0"/>
          <a:fillRef idx="0"/>
          <a:effectRef idx="0"/>
          <a:fontRef idx="minor"/>
        </p:style>
      </p:sp>
      <p:sp>
        <p:nvSpPr>
          <p:cNvPr id="87" name="Shape 9"/>
          <p:cNvSpPr/>
          <p:nvPr/>
        </p:nvSpPr>
        <p:spPr>
          <a:xfrm>
            <a:off x="704160" y="3319200"/>
            <a:ext cx="2697120" cy="1746000"/>
          </a:xfrm>
          <a:prstGeom prst="roundRect">
            <a:avLst>
              <a:gd name="adj" fmla="val 6283"/>
            </a:avLst>
          </a:prstGeom>
          <a:solidFill>
            <a:srgbClr val="ffffff"/>
          </a:solidFill>
          <a:ln w="12700">
            <a:solidFill>
              <a:srgbClr val="dce4ee"/>
            </a:solidFill>
            <a:round/>
          </a:ln>
        </p:spPr>
        <p:style>
          <a:lnRef idx="0"/>
          <a:fillRef idx="0"/>
          <a:effectRef idx="0"/>
          <a:fontRef idx="minor"/>
        </p:style>
      </p:sp>
      <p:sp>
        <p:nvSpPr>
          <p:cNvPr id="88" name="Shape 10"/>
          <p:cNvSpPr/>
          <p:nvPr/>
        </p:nvSpPr>
        <p:spPr>
          <a:xfrm>
            <a:off x="4416480" y="2862000"/>
            <a:ext cx="3373920" cy="2651400"/>
          </a:xfrm>
          <a:prstGeom prst="roundRect">
            <a:avLst>
              <a:gd name="adj" fmla="val 4138"/>
            </a:avLst>
          </a:prstGeom>
          <a:solidFill>
            <a:srgbClr val="bcf58a"/>
          </a:solidFill>
          <a:ln w="12700">
            <a:solidFill>
              <a:srgbClr val="bcf58a"/>
            </a:solidFill>
            <a:round/>
          </a:ln>
        </p:spPr>
        <p:style>
          <a:lnRef idx="0"/>
          <a:fillRef idx="0"/>
          <a:effectRef idx="0"/>
          <a:fontRef idx="minor"/>
        </p:style>
      </p:sp>
      <p:sp>
        <p:nvSpPr>
          <p:cNvPr id="89" name="Shape 11"/>
          <p:cNvSpPr/>
          <p:nvPr/>
        </p:nvSpPr>
        <p:spPr>
          <a:xfrm>
            <a:off x="8805600" y="3319200"/>
            <a:ext cx="2697120" cy="1746000"/>
          </a:xfrm>
          <a:prstGeom prst="roundRect">
            <a:avLst>
              <a:gd name="adj" fmla="val 6283"/>
            </a:avLst>
          </a:prstGeom>
          <a:solidFill>
            <a:srgbClr val="ffffff"/>
          </a:solidFill>
          <a:ln w="12700">
            <a:solidFill>
              <a:srgbClr val="dce4ee"/>
            </a:solidFill>
            <a:round/>
          </a:ln>
        </p:spPr>
        <p:style>
          <a:lnRef idx="0"/>
          <a:fillRef idx="0"/>
          <a:effectRef idx="0"/>
          <a:fontRef idx="minor"/>
        </p:style>
      </p:sp>
      <p:sp>
        <p:nvSpPr>
          <p:cNvPr id="90" name="Shape 12"/>
          <p:cNvSpPr/>
          <p:nvPr/>
        </p:nvSpPr>
        <p:spPr>
          <a:xfrm>
            <a:off x="1788480" y="3652560"/>
            <a:ext cx="446400" cy="581400"/>
          </a:xfrm>
          <a:prstGeom prst="roundRect">
            <a:avLst>
              <a:gd name="adj" fmla="val 24570"/>
            </a:avLst>
          </a:prstGeom>
          <a:solidFill>
            <a:srgbClr val="ffffff"/>
          </a:solidFill>
          <a:ln w="25400">
            <a:solidFill>
              <a:srgbClr val="006d68"/>
            </a:solidFill>
            <a:round/>
          </a:ln>
        </p:spPr>
        <p:style>
          <a:lnRef idx="0"/>
          <a:fillRef idx="0"/>
          <a:effectRef idx="0"/>
          <a:fontRef idx="minor"/>
        </p:style>
      </p:sp>
      <p:sp>
        <p:nvSpPr>
          <p:cNvPr id="91" name="Shape 13"/>
          <p:cNvSpPr/>
          <p:nvPr/>
        </p:nvSpPr>
        <p:spPr>
          <a:xfrm>
            <a:off x="1882800" y="3814560"/>
            <a:ext cx="250560" cy="360"/>
          </a:xfrm>
          <a:prstGeom prst="line">
            <a:avLst/>
          </a:prstGeom>
          <a:ln w="25400">
            <a:solidFill>
              <a:srgbClr val="006d68"/>
            </a:solidFill>
            <a:round/>
          </a:ln>
        </p:spPr>
        <p:style>
          <a:lnRef idx="0"/>
          <a:fillRef idx="0"/>
          <a:effectRef idx="0"/>
          <a:fontRef idx="minor"/>
        </p:style>
      </p:sp>
      <p:sp>
        <p:nvSpPr>
          <p:cNvPr id="92" name="Shape 14"/>
          <p:cNvSpPr/>
          <p:nvPr/>
        </p:nvSpPr>
        <p:spPr>
          <a:xfrm>
            <a:off x="1882800" y="3943440"/>
            <a:ext cx="250560" cy="360"/>
          </a:xfrm>
          <a:prstGeom prst="line">
            <a:avLst/>
          </a:prstGeom>
          <a:ln w="25400">
            <a:solidFill>
              <a:srgbClr val="006d68"/>
            </a:solidFill>
            <a:round/>
          </a:ln>
        </p:spPr>
        <p:style>
          <a:lnRef idx="0"/>
          <a:fillRef idx="0"/>
          <a:effectRef idx="0"/>
          <a:fontRef idx="minor"/>
        </p:style>
      </p:sp>
      <p:sp>
        <p:nvSpPr>
          <p:cNvPr id="93" name="Shape 15"/>
          <p:cNvSpPr/>
          <p:nvPr/>
        </p:nvSpPr>
        <p:spPr>
          <a:xfrm>
            <a:off x="1882800" y="4071960"/>
            <a:ext cx="250560" cy="360"/>
          </a:xfrm>
          <a:prstGeom prst="line">
            <a:avLst/>
          </a:prstGeom>
          <a:ln w="25400">
            <a:solidFill>
              <a:srgbClr val="006d68"/>
            </a:solidFill>
            <a:round/>
          </a:ln>
        </p:spPr>
        <p:style>
          <a:lnRef idx="0"/>
          <a:fillRef idx="0"/>
          <a:effectRef idx="0"/>
          <a:fontRef idx="minor"/>
        </p:style>
      </p:sp>
      <p:sp>
        <p:nvSpPr>
          <p:cNvPr id="94" name="Shape 16"/>
          <p:cNvSpPr/>
          <p:nvPr/>
        </p:nvSpPr>
        <p:spPr>
          <a:xfrm>
            <a:off x="6085080" y="3220560"/>
            <a:ext cx="401040" cy="166320"/>
          </a:xfrm>
          <a:prstGeom prst="line">
            <a:avLst/>
          </a:prstGeom>
          <a:ln w="30480">
            <a:solidFill>
              <a:srgbClr val="10243a"/>
            </a:solidFill>
            <a:round/>
          </a:ln>
        </p:spPr>
        <p:style>
          <a:lnRef idx="0"/>
          <a:fillRef idx="0"/>
          <a:effectRef idx="0"/>
          <a:fontRef idx="minor"/>
        </p:style>
      </p:sp>
      <p:sp>
        <p:nvSpPr>
          <p:cNvPr id="95" name="Shape 17"/>
          <p:cNvSpPr/>
          <p:nvPr/>
        </p:nvSpPr>
        <p:spPr>
          <a:xfrm flipH="1">
            <a:off x="6437520" y="3386880"/>
            <a:ext cx="48600" cy="450000"/>
          </a:xfrm>
          <a:prstGeom prst="line">
            <a:avLst/>
          </a:prstGeom>
          <a:ln w="30480">
            <a:solidFill>
              <a:srgbClr val="10243a"/>
            </a:solidFill>
            <a:round/>
          </a:ln>
        </p:spPr>
        <p:style>
          <a:lnRef idx="0"/>
          <a:fillRef idx="0"/>
          <a:effectRef idx="0"/>
          <a:fontRef idx="minor"/>
        </p:style>
      </p:sp>
      <p:sp>
        <p:nvSpPr>
          <p:cNvPr id="96" name="Shape 18"/>
          <p:cNvSpPr/>
          <p:nvPr/>
        </p:nvSpPr>
        <p:spPr>
          <a:xfrm flipH="1">
            <a:off x="6280920" y="3836880"/>
            <a:ext cx="156600" cy="176040"/>
          </a:xfrm>
          <a:prstGeom prst="line">
            <a:avLst/>
          </a:prstGeom>
          <a:ln w="30480">
            <a:solidFill>
              <a:srgbClr val="10243a"/>
            </a:solidFill>
            <a:round/>
          </a:ln>
        </p:spPr>
        <p:style>
          <a:lnRef idx="0"/>
          <a:fillRef idx="0"/>
          <a:effectRef idx="0"/>
          <a:fontRef idx="minor"/>
        </p:style>
      </p:sp>
      <p:sp>
        <p:nvSpPr>
          <p:cNvPr id="97" name="Shape 19"/>
          <p:cNvSpPr/>
          <p:nvPr/>
        </p:nvSpPr>
        <p:spPr>
          <a:xfrm flipH="1">
            <a:off x="6085080" y="4012920"/>
            <a:ext cx="195840" cy="146880"/>
          </a:xfrm>
          <a:prstGeom prst="line">
            <a:avLst/>
          </a:prstGeom>
          <a:ln w="30480">
            <a:solidFill>
              <a:srgbClr val="10243a"/>
            </a:solidFill>
            <a:round/>
          </a:ln>
        </p:spPr>
        <p:style>
          <a:lnRef idx="0"/>
          <a:fillRef idx="0"/>
          <a:effectRef idx="0"/>
          <a:fontRef idx="minor"/>
        </p:style>
      </p:sp>
      <p:sp>
        <p:nvSpPr>
          <p:cNvPr id="98" name="Shape 20"/>
          <p:cNvSpPr/>
          <p:nvPr/>
        </p:nvSpPr>
        <p:spPr>
          <a:xfrm flipH="1" flipV="1">
            <a:off x="5889600" y="4012920"/>
            <a:ext cx="195480" cy="146880"/>
          </a:xfrm>
          <a:prstGeom prst="line">
            <a:avLst/>
          </a:prstGeom>
          <a:ln w="30480">
            <a:solidFill>
              <a:srgbClr val="10243a"/>
            </a:solidFill>
            <a:round/>
          </a:ln>
        </p:spPr>
        <p:style>
          <a:lnRef idx="0"/>
          <a:fillRef idx="0"/>
          <a:effectRef idx="0"/>
          <a:fontRef idx="minor"/>
        </p:style>
      </p:sp>
      <p:sp>
        <p:nvSpPr>
          <p:cNvPr id="99" name="Shape 21"/>
          <p:cNvSpPr/>
          <p:nvPr/>
        </p:nvSpPr>
        <p:spPr>
          <a:xfrm flipH="1" flipV="1">
            <a:off x="5733000" y="3836880"/>
            <a:ext cx="156600" cy="176040"/>
          </a:xfrm>
          <a:prstGeom prst="line">
            <a:avLst/>
          </a:prstGeom>
          <a:ln w="30480">
            <a:solidFill>
              <a:srgbClr val="10243a"/>
            </a:solidFill>
            <a:round/>
          </a:ln>
        </p:spPr>
        <p:style>
          <a:lnRef idx="0"/>
          <a:fillRef idx="0"/>
          <a:effectRef idx="0"/>
          <a:fontRef idx="minor"/>
        </p:style>
      </p:sp>
      <p:sp>
        <p:nvSpPr>
          <p:cNvPr id="100" name="Shape 22"/>
          <p:cNvSpPr/>
          <p:nvPr/>
        </p:nvSpPr>
        <p:spPr>
          <a:xfrm flipH="1" flipV="1">
            <a:off x="5684040" y="3386880"/>
            <a:ext cx="48960" cy="450000"/>
          </a:xfrm>
          <a:prstGeom prst="line">
            <a:avLst/>
          </a:prstGeom>
          <a:ln w="30480">
            <a:solidFill>
              <a:srgbClr val="10243a"/>
            </a:solidFill>
            <a:round/>
          </a:ln>
        </p:spPr>
        <p:style>
          <a:lnRef idx="0"/>
          <a:fillRef idx="0"/>
          <a:effectRef idx="0"/>
          <a:fontRef idx="minor"/>
        </p:style>
      </p:sp>
      <p:sp>
        <p:nvSpPr>
          <p:cNvPr id="101" name="Shape 23"/>
          <p:cNvSpPr/>
          <p:nvPr/>
        </p:nvSpPr>
        <p:spPr>
          <a:xfrm flipV="1">
            <a:off x="5684040" y="3220560"/>
            <a:ext cx="401040" cy="166320"/>
          </a:xfrm>
          <a:prstGeom prst="line">
            <a:avLst/>
          </a:prstGeom>
          <a:ln w="30480">
            <a:solidFill>
              <a:srgbClr val="10243a"/>
            </a:solidFill>
            <a:round/>
          </a:ln>
        </p:spPr>
        <p:style>
          <a:lnRef idx="0"/>
          <a:fillRef idx="0"/>
          <a:effectRef idx="0"/>
          <a:fontRef idx="minor"/>
        </p:style>
      </p:sp>
      <p:sp>
        <p:nvSpPr>
          <p:cNvPr id="102" name="Shape 24"/>
          <p:cNvSpPr/>
          <p:nvPr/>
        </p:nvSpPr>
        <p:spPr>
          <a:xfrm>
            <a:off x="5889600" y="3690000"/>
            <a:ext cx="146520" cy="156600"/>
          </a:xfrm>
          <a:prstGeom prst="line">
            <a:avLst/>
          </a:prstGeom>
          <a:ln w="33020">
            <a:solidFill>
              <a:srgbClr val="10243a"/>
            </a:solidFill>
            <a:round/>
          </a:ln>
        </p:spPr>
        <p:style>
          <a:lnRef idx="0"/>
          <a:fillRef idx="0"/>
          <a:effectRef idx="0"/>
          <a:fontRef idx="minor"/>
        </p:style>
      </p:sp>
      <p:sp>
        <p:nvSpPr>
          <p:cNvPr id="103" name="Shape 25"/>
          <p:cNvSpPr/>
          <p:nvPr/>
        </p:nvSpPr>
        <p:spPr>
          <a:xfrm flipV="1">
            <a:off x="6036120" y="3543480"/>
            <a:ext cx="273960" cy="303120"/>
          </a:xfrm>
          <a:prstGeom prst="line">
            <a:avLst/>
          </a:prstGeom>
          <a:ln w="33020">
            <a:solidFill>
              <a:srgbClr val="10243a"/>
            </a:solidFill>
            <a:round/>
          </a:ln>
        </p:spPr>
        <p:style>
          <a:lnRef idx="0"/>
          <a:fillRef idx="0"/>
          <a:effectRef idx="0"/>
          <a:fontRef idx="minor"/>
        </p:style>
      </p:sp>
      <p:sp>
        <p:nvSpPr>
          <p:cNvPr id="104" name="Shape 26"/>
          <p:cNvSpPr/>
          <p:nvPr/>
        </p:nvSpPr>
        <p:spPr>
          <a:xfrm>
            <a:off x="9935640" y="3652560"/>
            <a:ext cx="446400" cy="581400"/>
          </a:xfrm>
          <a:prstGeom prst="roundRect">
            <a:avLst>
              <a:gd name="adj" fmla="val 24570"/>
            </a:avLst>
          </a:prstGeom>
          <a:solidFill>
            <a:srgbClr val="ffffff"/>
          </a:solidFill>
          <a:ln w="25400">
            <a:solidFill>
              <a:srgbClr val="006d68"/>
            </a:solidFill>
            <a:round/>
          </a:ln>
        </p:spPr>
        <p:style>
          <a:lnRef idx="0"/>
          <a:fillRef idx="0"/>
          <a:effectRef idx="0"/>
          <a:fontRef idx="minor"/>
        </p:style>
      </p:sp>
      <p:sp>
        <p:nvSpPr>
          <p:cNvPr id="105" name="Shape 27"/>
          <p:cNvSpPr/>
          <p:nvPr/>
        </p:nvSpPr>
        <p:spPr>
          <a:xfrm>
            <a:off x="10030320" y="3814560"/>
            <a:ext cx="250200" cy="360"/>
          </a:xfrm>
          <a:prstGeom prst="line">
            <a:avLst/>
          </a:prstGeom>
          <a:ln w="25400">
            <a:solidFill>
              <a:srgbClr val="006d68"/>
            </a:solidFill>
            <a:round/>
          </a:ln>
        </p:spPr>
        <p:style>
          <a:lnRef idx="0"/>
          <a:fillRef idx="0"/>
          <a:effectRef idx="0"/>
          <a:fontRef idx="minor"/>
        </p:style>
      </p:sp>
      <p:sp>
        <p:nvSpPr>
          <p:cNvPr id="106" name="Shape 28"/>
          <p:cNvSpPr/>
          <p:nvPr/>
        </p:nvSpPr>
        <p:spPr>
          <a:xfrm>
            <a:off x="10030320" y="3943440"/>
            <a:ext cx="250200" cy="360"/>
          </a:xfrm>
          <a:prstGeom prst="line">
            <a:avLst/>
          </a:prstGeom>
          <a:ln w="25400">
            <a:solidFill>
              <a:srgbClr val="006d68"/>
            </a:solidFill>
            <a:round/>
          </a:ln>
        </p:spPr>
        <p:style>
          <a:lnRef idx="0"/>
          <a:fillRef idx="0"/>
          <a:effectRef idx="0"/>
          <a:fontRef idx="minor"/>
        </p:style>
      </p:sp>
      <p:sp>
        <p:nvSpPr>
          <p:cNvPr id="107" name="Shape 29"/>
          <p:cNvSpPr/>
          <p:nvPr/>
        </p:nvSpPr>
        <p:spPr>
          <a:xfrm>
            <a:off x="10030320" y="4071960"/>
            <a:ext cx="169200" cy="360"/>
          </a:xfrm>
          <a:prstGeom prst="line">
            <a:avLst/>
          </a:prstGeom>
          <a:ln w="25400">
            <a:solidFill>
              <a:srgbClr val="006d68"/>
            </a:solidFill>
            <a:round/>
          </a:ln>
        </p:spPr>
        <p:style>
          <a:lnRef idx="0"/>
          <a:fillRef idx="0"/>
          <a:effectRef idx="0"/>
          <a:fontRef idx="minor"/>
        </p:style>
      </p:sp>
      <p:sp>
        <p:nvSpPr>
          <p:cNvPr id="108" name="Text 30"/>
          <p:cNvSpPr/>
          <p:nvPr/>
        </p:nvSpPr>
        <p:spPr>
          <a:xfrm>
            <a:off x="951120" y="4507920"/>
            <a:ext cx="2194200" cy="34704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2200" spc="-1" strike="noStrike">
                <a:solidFill>
                  <a:srgbClr val="18283d"/>
                </a:solidFill>
                <a:latin typeface="Arial"/>
                <a:ea typeface="Arial"/>
              </a:rPr>
              <a:t>Action</a:t>
            </a:r>
            <a:endParaRPr b="0" lang="en-US" sz="2200" spc="-1" strike="noStrike">
              <a:latin typeface="Arial"/>
            </a:endParaRPr>
          </a:p>
        </p:txBody>
      </p:sp>
      <p:sp>
        <p:nvSpPr>
          <p:cNvPr id="109" name="Text 31"/>
          <p:cNvSpPr/>
          <p:nvPr/>
        </p:nvSpPr>
        <p:spPr>
          <a:xfrm>
            <a:off x="4608720" y="4434840"/>
            <a:ext cx="2980440" cy="79524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2300" spc="-1" strike="noStrike">
                <a:solidFill>
                  <a:srgbClr val="10243a"/>
                </a:solidFill>
                <a:latin typeface="Arial"/>
                <a:ea typeface="Arial"/>
              </a:rPr>
              <a:t>Human</a:t>
            </a:r>
            <a:endParaRPr b="0" lang="en-US" sz="2300" spc="-1" strike="noStrike">
              <a:latin typeface="Arial"/>
            </a:endParaRPr>
          </a:p>
          <a:p>
            <a:pPr algn="ctr">
              <a:lnSpc>
                <a:spcPct val="100000"/>
              </a:lnSpc>
              <a:buNone/>
              <a:tabLst>
                <a:tab algn="l" pos="0"/>
              </a:tabLst>
            </a:pPr>
            <a:r>
              <a:rPr b="1" lang="en-US" sz="2300" spc="-1" strike="noStrike">
                <a:solidFill>
                  <a:srgbClr val="10243a"/>
                </a:solidFill>
                <a:latin typeface="Arial"/>
                <a:ea typeface="Arial"/>
              </a:rPr>
              <a:t>confirmation</a:t>
            </a:r>
            <a:endParaRPr b="0" lang="en-US" sz="2300" spc="-1" strike="noStrike">
              <a:latin typeface="Arial"/>
            </a:endParaRPr>
          </a:p>
        </p:txBody>
      </p:sp>
      <p:sp>
        <p:nvSpPr>
          <p:cNvPr id="110" name="Text 32"/>
          <p:cNvSpPr/>
          <p:nvPr/>
        </p:nvSpPr>
        <p:spPr>
          <a:xfrm>
            <a:off x="8942760" y="4507920"/>
            <a:ext cx="2422800" cy="34704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1950" spc="-1" strike="noStrike">
                <a:solidFill>
                  <a:srgbClr val="18283d"/>
                </a:solidFill>
                <a:latin typeface="Arial"/>
                <a:ea typeface="Arial"/>
              </a:rPr>
              <a:t>Decision record</a:t>
            </a:r>
            <a:endParaRPr b="0" lang="en-US" sz="1950" spc="-1" strike="noStrike">
              <a:latin typeface="Arial"/>
            </a:endParaRPr>
          </a:p>
        </p:txBody>
      </p:sp>
      <p:sp>
        <p:nvSpPr>
          <p:cNvPr id="111" name="Text 33"/>
          <p:cNvSpPr/>
          <p:nvPr/>
        </p:nvSpPr>
        <p:spPr>
          <a:xfrm>
            <a:off x="685800" y="5888880"/>
            <a:ext cx="7863480" cy="2739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1700" spc="-1" strike="noStrike">
                <a:solidFill>
                  <a:srgbClr val="54647b"/>
                </a:solidFill>
                <a:latin typeface="Arial"/>
                <a:ea typeface="Arial"/>
              </a:rPr>
              <a:t>A challenge. A human response.</a:t>
            </a:r>
            <a:endParaRPr b="0" lang="en-US" sz="1700" spc="-1" strike="noStrike">
              <a:latin typeface="Arial"/>
            </a:endParaRPr>
          </a:p>
        </p:txBody>
      </p:sp>
      <p:sp>
        <p:nvSpPr>
          <p:cNvPr id="112" name="Shape 34"/>
          <p:cNvSpPr/>
          <p:nvPr/>
        </p:nvSpPr>
        <p:spPr>
          <a:xfrm>
            <a:off x="8778240" y="5788080"/>
            <a:ext cx="2715480" cy="383760"/>
          </a:xfrm>
          <a:prstGeom prst="roundRect">
            <a:avLst>
              <a:gd name="adj" fmla="val 28571"/>
            </a:avLst>
          </a:prstGeom>
          <a:solidFill>
            <a:srgbClr val="eaf4ef"/>
          </a:solidFill>
          <a:ln w="12700">
            <a:solidFill>
              <a:srgbClr val="eaf4ef"/>
            </a:solidFill>
            <a:round/>
          </a:ln>
        </p:spPr>
        <p:style>
          <a:lnRef idx="0"/>
          <a:fillRef idx="0"/>
          <a:effectRef idx="0"/>
          <a:fontRef idx="minor"/>
        </p:style>
      </p:sp>
      <p:sp>
        <p:nvSpPr>
          <p:cNvPr id="113" name="Text 35"/>
          <p:cNvSpPr/>
          <p:nvPr/>
        </p:nvSpPr>
        <p:spPr>
          <a:xfrm>
            <a:off x="8860680" y="5806440"/>
            <a:ext cx="2550960" cy="33804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1230" spc="-1" strike="noStrike">
                <a:solidFill>
                  <a:srgbClr val="006d68"/>
                </a:solidFill>
                <a:latin typeface="Arial"/>
                <a:ea typeface="Arial"/>
              </a:rPr>
              <a:t>WebAuthn / passkeys</a:t>
            </a:r>
            <a:endParaRPr b="0" lang="en-US" sz="1230" spc="-1" strike="noStrike">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3f6fa"/>
        </a:solidFill>
      </p:bgPr>
    </p:bg>
    <p:spTree>
      <p:nvGrpSpPr>
        <p:cNvPr id="1" name=""/>
        <p:cNvGrpSpPr/>
        <p:nvPr/>
      </p:nvGrpSpPr>
      <p:grpSpPr>
        <a:xfrm>
          <a:off x="0" y="0"/>
          <a:ext cx="0" cy="0"/>
          <a:chOff x="0" y="0"/>
          <a:chExt cx="0" cy="0"/>
        </a:xfrm>
      </p:grpSpPr>
      <p:sp>
        <p:nvSpPr>
          <p:cNvPr id="114" name="Text 0"/>
          <p:cNvSpPr/>
          <p:nvPr/>
        </p:nvSpPr>
        <p:spPr>
          <a:xfrm>
            <a:off x="658440" y="384120"/>
            <a:ext cx="7772040" cy="20088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150" spc="117" strike="noStrike">
                <a:solidFill>
                  <a:srgbClr val="006d68"/>
                </a:solidFill>
                <a:latin typeface="Arial"/>
                <a:ea typeface="Arial"/>
              </a:rPr>
              <a:t>SO WHAT / THE DEMO</a:t>
            </a:r>
            <a:endParaRPr b="0" lang="en-US" sz="1150" spc="-1" strike="noStrike">
              <a:latin typeface="Arial"/>
            </a:endParaRPr>
          </a:p>
        </p:txBody>
      </p:sp>
      <p:sp>
        <p:nvSpPr>
          <p:cNvPr id="115" name="Text 1"/>
          <p:cNvSpPr/>
          <p:nvPr/>
        </p:nvSpPr>
        <p:spPr>
          <a:xfrm>
            <a:off x="9464040" y="365760"/>
            <a:ext cx="2075400" cy="255600"/>
          </a:xfrm>
          <a:prstGeom prst="rect">
            <a:avLst/>
          </a:prstGeom>
          <a:noFill/>
          <a:ln w="0">
            <a:noFill/>
          </a:ln>
        </p:spPr>
        <p:style>
          <a:lnRef idx="0"/>
          <a:fillRef idx="0"/>
          <a:effectRef idx="0"/>
          <a:fontRef idx="minor"/>
        </p:style>
        <p:txBody>
          <a:bodyPr lIns="0" rIns="0" tIns="0" bIns="0" anchor="ctr">
            <a:noAutofit/>
          </a:bodyPr>
          <a:p>
            <a:pPr algn="r">
              <a:lnSpc>
                <a:spcPct val="100000"/>
              </a:lnSpc>
              <a:buNone/>
              <a:tabLst>
                <a:tab algn="l" pos="0"/>
              </a:tabLst>
            </a:pPr>
            <a:r>
              <a:rPr b="1" lang="en-US" sz="1500" spc="-1" strike="noStrike">
                <a:solidFill>
                  <a:srgbClr val="10243a"/>
                </a:solidFill>
                <a:latin typeface="Arial"/>
                <a:ea typeface="Arial"/>
              </a:rPr>
              <a:t>countersign.</a:t>
            </a:r>
            <a:endParaRPr b="0" lang="en-US" sz="1500" spc="-1" strike="noStrike">
              <a:latin typeface="Arial"/>
            </a:endParaRPr>
          </a:p>
        </p:txBody>
      </p:sp>
      <p:sp>
        <p:nvSpPr>
          <p:cNvPr id="116" name="Shape 2"/>
          <p:cNvSpPr/>
          <p:nvPr/>
        </p:nvSpPr>
        <p:spPr>
          <a:xfrm>
            <a:off x="658080" y="6437160"/>
            <a:ext cx="10872360" cy="360"/>
          </a:xfrm>
          <a:prstGeom prst="line">
            <a:avLst/>
          </a:prstGeom>
          <a:ln w="8890">
            <a:solidFill>
              <a:srgbClr val="dce4ee"/>
            </a:solidFill>
            <a:round/>
          </a:ln>
        </p:spPr>
        <p:style>
          <a:lnRef idx="0"/>
          <a:fillRef idx="0"/>
          <a:effectRef idx="0"/>
          <a:fontRef idx="minor"/>
        </p:style>
      </p:sp>
      <p:sp>
        <p:nvSpPr>
          <p:cNvPr id="117" name="Text 3"/>
          <p:cNvSpPr/>
          <p:nvPr/>
        </p:nvSpPr>
        <p:spPr>
          <a:xfrm>
            <a:off x="676800" y="6537960"/>
            <a:ext cx="8412120" cy="1458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850" spc="109" strike="noStrike">
                <a:solidFill>
                  <a:srgbClr val="54647b"/>
                </a:solidFill>
                <a:latin typeface="Arial"/>
                <a:ea typeface="Arial"/>
              </a:rPr>
              <a:t>HUMAN VERIFICATION FOR WEB APPS</a:t>
            </a:r>
            <a:endParaRPr b="0" lang="en-US" sz="850" spc="-1" strike="noStrike">
              <a:latin typeface="Arial"/>
            </a:endParaRPr>
          </a:p>
        </p:txBody>
      </p:sp>
      <p:sp>
        <p:nvSpPr>
          <p:cNvPr id="118" name="Text 4"/>
          <p:cNvSpPr/>
          <p:nvPr/>
        </p:nvSpPr>
        <p:spPr>
          <a:xfrm>
            <a:off x="11027520" y="6519600"/>
            <a:ext cx="475200" cy="182520"/>
          </a:xfrm>
          <a:prstGeom prst="rect">
            <a:avLst/>
          </a:prstGeom>
          <a:noFill/>
          <a:ln w="0">
            <a:noFill/>
          </a:ln>
        </p:spPr>
        <p:style>
          <a:lnRef idx="0"/>
          <a:fillRef idx="0"/>
          <a:effectRef idx="0"/>
          <a:fontRef idx="minor"/>
        </p:style>
        <p:txBody>
          <a:bodyPr lIns="0" rIns="0" tIns="0" bIns="0" anchor="ctr">
            <a:noAutofit/>
          </a:bodyPr>
          <a:p>
            <a:pPr algn="r">
              <a:lnSpc>
                <a:spcPct val="100000"/>
              </a:lnSpc>
              <a:buNone/>
              <a:tabLst>
                <a:tab algn="l" pos="0"/>
              </a:tabLst>
            </a:pPr>
            <a:r>
              <a:rPr b="0" lang="en-US" sz="1000" spc="-1" strike="noStrike">
                <a:solidFill>
                  <a:srgbClr val="54647b"/>
                </a:solidFill>
                <a:latin typeface="Arial"/>
                <a:ea typeface="Arial"/>
              </a:rPr>
              <a:t>03</a:t>
            </a:r>
            <a:endParaRPr b="0" lang="en-US" sz="1000" spc="-1" strike="noStrike">
              <a:latin typeface="Arial"/>
            </a:endParaRPr>
          </a:p>
        </p:txBody>
      </p:sp>
      <p:sp>
        <p:nvSpPr>
          <p:cNvPr id="119" name="Text 5"/>
          <p:cNvSpPr/>
          <p:nvPr/>
        </p:nvSpPr>
        <p:spPr>
          <a:xfrm>
            <a:off x="658440" y="969120"/>
            <a:ext cx="10926720" cy="7038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3800" spc="-1" strike="noStrike">
                <a:solidFill>
                  <a:srgbClr val="10243a"/>
                </a:solidFill>
                <a:latin typeface="Arial"/>
                <a:ea typeface="Arial"/>
              </a:rPr>
              <a:t>Same task. Different boundary.</a:t>
            </a:r>
            <a:endParaRPr b="0" lang="en-US" sz="3800" spc="-1" strike="noStrike">
              <a:latin typeface="Arial"/>
            </a:endParaRPr>
          </a:p>
        </p:txBody>
      </p:sp>
      <p:sp>
        <p:nvSpPr>
          <p:cNvPr id="120" name="Text 6"/>
          <p:cNvSpPr/>
          <p:nvPr/>
        </p:nvSpPr>
        <p:spPr>
          <a:xfrm>
            <a:off x="685800" y="1719000"/>
            <a:ext cx="8686440" cy="31968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1800" spc="-1" strike="noStrike">
                <a:solidFill>
                  <a:srgbClr val="54647b"/>
                </a:solidFill>
                <a:latin typeface="Arial"/>
                <a:ea typeface="Arial"/>
              </a:rPr>
              <a:t>ChatGPT extension · Chrome</a:t>
            </a:r>
            <a:endParaRPr b="0" lang="en-US" sz="1800" spc="-1" strike="noStrike">
              <a:latin typeface="Arial"/>
            </a:endParaRPr>
          </a:p>
        </p:txBody>
      </p:sp>
      <p:sp>
        <p:nvSpPr>
          <p:cNvPr id="121" name="Shape 7"/>
          <p:cNvSpPr/>
          <p:nvPr/>
        </p:nvSpPr>
        <p:spPr>
          <a:xfrm>
            <a:off x="685800" y="2258640"/>
            <a:ext cx="10826280" cy="3711960"/>
          </a:xfrm>
          <a:prstGeom prst="roundRect">
            <a:avLst>
              <a:gd name="adj" fmla="val 2956"/>
            </a:avLst>
          </a:prstGeom>
          <a:solidFill>
            <a:srgbClr val="10243a"/>
          </a:solidFill>
          <a:ln w="12700">
            <a:solidFill>
              <a:srgbClr val="10243a"/>
            </a:solidFill>
            <a:round/>
          </a:ln>
        </p:spPr>
        <p:style>
          <a:lnRef idx="0"/>
          <a:fillRef idx="0"/>
          <a:effectRef idx="0"/>
          <a:fontRef idx="minor"/>
        </p:style>
      </p:sp>
      <p:pic>
        <p:nvPicPr>
          <p:cNvPr id="122" name="Image 0" descr="Real governed quiz UI crop; no recorded extension or native prompt."/>
          <p:cNvPicPr/>
          <p:nvPr/>
        </p:nvPicPr>
        <p:blipFill>
          <a:blip r:embed="rId1"/>
          <a:stretch/>
        </p:blipFill>
        <p:spPr>
          <a:xfrm>
            <a:off x="932760" y="2541960"/>
            <a:ext cx="5751360" cy="2934720"/>
          </a:xfrm>
          <a:prstGeom prst="rect">
            <a:avLst/>
          </a:prstGeom>
          <a:ln w="0">
            <a:noFill/>
          </a:ln>
        </p:spPr>
      </p:pic>
      <p:sp>
        <p:nvSpPr>
          <p:cNvPr id="123" name="Text 8"/>
          <p:cNvSpPr/>
          <p:nvPr/>
        </p:nvSpPr>
        <p:spPr>
          <a:xfrm>
            <a:off x="1005840" y="5596200"/>
            <a:ext cx="5668920" cy="18252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1050" spc="-1" strike="noStrike">
                <a:solidFill>
                  <a:srgbClr val="8ca5b6"/>
                </a:solidFill>
                <a:latin typeface="Arial"/>
                <a:ea typeface="Arial"/>
              </a:rPr>
              <a:t>Governed quiz · UI reference</a:t>
            </a:r>
            <a:endParaRPr b="0" lang="en-US" sz="1050" spc="-1" strike="noStrike">
              <a:latin typeface="Arial"/>
            </a:endParaRPr>
          </a:p>
        </p:txBody>
      </p:sp>
      <p:sp>
        <p:nvSpPr>
          <p:cNvPr id="124" name="Shape 9"/>
          <p:cNvSpPr/>
          <p:nvPr/>
        </p:nvSpPr>
        <p:spPr>
          <a:xfrm>
            <a:off x="7095600" y="2541960"/>
            <a:ext cx="1828440" cy="383760"/>
          </a:xfrm>
          <a:prstGeom prst="roundRect">
            <a:avLst>
              <a:gd name="adj" fmla="val 28571"/>
            </a:avLst>
          </a:prstGeom>
          <a:solidFill>
            <a:srgbClr val="17354a"/>
          </a:solidFill>
          <a:ln w="12700">
            <a:solidFill>
              <a:srgbClr val="17354a"/>
            </a:solidFill>
            <a:round/>
          </a:ln>
        </p:spPr>
        <p:style>
          <a:lnRef idx="0"/>
          <a:fillRef idx="0"/>
          <a:effectRef idx="0"/>
          <a:fontRef idx="minor"/>
        </p:style>
      </p:sp>
      <p:sp>
        <p:nvSpPr>
          <p:cNvPr id="125" name="Text 10">
            <a:hlinkClick r:id="rId2"/>
          </p:cNvPr>
          <p:cNvSpPr/>
          <p:nvPr/>
        </p:nvSpPr>
        <p:spPr>
          <a:xfrm>
            <a:off x="7178040" y="2560320"/>
            <a:ext cx="1663920" cy="33804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1230" spc="-1" strike="noStrike" u="sng">
                <a:solidFill>
                  <a:srgbClr val="ffffff"/>
                </a:solidFill>
                <a:uFillTx/>
                <a:latin typeface="Arial"/>
                <a:ea typeface="Arial"/>
                <a:hlinkClick r:id="rId3"/>
              </a:rPr>
              <a:t>Governance off</a:t>
            </a:r>
            <a:endParaRPr b="0" lang="en-US" sz="1230" spc="-1" strike="noStrike">
              <a:latin typeface="Arial"/>
            </a:endParaRPr>
          </a:p>
        </p:txBody>
      </p:sp>
      <p:sp>
        <p:nvSpPr>
          <p:cNvPr id="126" name="Shape 11"/>
          <p:cNvSpPr/>
          <p:nvPr/>
        </p:nvSpPr>
        <p:spPr>
          <a:xfrm>
            <a:off x="9098280" y="2541960"/>
            <a:ext cx="1947240" cy="383760"/>
          </a:xfrm>
          <a:prstGeom prst="roundRect">
            <a:avLst>
              <a:gd name="adj" fmla="val 28571"/>
            </a:avLst>
          </a:prstGeom>
          <a:solidFill>
            <a:srgbClr val="bcf58a"/>
          </a:solidFill>
          <a:ln w="12700">
            <a:solidFill>
              <a:srgbClr val="bcf58a"/>
            </a:solidFill>
            <a:round/>
          </a:ln>
        </p:spPr>
        <p:style>
          <a:lnRef idx="0"/>
          <a:fillRef idx="0"/>
          <a:effectRef idx="0"/>
          <a:fontRef idx="minor"/>
        </p:style>
      </p:sp>
      <p:sp>
        <p:nvSpPr>
          <p:cNvPr id="127" name="Text 12">
            <a:hlinkClick r:id="rId4"/>
          </p:cNvPr>
          <p:cNvSpPr/>
          <p:nvPr/>
        </p:nvSpPr>
        <p:spPr>
          <a:xfrm>
            <a:off x="9180720" y="2560320"/>
            <a:ext cx="1782720" cy="33804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1230" spc="-1" strike="noStrike" u="sng">
                <a:solidFill>
                  <a:srgbClr val="10243a"/>
                </a:solidFill>
                <a:uFillTx/>
                <a:latin typeface="Arial"/>
                <a:ea typeface="Arial"/>
                <a:hlinkClick r:id="rId5"/>
              </a:rPr>
              <a:t>Governance on</a:t>
            </a:r>
            <a:endParaRPr b="0" lang="en-US" sz="1230" spc="-1" strike="noStrike">
              <a:latin typeface="Arial"/>
            </a:endParaRPr>
          </a:p>
        </p:txBody>
      </p:sp>
      <p:sp>
        <p:nvSpPr>
          <p:cNvPr id="128" name="Shape 13"/>
          <p:cNvSpPr/>
          <p:nvPr/>
        </p:nvSpPr>
        <p:spPr>
          <a:xfrm>
            <a:off x="8549640" y="3273480"/>
            <a:ext cx="895680" cy="895680"/>
          </a:xfrm>
          <a:prstGeom prst="ellipse">
            <a:avLst/>
          </a:prstGeom>
          <a:solidFill>
            <a:srgbClr val="17354a"/>
          </a:solidFill>
          <a:ln w="12700">
            <a:solidFill>
              <a:srgbClr val="8ca5b6"/>
            </a:solidFill>
            <a:round/>
          </a:ln>
        </p:spPr>
        <p:style>
          <a:lnRef idx="0"/>
          <a:fillRef idx="0"/>
          <a:effectRef idx="0"/>
          <a:fontRef idx="minor"/>
        </p:style>
      </p:sp>
      <p:sp>
        <p:nvSpPr>
          <p:cNvPr id="129" name="Shape 14"/>
          <p:cNvSpPr/>
          <p:nvPr/>
        </p:nvSpPr>
        <p:spPr>
          <a:xfrm rot="5400000">
            <a:off x="8888040" y="3538440"/>
            <a:ext cx="273960" cy="319680"/>
          </a:xfrm>
          <a:prstGeom prst="triangle">
            <a:avLst>
              <a:gd name="adj" fmla="val 50000"/>
            </a:avLst>
          </a:prstGeom>
          <a:solidFill>
            <a:srgbClr val="bcf58a"/>
          </a:solidFill>
          <a:ln w="12700">
            <a:solidFill>
              <a:srgbClr val="bcf58a"/>
            </a:solidFill>
            <a:round/>
          </a:ln>
        </p:spPr>
        <p:style>
          <a:lnRef idx="0"/>
          <a:fillRef idx="0"/>
          <a:effectRef idx="0"/>
          <a:fontRef idx="minor"/>
        </p:style>
      </p:sp>
      <p:sp>
        <p:nvSpPr>
          <p:cNvPr id="130" name="Text 15"/>
          <p:cNvSpPr/>
          <p:nvPr/>
        </p:nvSpPr>
        <p:spPr>
          <a:xfrm>
            <a:off x="7113960" y="4498920"/>
            <a:ext cx="3977280" cy="40212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2800" spc="-1" strike="noStrike">
                <a:solidFill>
                  <a:srgbClr val="ffffff"/>
                </a:solidFill>
                <a:latin typeface="Arial"/>
                <a:ea typeface="Arial"/>
              </a:rPr>
              <a:t>Live demo</a:t>
            </a:r>
            <a:endParaRPr b="0" lang="en-US" sz="2800" spc="-1" strike="noStrike">
              <a:latin typeface="Arial"/>
            </a:endParaRPr>
          </a:p>
        </p:txBody>
      </p:sp>
      <p:sp>
        <p:nvSpPr>
          <p:cNvPr id="131" name="Text 16"/>
          <p:cNvSpPr/>
          <p:nvPr/>
        </p:nvSpPr>
        <p:spPr>
          <a:xfrm>
            <a:off x="7113960" y="4956120"/>
            <a:ext cx="3977280" cy="30132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0" lang="en-US" sz="1700" spc="-1" strike="noStrike">
                <a:solidFill>
                  <a:srgbClr val="8ca5b6"/>
                </a:solidFill>
                <a:latin typeface="Arial"/>
                <a:ea typeface="Arial"/>
              </a:rPr>
              <a:t>or insert your recording</a:t>
            </a:r>
            <a:endParaRPr b="0" lang="en-US" sz="1700" spc="-1" strike="noStrike">
              <a:latin typeface="Arial"/>
            </a:endParaRPr>
          </a:p>
        </p:txBody>
      </p:sp>
      <p:sp>
        <p:nvSpPr>
          <p:cNvPr id="132" name="Text 17"/>
          <p:cNvSpPr/>
          <p:nvPr/>
        </p:nvSpPr>
        <p:spPr>
          <a:xfrm>
            <a:off x="7013520" y="5550480"/>
            <a:ext cx="4187520" cy="20088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0" lang="en-US" sz="1220" spc="-1" strike="noStrike">
                <a:solidFill>
                  <a:srgbClr val="bcf58a"/>
                </a:solidFill>
                <a:latin typeface="Arial"/>
                <a:ea typeface="Arial"/>
              </a:rPr>
              <a:t>Prepare → Confirm → Inspect proof</a:t>
            </a:r>
            <a:endParaRPr b="0" lang="en-US" sz="1220" spc="-1" strike="noStrike">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3f6fa"/>
        </a:solidFill>
      </p:bgPr>
    </p:bg>
    <p:spTree>
      <p:nvGrpSpPr>
        <p:cNvPr id="1" name=""/>
        <p:cNvGrpSpPr/>
        <p:nvPr/>
      </p:nvGrpSpPr>
      <p:grpSpPr>
        <a:xfrm>
          <a:off x="0" y="0"/>
          <a:ext cx="0" cy="0"/>
          <a:chOff x="0" y="0"/>
          <a:chExt cx="0" cy="0"/>
        </a:xfrm>
      </p:grpSpPr>
      <p:sp>
        <p:nvSpPr>
          <p:cNvPr id="133" name="Text 0"/>
          <p:cNvSpPr/>
          <p:nvPr/>
        </p:nvSpPr>
        <p:spPr>
          <a:xfrm>
            <a:off x="658440" y="384120"/>
            <a:ext cx="7772040" cy="20088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150" spc="117" strike="noStrike">
                <a:solidFill>
                  <a:srgbClr val="006d68"/>
                </a:solidFill>
                <a:latin typeface="Arial"/>
                <a:ea typeface="Arial"/>
              </a:rPr>
              <a:t>SO WHAT / ACCOUNTABLE PARTICIPATION</a:t>
            </a:r>
            <a:endParaRPr b="0" lang="en-US" sz="1150" spc="-1" strike="noStrike">
              <a:latin typeface="Arial"/>
            </a:endParaRPr>
          </a:p>
        </p:txBody>
      </p:sp>
      <p:sp>
        <p:nvSpPr>
          <p:cNvPr id="134" name="Text 1"/>
          <p:cNvSpPr/>
          <p:nvPr/>
        </p:nvSpPr>
        <p:spPr>
          <a:xfrm>
            <a:off x="9464040" y="365760"/>
            <a:ext cx="2075400" cy="255600"/>
          </a:xfrm>
          <a:prstGeom prst="rect">
            <a:avLst/>
          </a:prstGeom>
          <a:noFill/>
          <a:ln w="0">
            <a:noFill/>
          </a:ln>
        </p:spPr>
        <p:style>
          <a:lnRef idx="0"/>
          <a:fillRef idx="0"/>
          <a:effectRef idx="0"/>
          <a:fontRef idx="minor"/>
        </p:style>
        <p:txBody>
          <a:bodyPr lIns="0" rIns="0" tIns="0" bIns="0" anchor="ctr">
            <a:noAutofit/>
          </a:bodyPr>
          <a:p>
            <a:pPr algn="r">
              <a:lnSpc>
                <a:spcPct val="100000"/>
              </a:lnSpc>
              <a:buNone/>
              <a:tabLst>
                <a:tab algn="l" pos="0"/>
              </a:tabLst>
            </a:pPr>
            <a:r>
              <a:rPr b="1" lang="en-US" sz="1500" spc="-1" strike="noStrike">
                <a:solidFill>
                  <a:srgbClr val="10243a"/>
                </a:solidFill>
                <a:latin typeface="Arial"/>
                <a:ea typeface="Arial"/>
              </a:rPr>
              <a:t>countersign.</a:t>
            </a:r>
            <a:endParaRPr b="0" lang="en-US" sz="1500" spc="-1" strike="noStrike">
              <a:latin typeface="Arial"/>
            </a:endParaRPr>
          </a:p>
        </p:txBody>
      </p:sp>
      <p:sp>
        <p:nvSpPr>
          <p:cNvPr id="135" name="Shape 2"/>
          <p:cNvSpPr/>
          <p:nvPr/>
        </p:nvSpPr>
        <p:spPr>
          <a:xfrm>
            <a:off x="658080" y="6437160"/>
            <a:ext cx="10872360" cy="360"/>
          </a:xfrm>
          <a:prstGeom prst="line">
            <a:avLst/>
          </a:prstGeom>
          <a:ln w="8890">
            <a:solidFill>
              <a:srgbClr val="dce4ee"/>
            </a:solidFill>
            <a:round/>
          </a:ln>
        </p:spPr>
        <p:style>
          <a:lnRef idx="0"/>
          <a:fillRef idx="0"/>
          <a:effectRef idx="0"/>
          <a:fontRef idx="minor"/>
        </p:style>
      </p:sp>
      <p:sp>
        <p:nvSpPr>
          <p:cNvPr id="136" name="Text 3"/>
          <p:cNvSpPr/>
          <p:nvPr/>
        </p:nvSpPr>
        <p:spPr>
          <a:xfrm>
            <a:off x="676800" y="6537960"/>
            <a:ext cx="8412120" cy="1458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850" spc="109" strike="noStrike">
                <a:solidFill>
                  <a:srgbClr val="54647b"/>
                </a:solidFill>
                <a:latin typeface="Arial"/>
                <a:ea typeface="Arial"/>
              </a:rPr>
              <a:t>HUMAN VERIFICATION FOR WEB APPS</a:t>
            </a:r>
            <a:endParaRPr b="0" lang="en-US" sz="850" spc="-1" strike="noStrike">
              <a:latin typeface="Arial"/>
            </a:endParaRPr>
          </a:p>
        </p:txBody>
      </p:sp>
      <p:sp>
        <p:nvSpPr>
          <p:cNvPr id="137" name="Text 4"/>
          <p:cNvSpPr/>
          <p:nvPr/>
        </p:nvSpPr>
        <p:spPr>
          <a:xfrm>
            <a:off x="11027520" y="6519600"/>
            <a:ext cx="475200" cy="182520"/>
          </a:xfrm>
          <a:prstGeom prst="rect">
            <a:avLst/>
          </a:prstGeom>
          <a:noFill/>
          <a:ln w="0">
            <a:noFill/>
          </a:ln>
        </p:spPr>
        <p:style>
          <a:lnRef idx="0"/>
          <a:fillRef idx="0"/>
          <a:effectRef idx="0"/>
          <a:fontRef idx="minor"/>
        </p:style>
        <p:txBody>
          <a:bodyPr lIns="0" rIns="0" tIns="0" bIns="0" anchor="ctr">
            <a:noAutofit/>
          </a:bodyPr>
          <a:p>
            <a:pPr algn="r">
              <a:lnSpc>
                <a:spcPct val="100000"/>
              </a:lnSpc>
              <a:buNone/>
              <a:tabLst>
                <a:tab algn="l" pos="0"/>
              </a:tabLst>
            </a:pPr>
            <a:r>
              <a:rPr b="0" lang="en-US" sz="1000" spc="-1" strike="noStrike">
                <a:solidFill>
                  <a:srgbClr val="54647b"/>
                </a:solidFill>
                <a:latin typeface="Arial"/>
                <a:ea typeface="Arial"/>
              </a:rPr>
              <a:t>04</a:t>
            </a:r>
            <a:endParaRPr b="0" lang="en-US" sz="1000" spc="-1" strike="noStrike">
              <a:latin typeface="Arial"/>
            </a:endParaRPr>
          </a:p>
        </p:txBody>
      </p:sp>
      <p:sp>
        <p:nvSpPr>
          <p:cNvPr id="138" name="Text 5"/>
          <p:cNvSpPr/>
          <p:nvPr/>
        </p:nvSpPr>
        <p:spPr>
          <a:xfrm>
            <a:off x="658440" y="969120"/>
            <a:ext cx="10926720" cy="7038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3800" spc="-1" strike="noStrike">
                <a:solidFill>
                  <a:srgbClr val="10243a"/>
                </a:solidFill>
                <a:latin typeface="Arial"/>
                <a:ea typeface="Arial"/>
              </a:rPr>
              <a:t>Participation ≠ authorship.</a:t>
            </a:r>
            <a:endParaRPr b="0" lang="en-US" sz="3800" spc="-1" strike="noStrike">
              <a:latin typeface="Arial"/>
            </a:endParaRPr>
          </a:p>
        </p:txBody>
      </p:sp>
      <p:sp>
        <p:nvSpPr>
          <p:cNvPr id="139" name="Shape 6"/>
          <p:cNvSpPr/>
          <p:nvPr/>
        </p:nvSpPr>
        <p:spPr>
          <a:xfrm>
            <a:off x="685800" y="2048400"/>
            <a:ext cx="7269120" cy="3776040"/>
          </a:xfrm>
          <a:prstGeom prst="roundRect">
            <a:avLst>
              <a:gd name="adj" fmla="val 2906"/>
            </a:avLst>
          </a:prstGeom>
          <a:solidFill>
            <a:srgbClr val="ffffff"/>
          </a:solidFill>
          <a:ln w="12700">
            <a:solidFill>
              <a:srgbClr val="dce4ee"/>
            </a:solidFill>
            <a:round/>
          </a:ln>
        </p:spPr>
        <p:style>
          <a:lnRef idx="0"/>
          <a:fillRef idx="0"/>
          <a:effectRef idx="0"/>
          <a:fontRef idx="minor"/>
        </p:style>
      </p:sp>
      <p:sp>
        <p:nvSpPr>
          <p:cNvPr id="140" name="Text 7"/>
          <p:cNvSpPr/>
          <p:nvPr/>
        </p:nvSpPr>
        <p:spPr>
          <a:xfrm>
            <a:off x="987480" y="2350080"/>
            <a:ext cx="6126120" cy="20088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150" spc="117" strike="noStrike">
                <a:solidFill>
                  <a:srgbClr val="006d68"/>
                </a:solidFill>
                <a:latin typeface="Arial"/>
                <a:ea typeface="Arial"/>
              </a:rPr>
              <a:t>DISCUSSION</a:t>
            </a:r>
            <a:endParaRPr b="0" lang="en-US" sz="1150" spc="-1" strike="noStrike">
              <a:latin typeface="Arial"/>
            </a:endParaRPr>
          </a:p>
        </p:txBody>
      </p:sp>
      <p:sp>
        <p:nvSpPr>
          <p:cNvPr id="141" name="Shape 8"/>
          <p:cNvSpPr/>
          <p:nvPr/>
        </p:nvSpPr>
        <p:spPr>
          <a:xfrm>
            <a:off x="987480" y="2825640"/>
            <a:ext cx="1874160" cy="383760"/>
          </a:xfrm>
          <a:prstGeom prst="roundRect">
            <a:avLst>
              <a:gd name="adj" fmla="val 28571"/>
            </a:avLst>
          </a:prstGeom>
          <a:solidFill>
            <a:srgbClr val="f3f6fa"/>
          </a:solidFill>
          <a:ln w="12700">
            <a:solidFill>
              <a:srgbClr val="f3f6fa"/>
            </a:solidFill>
            <a:round/>
          </a:ln>
        </p:spPr>
        <p:style>
          <a:lnRef idx="0"/>
          <a:fillRef idx="0"/>
          <a:effectRef idx="0"/>
          <a:fontRef idx="minor"/>
        </p:style>
      </p:sp>
      <p:sp>
        <p:nvSpPr>
          <p:cNvPr id="142" name="Text 9"/>
          <p:cNvSpPr/>
          <p:nvPr/>
        </p:nvSpPr>
        <p:spPr>
          <a:xfrm>
            <a:off x="1069920" y="2843640"/>
            <a:ext cx="1709640" cy="33804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1230" spc="-1" strike="noStrike">
                <a:solidFill>
                  <a:srgbClr val="54647b"/>
                </a:solidFill>
                <a:latin typeface="Arial"/>
                <a:ea typeface="Arial"/>
              </a:rPr>
              <a:t>Own work</a:t>
            </a:r>
            <a:endParaRPr b="0" lang="en-US" sz="1230" spc="-1" strike="noStrike">
              <a:latin typeface="Arial"/>
            </a:endParaRPr>
          </a:p>
        </p:txBody>
      </p:sp>
      <p:sp>
        <p:nvSpPr>
          <p:cNvPr id="143" name="Shape 10"/>
          <p:cNvSpPr/>
          <p:nvPr/>
        </p:nvSpPr>
        <p:spPr>
          <a:xfrm>
            <a:off x="3035880" y="2825640"/>
            <a:ext cx="2002320" cy="383760"/>
          </a:xfrm>
          <a:prstGeom prst="roundRect">
            <a:avLst>
              <a:gd name="adj" fmla="val 28571"/>
            </a:avLst>
          </a:prstGeom>
          <a:solidFill>
            <a:srgbClr val="bcf58a"/>
          </a:solidFill>
          <a:ln w="12700">
            <a:solidFill>
              <a:srgbClr val="bcf58a"/>
            </a:solidFill>
            <a:round/>
          </a:ln>
        </p:spPr>
        <p:style>
          <a:lnRef idx="0"/>
          <a:fillRef idx="0"/>
          <a:effectRef idx="0"/>
          <a:fontRef idx="minor"/>
        </p:style>
      </p:sp>
      <p:sp>
        <p:nvSpPr>
          <p:cNvPr id="144" name="Text 11"/>
          <p:cNvSpPr/>
          <p:nvPr/>
        </p:nvSpPr>
        <p:spPr>
          <a:xfrm>
            <a:off x="3117960" y="2843640"/>
            <a:ext cx="1837440" cy="33804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1230" spc="-1" strike="noStrike">
                <a:solidFill>
                  <a:srgbClr val="10243a"/>
                </a:solidFill>
                <a:latin typeface="Arial"/>
                <a:ea typeface="Arial"/>
              </a:rPr>
              <a:t>AI-assisted</a:t>
            </a:r>
            <a:endParaRPr b="0" lang="en-US" sz="1230" spc="-1" strike="noStrike">
              <a:latin typeface="Arial"/>
            </a:endParaRPr>
          </a:p>
        </p:txBody>
      </p:sp>
      <p:sp>
        <p:nvSpPr>
          <p:cNvPr id="145" name="Shape 12"/>
          <p:cNvSpPr/>
          <p:nvPr/>
        </p:nvSpPr>
        <p:spPr>
          <a:xfrm>
            <a:off x="5248440" y="3026520"/>
            <a:ext cx="502920" cy="360"/>
          </a:xfrm>
          <a:prstGeom prst="line">
            <a:avLst/>
          </a:prstGeom>
          <a:ln w="21590">
            <a:solidFill>
              <a:srgbClr val="006d68"/>
            </a:solidFill>
            <a:round/>
            <a:tailEnd len="med" type="triangle" w="med"/>
          </a:ln>
        </p:spPr>
        <p:style>
          <a:lnRef idx="0"/>
          <a:fillRef idx="0"/>
          <a:effectRef idx="0"/>
          <a:fontRef idx="minor"/>
        </p:style>
      </p:sp>
      <p:sp>
        <p:nvSpPr>
          <p:cNvPr id="146" name="Text 13"/>
          <p:cNvSpPr/>
          <p:nvPr/>
        </p:nvSpPr>
        <p:spPr>
          <a:xfrm>
            <a:off x="5897880" y="2834640"/>
            <a:ext cx="1535760" cy="3470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2100" spc="-1" strike="noStrike">
                <a:solidFill>
                  <a:srgbClr val="006d68"/>
                </a:solidFill>
                <a:latin typeface="Arial"/>
                <a:ea typeface="Arial"/>
              </a:rPr>
              <a:t>Confirm</a:t>
            </a:r>
            <a:endParaRPr b="0" lang="en-US" sz="2100" spc="-1" strike="noStrike">
              <a:latin typeface="Arial"/>
            </a:endParaRPr>
          </a:p>
        </p:txBody>
      </p:sp>
      <p:sp>
        <p:nvSpPr>
          <p:cNvPr id="147" name="Text 14"/>
          <p:cNvSpPr/>
          <p:nvPr/>
        </p:nvSpPr>
        <p:spPr>
          <a:xfrm>
            <a:off x="1005840" y="3639240"/>
            <a:ext cx="6309000" cy="20088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150" spc="117" strike="noStrike">
                <a:solidFill>
                  <a:srgbClr val="54647b"/>
                </a:solidFill>
                <a:latin typeface="Arial"/>
                <a:ea typeface="Arial"/>
              </a:rPr>
              <a:t>PUBLISHED DISCLOSURE</a:t>
            </a:r>
            <a:endParaRPr b="0" lang="en-US" sz="1150" spc="-1" strike="noStrike">
              <a:latin typeface="Arial"/>
            </a:endParaRPr>
          </a:p>
        </p:txBody>
      </p:sp>
      <p:pic>
        <p:nvPicPr>
          <p:cNvPr id="148" name="Image 0" descr="Published AI-assisted and verified-presence badges; isolated virtual-authenticator UI capture."/>
          <p:cNvPicPr/>
          <p:nvPr/>
        </p:nvPicPr>
        <p:blipFill>
          <a:blip r:embed="rId1"/>
          <a:stretch/>
        </p:blipFill>
        <p:spPr>
          <a:xfrm>
            <a:off x="996840" y="4050720"/>
            <a:ext cx="6638040" cy="1103400"/>
          </a:xfrm>
          <a:prstGeom prst="rect">
            <a:avLst/>
          </a:prstGeom>
          <a:ln w="0">
            <a:noFill/>
          </a:ln>
        </p:spPr>
      </p:pic>
      <p:sp>
        <p:nvSpPr>
          <p:cNvPr id="149" name="Text 15"/>
          <p:cNvSpPr/>
          <p:nvPr/>
        </p:nvSpPr>
        <p:spPr>
          <a:xfrm>
            <a:off x="1005840" y="5422320"/>
            <a:ext cx="6491880" cy="2282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1200" spc="-1" strike="noStrike">
                <a:solidFill>
                  <a:srgbClr val="54647b"/>
                </a:solidFill>
                <a:latin typeface="Arial"/>
                <a:ea typeface="Arial"/>
              </a:rPr>
              <a:t>Automated UI reference · virtual authenticator</a:t>
            </a:r>
            <a:endParaRPr b="0" lang="en-US" sz="1200" spc="-1" strike="noStrike">
              <a:latin typeface="Arial"/>
            </a:endParaRPr>
          </a:p>
        </p:txBody>
      </p:sp>
      <p:sp>
        <p:nvSpPr>
          <p:cNvPr id="150" name="Shape 16"/>
          <p:cNvSpPr/>
          <p:nvPr/>
        </p:nvSpPr>
        <p:spPr>
          <a:xfrm>
            <a:off x="8238600" y="2048400"/>
            <a:ext cx="3273120" cy="3776040"/>
          </a:xfrm>
          <a:prstGeom prst="roundRect">
            <a:avLst>
              <a:gd name="adj" fmla="val 3352"/>
            </a:avLst>
          </a:prstGeom>
          <a:solidFill>
            <a:srgbClr val="eaf4ef"/>
          </a:solidFill>
          <a:ln w="12700">
            <a:solidFill>
              <a:srgbClr val="d2e4dd"/>
            </a:solidFill>
            <a:round/>
          </a:ln>
        </p:spPr>
        <p:style>
          <a:lnRef idx="0"/>
          <a:fillRef idx="0"/>
          <a:effectRef idx="0"/>
          <a:fontRef idx="minor"/>
        </p:style>
      </p:sp>
      <p:sp>
        <p:nvSpPr>
          <p:cNvPr id="151" name="Shape 17"/>
          <p:cNvSpPr/>
          <p:nvPr/>
        </p:nvSpPr>
        <p:spPr>
          <a:xfrm flipV="1">
            <a:off x="9704160" y="2548440"/>
            <a:ext cx="360" cy="145800"/>
          </a:xfrm>
          <a:prstGeom prst="line">
            <a:avLst/>
          </a:prstGeom>
          <a:ln w="25400">
            <a:solidFill>
              <a:srgbClr val="006d68"/>
            </a:solidFill>
            <a:round/>
          </a:ln>
        </p:spPr>
        <p:style>
          <a:lnRef idx="0"/>
          <a:fillRef idx="0"/>
          <a:effectRef idx="0"/>
          <a:fontRef idx="minor"/>
        </p:style>
      </p:sp>
      <p:sp>
        <p:nvSpPr>
          <p:cNvPr id="152" name="Shape 18"/>
          <p:cNvSpPr/>
          <p:nvPr/>
        </p:nvSpPr>
        <p:spPr>
          <a:xfrm flipV="1">
            <a:off x="9704160" y="2464920"/>
            <a:ext cx="69480" cy="83520"/>
          </a:xfrm>
          <a:prstGeom prst="line">
            <a:avLst/>
          </a:prstGeom>
          <a:ln w="25400">
            <a:solidFill>
              <a:srgbClr val="006d68"/>
            </a:solidFill>
            <a:round/>
          </a:ln>
        </p:spPr>
        <p:style>
          <a:lnRef idx="0"/>
          <a:fillRef idx="0"/>
          <a:effectRef idx="0"/>
          <a:fontRef idx="minor"/>
        </p:style>
      </p:sp>
      <p:sp>
        <p:nvSpPr>
          <p:cNvPr id="153" name="Shape 19"/>
          <p:cNvSpPr/>
          <p:nvPr/>
        </p:nvSpPr>
        <p:spPr>
          <a:xfrm>
            <a:off x="9773640" y="2464920"/>
            <a:ext cx="166680" cy="360"/>
          </a:xfrm>
          <a:prstGeom prst="line">
            <a:avLst/>
          </a:prstGeom>
          <a:ln w="25400">
            <a:solidFill>
              <a:srgbClr val="006d68"/>
            </a:solidFill>
            <a:round/>
          </a:ln>
        </p:spPr>
        <p:style>
          <a:lnRef idx="0"/>
          <a:fillRef idx="0"/>
          <a:effectRef idx="0"/>
          <a:fontRef idx="minor"/>
        </p:style>
      </p:sp>
      <p:sp>
        <p:nvSpPr>
          <p:cNvPr id="154" name="Shape 20"/>
          <p:cNvSpPr/>
          <p:nvPr/>
        </p:nvSpPr>
        <p:spPr>
          <a:xfrm>
            <a:off x="9940320" y="2464920"/>
            <a:ext cx="69480" cy="83520"/>
          </a:xfrm>
          <a:prstGeom prst="line">
            <a:avLst/>
          </a:prstGeom>
          <a:ln w="25400">
            <a:solidFill>
              <a:srgbClr val="006d68"/>
            </a:solidFill>
            <a:round/>
          </a:ln>
        </p:spPr>
        <p:style>
          <a:lnRef idx="0"/>
          <a:fillRef idx="0"/>
          <a:effectRef idx="0"/>
          <a:fontRef idx="minor"/>
        </p:style>
      </p:sp>
      <p:sp>
        <p:nvSpPr>
          <p:cNvPr id="155" name="Shape 21"/>
          <p:cNvSpPr/>
          <p:nvPr/>
        </p:nvSpPr>
        <p:spPr>
          <a:xfrm>
            <a:off x="10009800" y="2548440"/>
            <a:ext cx="360" cy="145800"/>
          </a:xfrm>
          <a:prstGeom prst="line">
            <a:avLst/>
          </a:prstGeom>
          <a:ln w="25400">
            <a:solidFill>
              <a:srgbClr val="006d68"/>
            </a:solidFill>
            <a:round/>
          </a:ln>
        </p:spPr>
        <p:style>
          <a:lnRef idx="0"/>
          <a:fillRef idx="0"/>
          <a:effectRef idx="0"/>
          <a:fontRef idx="minor"/>
        </p:style>
      </p:sp>
      <p:sp>
        <p:nvSpPr>
          <p:cNvPr id="156" name="Shape 22"/>
          <p:cNvSpPr/>
          <p:nvPr/>
        </p:nvSpPr>
        <p:spPr>
          <a:xfrm>
            <a:off x="9600120" y="2680560"/>
            <a:ext cx="513720" cy="340200"/>
          </a:xfrm>
          <a:prstGeom prst="roundRect">
            <a:avLst>
              <a:gd name="adj" fmla="val 32223"/>
            </a:avLst>
          </a:prstGeom>
          <a:solidFill>
            <a:srgbClr val="eaf4ef"/>
          </a:solidFill>
          <a:ln w="25400">
            <a:solidFill>
              <a:srgbClr val="006d68"/>
            </a:solidFill>
            <a:round/>
          </a:ln>
        </p:spPr>
        <p:style>
          <a:lnRef idx="0"/>
          <a:fillRef idx="0"/>
          <a:effectRef idx="0"/>
          <a:fontRef idx="minor"/>
        </p:style>
      </p:sp>
      <p:sp>
        <p:nvSpPr>
          <p:cNvPr id="157" name="Shape 23"/>
          <p:cNvSpPr/>
          <p:nvPr/>
        </p:nvSpPr>
        <p:spPr>
          <a:xfrm>
            <a:off x="9857160" y="2798640"/>
            <a:ext cx="360" cy="104040"/>
          </a:xfrm>
          <a:prstGeom prst="line">
            <a:avLst/>
          </a:prstGeom>
          <a:ln w="25400">
            <a:solidFill>
              <a:srgbClr val="006d68"/>
            </a:solidFill>
            <a:round/>
          </a:ln>
        </p:spPr>
        <p:style>
          <a:lnRef idx="0"/>
          <a:fillRef idx="0"/>
          <a:effectRef idx="0"/>
          <a:fontRef idx="minor"/>
        </p:style>
      </p:sp>
      <p:sp>
        <p:nvSpPr>
          <p:cNvPr id="158" name="Text 24"/>
          <p:cNvSpPr/>
          <p:nvPr/>
        </p:nvSpPr>
        <p:spPr>
          <a:xfrm>
            <a:off x="8485560" y="3300840"/>
            <a:ext cx="2770200" cy="33804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2100" spc="-1" strike="noStrike">
                <a:solidFill>
                  <a:srgbClr val="10243a"/>
                </a:solidFill>
                <a:latin typeface="Arial"/>
                <a:ea typeface="Arial"/>
              </a:rPr>
              <a:t>Protected record</a:t>
            </a:r>
            <a:endParaRPr b="0" lang="en-US" sz="2100" spc="-1" strike="noStrike">
              <a:latin typeface="Arial"/>
            </a:endParaRPr>
          </a:p>
        </p:txBody>
      </p:sp>
      <p:pic>
        <p:nvPicPr>
          <p:cNvPr id="159" name="Image 1" descr="Real synthetic SSN and DoD ID fields withheld by default; UI reference."/>
          <p:cNvPicPr/>
          <p:nvPr/>
        </p:nvPicPr>
        <p:blipFill>
          <a:blip r:embed="rId2"/>
          <a:stretch/>
        </p:blipFill>
        <p:spPr>
          <a:xfrm>
            <a:off x="8494920" y="3813120"/>
            <a:ext cx="2761200" cy="785880"/>
          </a:xfrm>
          <a:prstGeom prst="rect">
            <a:avLst/>
          </a:prstGeom>
          <a:ln w="0">
            <a:noFill/>
          </a:ln>
        </p:spPr>
      </p:pic>
      <p:sp>
        <p:nvSpPr>
          <p:cNvPr id="160" name="Text 25"/>
          <p:cNvSpPr/>
          <p:nvPr/>
        </p:nvSpPr>
        <p:spPr>
          <a:xfrm>
            <a:off x="8467200" y="4937760"/>
            <a:ext cx="2815920" cy="28296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1380" spc="-1" strike="noStrike">
                <a:solidFill>
                  <a:srgbClr val="006d68"/>
                </a:solidFill>
                <a:latin typeface="Arial"/>
                <a:ea typeface="Arial"/>
              </a:rPr>
              <a:t>Masked → Confirm → Reveal</a:t>
            </a:r>
            <a:endParaRPr b="0" lang="en-US" sz="1380" spc="-1" strike="noStrike">
              <a:latin typeface="Arial"/>
            </a:endParaRPr>
          </a:p>
        </p:txBody>
      </p:sp>
      <p:sp>
        <p:nvSpPr>
          <p:cNvPr id="161" name="Text 26"/>
          <p:cNvSpPr/>
          <p:nvPr/>
        </p:nvSpPr>
        <p:spPr>
          <a:xfrm>
            <a:off x="8458200" y="5459040"/>
            <a:ext cx="2843280" cy="20088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0" lang="en-US" sz="1050" spc="-1" strike="noStrike">
                <a:solidFill>
                  <a:srgbClr val="54647b"/>
                </a:solidFill>
                <a:latin typeface="Arial"/>
                <a:ea typeface="Arial"/>
              </a:rPr>
              <a:t>Extensions can read after reveal.</a:t>
            </a:r>
            <a:endParaRPr b="0" lang="en-US" sz="1050" spc="-1" strike="noStrike">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3f6fa"/>
        </a:solidFill>
      </p:bgPr>
    </p:bg>
    <p:spTree>
      <p:nvGrpSpPr>
        <p:cNvPr id="1" name=""/>
        <p:cNvGrpSpPr/>
        <p:nvPr/>
      </p:nvGrpSpPr>
      <p:grpSpPr>
        <a:xfrm>
          <a:off x="0" y="0"/>
          <a:ext cx="0" cy="0"/>
          <a:chOff x="0" y="0"/>
          <a:chExt cx="0" cy="0"/>
        </a:xfrm>
      </p:grpSpPr>
      <p:sp>
        <p:nvSpPr>
          <p:cNvPr id="162" name="Text 0"/>
          <p:cNvSpPr/>
          <p:nvPr/>
        </p:nvSpPr>
        <p:spPr>
          <a:xfrm>
            <a:off x="658440" y="384120"/>
            <a:ext cx="7772040" cy="20088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150" spc="117" strike="noStrike">
                <a:solidFill>
                  <a:srgbClr val="006d68"/>
                </a:solidFill>
                <a:latin typeface="Arial"/>
                <a:ea typeface="Arial"/>
              </a:rPr>
              <a:t>NOW WHAT / REUSABLE INTEGRATION</a:t>
            </a:r>
            <a:endParaRPr b="0" lang="en-US" sz="1150" spc="-1" strike="noStrike">
              <a:latin typeface="Arial"/>
            </a:endParaRPr>
          </a:p>
        </p:txBody>
      </p:sp>
      <p:sp>
        <p:nvSpPr>
          <p:cNvPr id="163" name="Text 1"/>
          <p:cNvSpPr/>
          <p:nvPr/>
        </p:nvSpPr>
        <p:spPr>
          <a:xfrm>
            <a:off x="9464040" y="365760"/>
            <a:ext cx="2075400" cy="255600"/>
          </a:xfrm>
          <a:prstGeom prst="rect">
            <a:avLst/>
          </a:prstGeom>
          <a:noFill/>
          <a:ln w="0">
            <a:noFill/>
          </a:ln>
        </p:spPr>
        <p:style>
          <a:lnRef idx="0"/>
          <a:fillRef idx="0"/>
          <a:effectRef idx="0"/>
          <a:fontRef idx="minor"/>
        </p:style>
        <p:txBody>
          <a:bodyPr lIns="0" rIns="0" tIns="0" bIns="0" anchor="ctr">
            <a:noAutofit/>
          </a:bodyPr>
          <a:p>
            <a:pPr algn="r">
              <a:lnSpc>
                <a:spcPct val="100000"/>
              </a:lnSpc>
              <a:buNone/>
              <a:tabLst>
                <a:tab algn="l" pos="0"/>
              </a:tabLst>
            </a:pPr>
            <a:r>
              <a:rPr b="1" lang="en-US" sz="1500" spc="-1" strike="noStrike">
                <a:solidFill>
                  <a:srgbClr val="10243a"/>
                </a:solidFill>
                <a:latin typeface="Arial"/>
                <a:ea typeface="Arial"/>
              </a:rPr>
              <a:t>countersign.</a:t>
            </a:r>
            <a:endParaRPr b="0" lang="en-US" sz="1500" spc="-1" strike="noStrike">
              <a:latin typeface="Arial"/>
            </a:endParaRPr>
          </a:p>
        </p:txBody>
      </p:sp>
      <p:sp>
        <p:nvSpPr>
          <p:cNvPr id="164" name="Shape 2"/>
          <p:cNvSpPr/>
          <p:nvPr/>
        </p:nvSpPr>
        <p:spPr>
          <a:xfrm>
            <a:off x="658080" y="6437160"/>
            <a:ext cx="10872360" cy="360"/>
          </a:xfrm>
          <a:prstGeom prst="line">
            <a:avLst/>
          </a:prstGeom>
          <a:ln w="8890">
            <a:solidFill>
              <a:srgbClr val="dce4ee"/>
            </a:solidFill>
            <a:round/>
          </a:ln>
        </p:spPr>
        <p:style>
          <a:lnRef idx="0"/>
          <a:fillRef idx="0"/>
          <a:effectRef idx="0"/>
          <a:fontRef idx="minor"/>
        </p:style>
      </p:sp>
      <p:sp>
        <p:nvSpPr>
          <p:cNvPr id="165" name="Text 3"/>
          <p:cNvSpPr/>
          <p:nvPr/>
        </p:nvSpPr>
        <p:spPr>
          <a:xfrm>
            <a:off x="676800" y="6537960"/>
            <a:ext cx="8412120" cy="1458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850" spc="109" strike="noStrike">
                <a:solidFill>
                  <a:srgbClr val="54647b"/>
                </a:solidFill>
                <a:latin typeface="Arial"/>
                <a:ea typeface="Arial"/>
              </a:rPr>
              <a:t>HUMAN VERIFICATION FOR WEB APPS</a:t>
            </a:r>
            <a:endParaRPr b="0" lang="en-US" sz="850" spc="-1" strike="noStrike">
              <a:latin typeface="Arial"/>
            </a:endParaRPr>
          </a:p>
        </p:txBody>
      </p:sp>
      <p:sp>
        <p:nvSpPr>
          <p:cNvPr id="166" name="Text 4"/>
          <p:cNvSpPr/>
          <p:nvPr/>
        </p:nvSpPr>
        <p:spPr>
          <a:xfrm>
            <a:off x="11027520" y="6519600"/>
            <a:ext cx="475200" cy="182520"/>
          </a:xfrm>
          <a:prstGeom prst="rect">
            <a:avLst/>
          </a:prstGeom>
          <a:noFill/>
          <a:ln w="0">
            <a:noFill/>
          </a:ln>
        </p:spPr>
        <p:style>
          <a:lnRef idx="0"/>
          <a:fillRef idx="0"/>
          <a:effectRef idx="0"/>
          <a:fontRef idx="minor"/>
        </p:style>
        <p:txBody>
          <a:bodyPr lIns="0" rIns="0" tIns="0" bIns="0" anchor="ctr">
            <a:noAutofit/>
          </a:bodyPr>
          <a:p>
            <a:pPr algn="r">
              <a:lnSpc>
                <a:spcPct val="100000"/>
              </a:lnSpc>
              <a:buNone/>
              <a:tabLst>
                <a:tab algn="l" pos="0"/>
              </a:tabLst>
            </a:pPr>
            <a:r>
              <a:rPr b="0" lang="en-US" sz="1000" spc="-1" strike="noStrike">
                <a:solidFill>
                  <a:srgbClr val="54647b"/>
                </a:solidFill>
                <a:latin typeface="Arial"/>
                <a:ea typeface="Arial"/>
              </a:rPr>
              <a:t>05</a:t>
            </a:r>
            <a:endParaRPr b="0" lang="en-US" sz="1000" spc="-1" strike="noStrike">
              <a:latin typeface="Arial"/>
            </a:endParaRPr>
          </a:p>
        </p:txBody>
      </p:sp>
      <p:sp>
        <p:nvSpPr>
          <p:cNvPr id="167" name="Text 5"/>
          <p:cNvSpPr/>
          <p:nvPr/>
        </p:nvSpPr>
        <p:spPr>
          <a:xfrm>
            <a:off x="658440" y="969120"/>
            <a:ext cx="10926720" cy="7038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3600" spc="-1" strike="noStrike">
                <a:solidFill>
                  <a:srgbClr val="10243a"/>
                </a:solidFill>
                <a:latin typeface="Arial"/>
                <a:ea typeface="Arial"/>
              </a:rPr>
              <a:t>Add a checkpoint, not a new app.</a:t>
            </a:r>
            <a:endParaRPr b="0" lang="en-US" sz="3600" spc="-1" strike="noStrike">
              <a:latin typeface="Arial"/>
            </a:endParaRPr>
          </a:p>
        </p:txBody>
      </p:sp>
      <p:sp>
        <p:nvSpPr>
          <p:cNvPr id="168" name="Text 6"/>
          <p:cNvSpPr/>
          <p:nvPr/>
        </p:nvSpPr>
        <p:spPr>
          <a:xfrm>
            <a:off x="694800" y="1719000"/>
            <a:ext cx="9875160" cy="29232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1800" spc="-1" strike="noStrike">
                <a:solidFill>
                  <a:srgbClr val="54647b"/>
                </a:solidFill>
                <a:latin typeface="Arial"/>
                <a:ea typeface="Arial"/>
              </a:rPr>
              <a:t>New application or existing application</a:t>
            </a:r>
            <a:endParaRPr b="0" lang="en-US" sz="1800" spc="-1" strike="noStrike">
              <a:latin typeface="Arial"/>
            </a:endParaRPr>
          </a:p>
        </p:txBody>
      </p:sp>
      <p:sp>
        <p:nvSpPr>
          <p:cNvPr id="169" name="Shape 7"/>
          <p:cNvSpPr/>
          <p:nvPr/>
        </p:nvSpPr>
        <p:spPr>
          <a:xfrm>
            <a:off x="694800" y="2322720"/>
            <a:ext cx="2925720" cy="3328200"/>
          </a:xfrm>
          <a:prstGeom prst="roundRect">
            <a:avLst>
              <a:gd name="adj" fmla="val 3750"/>
            </a:avLst>
          </a:prstGeom>
          <a:solidFill>
            <a:srgbClr val="ffffff"/>
          </a:solidFill>
          <a:ln w="12700">
            <a:solidFill>
              <a:srgbClr val="dce4ee"/>
            </a:solidFill>
            <a:round/>
          </a:ln>
        </p:spPr>
        <p:style>
          <a:lnRef idx="0"/>
          <a:fillRef idx="0"/>
          <a:effectRef idx="0"/>
          <a:fontRef idx="minor"/>
        </p:style>
      </p:sp>
      <p:sp>
        <p:nvSpPr>
          <p:cNvPr id="170" name="Shape 8"/>
          <p:cNvSpPr/>
          <p:nvPr/>
        </p:nvSpPr>
        <p:spPr>
          <a:xfrm>
            <a:off x="4142160" y="2322720"/>
            <a:ext cx="7360560" cy="3328200"/>
          </a:xfrm>
          <a:prstGeom prst="roundRect">
            <a:avLst>
              <a:gd name="adj" fmla="val 3297"/>
            </a:avLst>
          </a:prstGeom>
          <a:solidFill>
            <a:srgbClr val="eaf0f4"/>
          </a:solidFill>
          <a:ln w="12700">
            <a:solidFill>
              <a:srgbClr val="dce4ee"/>
            </a:solidFill>
            <a:round/>
          </a:ln>
        </p:spPr>
        <p:style>
          <a:lnRef idx="0"/>
          <a:fillRef idx="0"/>
          <a:effectRef idx="0"/>
          <a:fontRef idx="minor"/>
        </p:style>
      </p:sp>
      <p:sp>
        <p:nvSpPr>
          <p:cNvPr id="171" name="Text 9"/>
          <p:cNvSpPr/>
          <p:nvPr/>
        </p:nvSpPr>
        <p:spPr>
          <a:xfrm>
            <a:off x="960120" y="2587680"/>
            <a:ext cx="2331360" cy="20088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150" spc="117" strike="noStrike">
                <a:solidFill>
                  <a:srgbClr val="54647b"/>
                </a:solidFill>
                <a:latin typeface="Arial"/>
                <a:ea typeface="Arial"/>
              </a:rPr>
              <a:t>BROWSER</a:t>
            </a:r>
            <a:endParaRPr b="0" lang="en-US" sz="1150" spc="-1" strike="noStrike">
              <a:latin typeface="Arial"/>
            </a:endParaRPr>
          </a:p>
        </p:txBody>
      </p:sp>
      <p:sp>
        <p:nvSpPr>
          <p:cNvPr id="172" name="Text 10"/>
          <p:cNvSpPr/>
          <p:nvPr/>
        </p:nvSpPr>
        <p:spPr>
          <a:xfrm>
            <a:off x="4425840" y="2587680"/>
            <a:ext cx="6309000" cy="20088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150" spc="117" strike="noStrike">
                <a:solidFill>
                  <a:srgbClr val="54647b"/>
                </a:solidFill>
                <a:latin typeface="Arial"/>
                <a:ea typeface="Arial"/>
              </a:rPr>
              <a:t>YOUR APPLICATION SERVER</a:t>
            </a:r>
            <a:endParaRPr b="0" lang="en-US" sz="1150" spc="-1" strike="noStrike">
              <a:latin typeface="Arial"/>
            </a:endParaRPr>
          </a:p>
        </p:txBody>
      </p:sp>
      <p:sp>
        <p:nvSpPr>
          <p:cNvPr id="173" name="Shape 11"/>
          <p:cNvSpPr/>
          <p:nvPr/>
        </p:nvSpPr>
        <p:spPr>
          <a:xfrm>
            <a:off x="3337560" y="3620880"/>
            <a:ext cx="1252440" cy="360"/>
          </a:xfrm>
          <a:prstGeom prst="line">
            <a:avLst/>
          </a:prstGeom>
          <a:ln w="27940">
            <a:solidFill>
              <a:srgbClr val="006d68"/>
            </a:solidFill>
            <a:round/>
            <a:tailEnd len="med" type="triangle" w="med"/>
          </a:ln>
        </p:spPr>
        <p:style>
          <a:lnRef idx="0"/>
          <a:fillRef idx="0"/>
          <a:effectRef idx="0"/>
          <a:fontRef idx="minor"/>
        </p:style>
      </p:sp>
      <p:sp>
        <p:nvSpPr>
          <p:cNvPr id="174" name="Shape 12"/>
          <p:cNvSpPr/>
          <p:nvPr/>
        </p:nvSpPr>
        <p:spPr>
          <a:xfrm>
            <a:off x="7369920" y="3620880"/>
            <a:ext cx="969120" cy="360"/>
          </a:xfrm>
          <a:prstGeom prst="line">
            <a:avLst/>
          </a:prstGeom>
          <a:ln w="27940">
            <a:solidFill>
              <a:srgbClr val="006d68"/>
            </a:solidFill>
            <a:round/>
            <a:tailEnd len="med" type="triangle" w="med"/>
          </a:ln>
        </p:spPr>
        <p:style>
          <a:lnRef idx="0"/>
          <a:fillRef idx="0"/>
          <a:effectRef idx="0"/>
          <a:fontRef idx="minor"/>
        </p:style>
      </p:sp>
      <p:sp>
        <p:nvSpPr>
          <p:cNvPr id="175" name="Text 13"/>
          <p:cNvSpPr/>
          <p:nvPr/>
        </p:nvSpPr>
        <p:spPr>
          <a:xfrm>
            <a:off x="7406640" y="3246120"/>
            <a:ext cx="905040" cy="20988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1080" spc="-1" strike="noStrike">
                <a:solidFill>
                  <a:srgbClr val="006d68"/>
                </a:solidFill>
                <a:latin typeface="Arial"/>
                <a:ea typeface="Arial"/>
              </a:rPr>
              <a:t>Verified</a:t>
            </a:r>
            <a:endParaRPr b="0" lang="en-US" sz="1080" spc="-1" strike="noStrike">
              <a:latin typeface="Arial"/>
            </a:endParaRPr>
          </a:p>
        </p:txBody>
      </p:sp>
      <p:sp>
        <p:nvSpPr>
          <p:cNvPr id="176" name="Shape 14"/>
          <p:cNvSpPr/>
          <p:nvPr/>
        </p:nvSpPr>
        <p:spPr>
          <a:xfrm>
            <a:off x="960120" y="3117960"/>
            <a:ext cx="2358720" cy="1005480"/>
          </a:xfrm>
          <a:prstGeom prst="roundRect">
            <a:avLst>
              <a:gd name="adj" fmla="val 10909"/>
            </a:avLst>
          </a:prstGeom>
          <a:solidFill>
            <a:srgbClr val="f3f6fa"/>
          </a:solidFill>
          <a:ln w="12700">
            <a:solidFill>
              <a:srgbClr val="dce4ee"/>
            </a:solidFill>
            <a:round/>
          </a:ln>
        </p:spPr>
        <p:style>
          <a:lnRef idx="0"/>
          <a:fillRef idx="0"/>
          <a:effectRef idx="0"/>
          <a:fontRef idx="minor"/>
        </p:style>
      </p:sp>
      <p:sp>
        <p:nvSpPr>
          <p:cNvPr id="177" name="Text 15"/>
          <p:cNvSpPr/>
          <p:nvPr/>
        </p:nvSpPr>
        <p:spPr>
          <a:xfrm>
            <a:off x="1115640" y="3300840"/>
            <a:ext cx="2048040" cy="30132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2100" spc="-1" strike="noStrike">
                <a:solidFill>
                  <a:srgbClr val="10243a"/>
                </a:solidFill>
                <a:latin typeface="Arial"/>
                <a:ea typeface="Arial"/>
              </a:rPr>
              <a:t>Your page</a:t>
            </a:r>
            <a:endParaRPr b="0" lang="en-US" sz="2100" spc="-1" strike="noStrike">
              <a:latin typeface="Arial"/>
            </a:endParaRPr>
          </a:p>
        </p:txBody>
      </p:sp>
      <p:sp>
        <p:nvSpPr>
          <p:cNvPr id="178" name="Text 16"/>
          <p:cNvSpPr/>
          <p:nvPr/>
        </p:nvSpPr>
        <p:spPr>
          <a:xfrm>
            <a:off x="1097280" y="3694320"/>
            <a:ext cx="2084400" cy="24660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0" lang="en-US" sz="1400" spc="-1" strike="noStrike">
                <a:solidFill>
                  <a:srgbClr val="006d68"/>
                </a:solidFill>
                <a:latin typeface="Arial"/>
                <a:ea typeface="Arial"/>
              </a:rPr>
              <a:t>+ countersign.js</a:t>
            </a:r>
            <a:endParaRPr b="0" lang="en-US" sz="1400" spc="-1" strike="noStrike">
              <a:latin typeface="Arial"/>
            </a:endParaRPr>
          </a:p>
        </p:txBody>
      </p:sp>
      <p:sp>
        <p:nvSpPr>
          <p:cNvPr id="179" name="Shape 17"/>
          <p:cNvSpPr/>
          <p:nvPr/>
        </p:nvSpPr>
        <p:spPr>
          <a:xfrm>
            <a:off x="4626720" y="3117960"/>
            <a:ext cx="2715480" cy="1005480"/>
          </a:xfrm>
          <a:prstGeom prst="roundRect">
            <a:avLst>
              <a:gd name="adj" fmla="val 10909"/>
            </a:avLst>
          </a:prstGeom>
          <a:solidFill>
            <a:srgbClr val="10243a"/>
          </a:solidFill>
          <a:ln w="12700">
            <a:solidFill>
              <a:srgbClr val="10243a"/>
            </a:solidFill>
            <a:round/>
          </a:ln>
        </p:spPr>
        <p:style>
          <a:lnRef idx="0"/>
          <a:fillRef idx="0"/>
          <a:effectRef idx="0"/>
          <a:fontRef idx="minor"/>
        </p:style>
      </p:sp>
      <p:sp>
        <p:nvSpPr>
          <p:cNvPr id="180" name="Text 18"/>
          <p:cNvSpPr/>
          <p:nvPr/>
        </p:nvSpPr>
        <p:spPr>
          <a:xfrm>
            <a:off x="4791600" y="3264480"/>
            <a:ext cx="2386080" cy="69444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2100" spc="-1" strike="noStrike">
                <a:solidFill>
                  <a:srgbClr val="bcf58a"/>
                </a:solidFill>
                <a:latin typeface="Arial"/>
                <a:ea typeface="Arial"/>
              </a:rPr>
              <a:t>Countersign</a:t>
            </a:r>
            <a:endParaRPr b="0" lang="en-US" sz="2100" spc="-1" strike="noStrike">
              <a:latin typeface="Arial"/>
            </a:endParaRPr>
          </a:p>
          <a:p>
            <a:pPr algn="ctr">
              <a:lnSpc>
                <a:spcPct val="100000"/>
              </a:lnSpc>
              <a:buNone/>
              <a:tabLst>
                <a:tab algn="l" pos="0"/>
              </a:tabLst>
            </a:pPr>
            <a:r>
              <a:rPr b="1" lang="en-US" sz="2100" spc="-1" strike="noStrike">
                <a:solidFill>
                  <a:srgbClr val="bcf58a"/>
                </a:solidFill>
                <a:latin typeface="Arial"/>
                <a:ea typeface="Arial"/>
              </a:rPr>
              <a:t>server gate</a:t>
            </a:r>
            <a:endParaRPr b="0" lang="en-US" sz="2100" spc="-1" strike="noStrike">
              <a:latin typeface="Arial"/>
            </a:endParaRPr>
          </a:p>
        </p:txBody>
      </p:sp>
      <p:sp>
        <p:nvSpPr>
          <p:cNvPr id="181" name="Shape 19"/>
          <p:cNvSpPr/>
          <p:nvPr/>
        </p:nvSpPr>
        <p:spPr>
          <a:xfrm>
            <a:off x="8385120" y="3117960"/>
            <a:ext cx="2770200" cy="1005480"/>
          </a:xfrm>
          <a:prstGeom prst="roundRect">
            <a:avLst>
              <a:gd name="adj" fmla="val 10909"/>
            </a:avLst>
          </a:prstGeom>
          <a:solidFill>
            <a:srgbClr val="ffffff"/>
          </a:solidFill>
          <a:ln w="12700">
            <a:solidFill>
              <a:srgbClr val="dce4ee"/>
            </a:solidFill>
            <a:round/>
          </a:ln>
        </p:spPr>
        <p:style>
          <a:lnRef idx="0"/>
          <a:fillRef idx="0"/>
          <a:effectRef idx="0"/>
          <a:fontRef idx="minor"/>
        </p:style>
      </p:sp>
      <p:sp>
        <p:nvSpPr>
          <p:cNvPr id="182" name="Text 20"/>
          <p:cNvSpPr/>
          <p:nvPr/>
        </p:nvSpPr>
        <p:spPr>
          <a:xfrm>
            <a:off x="8558640" y="3291840"/>
            <a:ext cx="2422800" cy="64872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2100" spc="-1" strike="noStrike">
                <a:solidFill>
                  <a:srgbClr val="10243a"/>
                </a:solidFill>
                <a:latin typeface="Arial"/>
                <a:ea typeface="Arial"/>
              </a:rPr>
              <a:t>Your action</a:t>
            </a:r>
            <a:endParaRPr b="0" lang="en-US" sz="2100" spc="-1" strike="noStrike">
              <a:latin typeface="Arial"/>
            </a:endParaRPr>
          </a:p>
          <a:p>
            <a:pPr algn="ctr">
              <a:lnSpc>
                <a:spcPct val="100000"/>
              </a:lnSpc>
              <a:buNone/>
              <a:tabLst>
                <a:tab algn="l" pos="0"/>
              </a:tabLst>
            </a:pPr>
            <a:r>
              <a:rPr b="1" lang="en-US" sz="2100" spc="-1" strike="noStrike">
                <a:solidFill>
                  <a:srgbClr val="10243a"/>
                </a:solidFill>
                <a:latin typeface="Arial"/>
                <a:ea typeface="Arial"/>
              </a:rPr>
              <a:t>+ data</a:t>
            </a:r>
            <a:endParaRPr b="0" lang="en-US" sz="2100" spc="-1" strike="noStrike">
              <a:latin typeface="Arial"/>
            </a:endParaRPr>
          </a:p>
        </p:txBody>
      </p:sp>
      <p:sp>
        <p:nvSpPr>
          <p:cNvPr id="183" name="Shape 21"/>
          <p:cNvSpPr/>
          <p:nvPr/>
        </p:nvSpPr>
        <p:spPr>
          <a:xfrm flipV="1">
            <a:off x="2130480" y="4142160"/>
            <a:ext cx="360" cy="557640"/>
          </a:xfrm>
          <a:prstGeom prst="line">
            <a:avLst/>
          </a:prstGeom>
          <a:ln w="19050">
            <a:solidFill>
              <a:srgbClr val="006d68"/>
            </a:solidFill>
            <a:round/>
            <a:tailEnd len="med" type="triangle" w="med"/>
          </a:ln>
        </p:spPr>
        <p:style>
          <a:lnRef idx="0"/>
          <a:fillRef idx="0"/>
          <a:effectRef idx="0"/>
          <a:fontRef idx="minor"/>
        </p:style>
      </p:sp>
      <p:sp>
        <p:nvSpPr>
          <p:cNvPr id="184" name="Shape 22"/>
          <p:cNvSpPr/>
          <p:nvPr/>
        </p:nvSpPr>
        <p:spPr>
          <a:xfrm>
            <a:off x="1284840" y="4744800"/>
            <a:ext cx="145800" cy="145800"/>
          </a:xfrm>
          <a:prstGeom prst="ellipse">
            <a:avLst/>
          </a:prstGeom>
          <a:solidFill>
            <a:srgbClr val="ffffff"/>
          </a:solidFill>
          <a:ln w="25400">
            <a:solidFill>
              <a:srgbClr val="006d68"/>
            </a:solidFill>
            <a:round/>
          </a:ln>
        </p:spPr>
        <p:style>
          <a:lnRef idx="0"/>
          <a:fillRef idx="0"/>
          <a:effectRef idx="0"/>
          <a:fontRef idx="minor"/>
        </p:style>
      </p:sp>
      <p:sp>
        <p:nvSpPr>
          <p:cNvPr id="185" name="Shape 23"/>
          <p:cNvSpPr/>
          <p:nvPr/>
        </p:nvSpPr>
        <p:spPr>
          <a:xfrm flipV="1">
            <a:off x="1203120" y="5045400"/>
            <a:ext cx="360" cy="73080"/>
          </a:xfrm>
          <a:prstGeom prst="line">
            <a:avLst/>
          </a:prstGeom>
          <a:ln w="25400">
            <a:solidFill>
              <a:srgbClr val="006d68"/>
            </a:solidFill>
            <a:round/>
          </a:ln>
        </p:spPr>
        <p:style>
          <a:lnRef idx="0"/>
          <a:fillRef idx="0"/>
          <a:effectRef idx="0"/>
          <a:fontRef idx="minor"/>
        </p:style>
      </p:sp>
      <p:sp>
        <p:nvSpPr>
          <p:cNvPr id="186" name="Shape 24"/>
          <p:cNvSpPr/>
          <p:nvPr/>
        </p:nvSpPr>
        <p:spPr>
          <a:xfrm flipV="1">
            <a:off x="1203120" y="4963680"/>
            <a:ext cx="73080" cy="81720"/>
          </a:xfrm>
          <a:prstGeom prst="line">
            <a:avLst/>
          </a:prstGeom>
          <a:ln w="25400">
            <a:solidFill>
              <a:srgbClr val="006d68"/>
            </a:solidFill>
            <a:round/>
          </a:ln>
        </p:spPr>
        <p:style>
          <a:lnRef idx="0"/>
          <a:fillRef idx="0"/>
          <a:effectRef idx="0"/>
          <a:fontRef idx="minor"/>
        </p:style>
      </p:sp>
      <p:sp>
        <p:nvSpPr>
          <p:cNvPr id="187" name="Shape 25"/>
          <p:cNvSpPr/>
          <p:nvPr/>
        </p:nvSpPr>
        <p:spPr>
          <a:xfrm>
            <a:off x="1276200" y="4963680"/>
            <a:ext cx="163080" cy="360"/>
          </a:xfrm>
          <a:prstGeom prst="line">
            <a:avLst/>
          </a:prstGeom>
          <a:ln w="25400">
            <a:solidFill>
              <a:srgbClr val="006d68"/>
            </a:solidFill>
            <a:round/>
          </a:ln>
        </p:spPr>
        <p:style>
          <a:lnRef idx="0"/>
          <a:fillRef idx="0"/>
          <a:effectRef idx="0"/>
          <a:fontRef idx="minor"/>
        </p:style>
      </p:sp>
      <p:sp>
        <p:nvSpPr>
          <p:cNvPr id="188" name="Shape 26"/>
          <p:cNvSpPr/>
          <p:nvPr/>
        </p:nvSpPr>
        <p:spPr>
          <a:xfrm>
            <a:off x="1439280" y="4963680"/>
            <a:ext cx="73080" cy="81720"/>
          </a:xfrm>
          <a:prstGeom prst="line">
            <a:avLst/>
          </a:prstGeom>
          <a:ln w="25400">
            <a:solidFill>
              <a:srgbClr val="006d68"/>
            </a:solidFill>
            <a:round/>
          </a:ln>
        </p:spPr>
        <p:style>
          <a:lnRef idx="0"/>
          <a:fillRef idx="0"/>
          <a:effectRef idx="0"/>
          <a:fontRef idx="minor"/>
        </p:style>
      </p:sp>
      <p:sp>
        <p:nvSpPr>
          <p:cNvPr id="189" name="Shape 27"/>
          <p:cNvSpPr/>
          <p:nvPr/>
        </p:nvSpPr>
        <p:spPr>
          <a:xfrm>
            <a:off x="1512360" y="5045400"/>
            <a:ext cx="360" cy="73080"/>
          </a:xfrm>
          <a:prstGeom prst="line">
            <a:avLst/>
          </a:prstGeom>
          <a:ln w="25400">
            <a:solidFill>
              <a:srgbClr val="006d68"/>
            </a:solidFill>
            <a:round/>
          </a:ln>
        </p:spPr>
        <p:style>
          <a:lnRef idx="0"/>
          <a:fillRef idx="0"/>
          <a:effectRef idx="0"/>
          <a:fontRef idx="minor"/>
        </p:style>
      </p:sp>
      <p:sp>
        <p:nvSpPr>
          <p:cNvPr id="190" name="Text 28"/>
          <p:cNvSpPr/>
          <p:nvPr/>
        </p:nvSpPr>
        <p:spPr>
          <a:xfrm>
            <a:off x="1755720" y="4700160"/>
            <a:ext cx="1481040" cy="54828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600" spc="-1" strike="noStrike">
                <a:solidFill>
                  <a:srgbClr val="006d68"/>
                </a:solidFill>
                <a:latin typeface="Arial"/>
                <a:ea typeface="Arial"/>
              </a:rPr>
              <a:t>Human +</a:t>
            </a:r>
            <a:endParaRPr b="0" lang="en-US" sz="1600" spc="-1" strike="noStrike">
              <a:latin typeface="Arial"/>
            </a:endParaRPr>
          </a:p>
          <a:p>
            <a:pPr>
              <a:lnSpc>
                <a:spcPct val="100000"/>
              </a:lnSpc>
              <a:buNone/>
              <a:tabLst>
                <a:tab algn="l" pos="0"/>
              </a:tabLst>
            </a:pPr>
            <a:r>
              <a:rPr b="1" lang="en-US" sz="1600" spc="-1" strike="noStrike">
                <a:solidFill>
                  <a:srgbClr val="006d68"/>
                </a:solidFill>
                <a:latin typeface="Arial"/>
                <a:ea typeface="Arial"/>
              </a:rPr>
              <a:t>passkey</a:t>
            </a:r>
            <a:endParaRPr b="0" lang="en-US" sz="1600" spc="-1" strike="noStrike">
              <a:latin typeface="Arial"/>
            </a:endParaRPr>
          </a:p>
        </p:txBody>
      </p:sp>
      <p:sp>
        <p:nvSpPr>
          <p:cNvPr id="191" name="Shape 29"/>
          <p:cNvSpPr/>
          <p:nvPr/>
        </p:nvSpPr>
        <p:spPr>
          <a:xfrm flipV="1">
            <a:off x="5303520" y="4142160"/>
            <a:ext cx="360" cy="594360"/>
          </a:xfrm>
          <a:prstGeom prst="line">
            <a:avLst/>
          </a:prstGeom>
          <a:ln w="19050">
            <a:solidFill>
              <a:srgbClr val="006d68"/>
            </a:solidFill>
            <a:round/>
            <a:tailEnd len="med" type="triangle" w="med"/>
          </a:ln>
        </p:spPr>
        <p:style>
          <a:lnRef idx="0"/>
          <a:fillRef idx="0"/>
          <a:effectRef idx="0"/>
          <a:fontRef idx="minor"/>
        </p:style>
      </p:sp>
      <p:sp>
        <p:nvSpPr>
          <p:cNvPr id="192" name="Shape 30"/>
          <p:cNvSpPr/>
          <p:nvPr/>
        </p:nvSpPr>
        <p:spPr>
          <a:xfrm>
            <a:off x="4617720" y="4800600"/>
            <a:ext cx="1380240" cy="383760"/>
          </a:xfrm>
          <a:prstGeom prst="roundRect">
            <a:avLst>
              <a:gd name="adj" fmla="val 28571"/>
            </a:avLst>
          </a:prstGeom>
          <a:solidFill>
            <a:srgbClr val="eaf4ef"/>
          </a:solidFill>
          <a:ln w="12700">
            <a:solidFill>
              <a:srgbClr val="eaf4ef"/>
            </a:solidFill>
            <a:round/>
          </a:ln>
        </p:spPr>
        <p:style>
          <a:lnRef idx="0"/>
          <a:fillRef idx="0"/>
          <a:effectRef idx="0"/>
          <a:fontRef idx="minor"/>
        </p:style>
      </p:sp>
      <p:sp>
        <p:nvSpPr>
          <p:cNvPr id="193" name="Text 31"/>
          <p:cNvSpPr/>
          <p:nvPr/>
        </p:nvSpPr>
        <p:spPr>
          <a:xfrm>
            <a:off x="4700160" y="4818960"/>
            <a:ext cx="1215720" cy="33804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1230" spc="-1" strike="noStrike">
                <a:solidFill>
                  <a:srgbClr val="006d68"/>
                </a:solidFill>
                <a:latin typeface="Arial"/>
                <a:ea typeface="Arial"/>
              </a:rPr>
              <a:t>Policy</a:t>
            </a:r>
            <a:endParaRPr b="0" lang="en-US" sz="1230" spc="-1" strike="noStrike">
              <a:latin typeface="Arial"/>
            </a:endParaRPr>
          </a:p>
        </p:txBody>
      </p:sp>
      <p:sp>
        <p:nvSpPr>
          <p:cNvPr id="194" name="Shape 32"/>
          <p:cNvSpPr/>
          <p:nvPr/>
        </p:nvSpPr>
        <p:spPr>
          <a:xfrm>
            <a:off x="6702480" y="4142160"/>
            <a:ext cx="360" cy="576000"/>
          </a:xfrm>
          <a:prstGeom prst="line">
            <a:avLst/>
          </a:prstGeom>
          <a:ln w="19050">
            <a:solidFill>
              <a:srgbClr val="a27b3b"/>
            </a:solidFill>
            <a:round/>
            <a:tailEnd len="med" type="triangle" w="med"/>
          </a:ln>
        </p:spPr>
        <p:style>
          <a:lnRef idx="0"/>
          <a:fillRef idx="0"/>
          <a:effectRef idx="0"/>
          <a:fontRef idx="minor"/>
        </p:style>
      </p:sp>
      <p:sp>
        <p:nvSpPr>
          <p:cNvPr id="195" name="Shape 33"/>
          <p:cNvSpPr/>
          <p:nvPr/>
        </p:nvSpPr>
        <p:spPr>
          <a:xfrm>
            <a:off x="6117480" y="4800600"/>
            <a:ext cx="1215720" cy="383760"/>
          </a:xfrm>
          <a:prstGeom prst="roundRect">
            <a:avLst>
              <a:gd name="adj" fmla="val 28571"/>
            </a:avLst>
          </a:prstGeom>
          <a:solidFill>
            <a:srgbClr val="fff4dd"/>
          </a:solidFill>
          <a:ln w="12700">
            <a:solidFill>
              <a:srgbClr val="fff4dd"/>
            </a:solidFill>
            <a:round/>
          </a:ln>
        </p:spPr>
        <p:style>
          <a:lnRef idx="0"/>
          <a:fillRef idx="0"/>
          <a:effectRef idx="0"/>
          <a:fontRef idx="minor"/>
        </p:style>
      </p:sp>
      <p:sp>
        <p:nvSpPr>
          <p:cNvPr id="196" name="Text 34"/>
          <p:cNvSpPr/>
          <p:nvPr/>
        </p:nvSpPr>
        <p:spPr>
          <a:xfrm>
            <a:off x="6199560" y="4818960"/>
            <a:ext cx="1051200" cy="33804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1230" spc="-1" strike="noStrike">
                <a:solidFill>
                  <a:srgbClr val="815011"/>
                </a:solidFill>
                <a:latin typeface="Arial"/>
                <a:ea typeface="Arial"/>
              </a:rPr>
              <a:t>Reject</a:t>
            </a:r>
            <a:endParaRPr b="0" lang="en-US" sz="1230" spc="-1" strike="noStrike">
              <a:latin typeface="Arial"/>
            </a:endParaRPr>
          </a:p>
        </p:txBody>
      </p:sp>
      <p:sp>
        <p:nvSpPr>
          <p:cNvPr id="197" name="Shape 35"/>
          <p:cNvSpPr/>
          <p:nvPr/>
        </p:nvSpPr>
        <p:spPr>
          <a:xfrm>
            <a:off x="7351560" y="3867840"/>
            <a:ext cx="438840" cy="360"/>
          </a:xfrm>
          <a:prstGeom prst="line">
            <a:avLst/>
          </a:prstGeom>
          <a:ln w="15240">
            <a:solidFill>
              <a:srgbClr val="006d68"/>
            </a:solidFill>
            <a:round/>
          </a:ln>
        </p:spPr>
        <p:style>
          <a:lnRef idx="0"/>
          <a:fillRef idx="0"/>
          <a:effectRef idx="0"/>
          <a:fontRef idx="minor"/>
        </p:style>
      </p:sp>
      <p:sp>
        <p:nvSpPr>
          <p:cNvPr id="198" name="Shape 36"/>
          <p:cNvSpPr/>
          <p:nvPr/>
        </p:nvSpPr>
        <p:spPr>
          <a:xfrm>
            <a:off x="7790400" y="3867840"/>
            <a:ext cx="360" cy="1124640"/>
          </a:xfrm>
          <a:prstGeom prst="line">
            <a:avLst/>
          </a:prstGeom>
          <a:ln w="15240">
            <a:solidFill>
              <a:srgbClr val="006d68"/>
            </a:solidFill>
            <a:round/>
          </a:ln>
        </p:spPr>
        <p:style>
          <a:lnRef idx="0"/>
          <a:fillRef idx="0"/>
          <a:effectRef idx="0"/>
          <a:fontRef idx="minor"/>
        </p:style>
      </p:sp>
      <p:sp>
        <p:nvSpPr>
          <p:cNvPr id="199" name="Shape 37"/>
          <p:cNvSpPr/>
          <p:nvPr/>
        </p:nvSpPr>
        <p:spPr>
          <a:xfrm>
            <a:off x="7790400" y="4992480"/>
            <a:ext cx="585360" cy="360"/>
          </a:xfrm>
          <a:prstGeom prst="line">
            <a:avLst/>
          </a:prstGeom>
          <a:ln w="15240">
            <a:solidFill>
              <a:srgbClr val="006d68"/>
            </a:solidFill>
            <a:round/>
            <a:tailEnd len="med" type="triangle" w="med"/>
          </a:ln>
        </p:spPr>
        <p:style>
          <a:lnRef idx="0"/>
          <a:fillRef idx="0"/>
          <a:effectRef idx="0"/>
          <a:fontRef idx="minor"/>
        </p:style>
      </p:sp>
      <p:sp>
        <p:nvSpPr>
          <p:cNvPr id="200" name="Shape 38"/>
          <p:cNvSpPr/>
          <p:nvPr/>
        </p:nvSpPr>
        <p:spPr>
          <a:xfrm>
            <a:off x="8403480" y="4800600"/>
            <a:ext cx="2733840" cy="383760"/>
          </a:xfrm>
          <a:prstGeom prst="roundRect">
            <a:avLst>
              <a:gd name="adj" fmla="val 28571"/>
            </a:avLst>
          </a:prstGeom>
          <a:solidFill>
            <a:srgbClr val="ffffff"/>
          </a:solidFill>
          <a:ln w="12700">
            <a:solidFill>
              <a:srgbClr val="ffffff"/>
            </a:solidFill>
            <a:round/>
          </a:ln>
        </p:spPr>
        <p:style>
          <a:lnRef idx="0"/>
          <a:fillRef idx="0"/>
          <a:effectRef idx="0"/>
          <a:fontRef idx="minor"/>
        </p:style>
      </p:sp>
      <p:sp>
        <p:nvSpPr>
          <p:cNvPr id="201" name="Text 39"/>
          <p:cNvSpPr/>
          <p:nvPr/>
        </p:nvSpPr>
        <p:spPr>
          <a:xfrm>
            <a:off x="8485560" y="4818960"/>
            <a:ext cx="2568960" cy="33804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1230" spc="-1" strike="noStrike">
                <a:solidFill>
                  <a:srgbClr val="006d68"/>
                </a:solidFill>
                <a:latin typeface="Arial"/>
                <a:ea typeface="Arial"/>
              </a:rPr>
              <a:t>Decision log</a:t>
            </a:r>
            <a:endParaRPr b="0" lang="en-US" sz="1230" spc="-1" strike="noStrike">
              <a:latin typeface="Arial"/>
            </a:endParaRPr>
          </a:p>
        </p:txBody>
      </p:sp>
      <p:sp>
        <p:nvSpPr>
          <p:cNvPr id="202" name="Text 40"/>
          <p:cNvSpPr/>
          <p:nvPr/>
        </p:nvSpPr>
        <p:spPr>
          <a:xfrm>
            <a:off x="704160" y="6007680"/>
            <a:ext cx="10789560" cy="2282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1400" spc="-1" strike="noStrike">
                <a:solidFill>
                  <a:srgbClr val="54647b"/>
                </a:solidFill>
                <a:latin typeface="Arial"/>
                <a:ea typeface="Arial"/>
              </a:rPr>
              <a:t>Client + server integration · Demonstrated in Express</a:t>
            </a:r>
            <a:endParaRPr b="0" lang="en-US" sz="1400" spc="-1" strike="noStrike">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3f6fa"/>
        </a:solidFill>
      </p:bgPr>
    </p:bg>
    <p:spTree>
      <p:nvGrpSpPr>
        <p:cNvPr id="1" name=""/>
        <p:cNvGrpSpPr/>
        <p:nvPr/>
      </p:nvGrpSpPr>
      <p:grpSpPr>
        <a:xfrm>
          <a:off x="0" y="0"/>
          <a:ext cx="0" cy="0"/>
          <a:chOff x="0" y="0"/>
          <a:chExt cx="0" cy="0"/>
        </a:xfrm>
      </p:grpSpPr>
      <p:sp>
        <p:nvSpPr>
          <p:cNvPr id="203" name="Text 0"/>
          <p:cNvSpPr/>
          <p:nvPr/>
        </p:nvSpPr>
        <p:spPr>
          <a:xfrm>
            <a:off x="658440" y="384120"/>
            <a:ext cx="7772040" cy="20088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150" spc="117" strike="noStrike">
                <a:solidFill>
                  <a:srgbClr val="006d68"/>
                </a:solidFill>
                <a:latin typeface="Arial"/>
                <a:ea typeface="Arial"/>
              </a:rPr>
              <a:t>NOW WHAT / AI IN THE SOLUTION</a:t>
            </a:r>
            <a:endParaRPr b="0" lang="en-US" sz="1150" spc="-1" strike="noStrike">
              <a:latin typeface="Arial"/>
            </a:endParaRPr>
          </a:p>
        </p:txBody>
      </p:sp>
      <p:sp>
        <p:nvSpPr>
          <p:cNvPr id="204" name="Text 1"/>
          <p:cNvSpPr/>
          <p:nvPr/>
        </p:nvSpPr>
        <p:spPr>
          <a:xfrm>
            <a:off x="9464040" y="365760"/>
            <a:ext cx="2075400" cy="255600"/>
          </a:xfrm>
          <a:prstGeom prst="rect">
            <a:avLst/>
          </a:prstGeom>
          <a:noFill/>
          <a:ln w="0">
            <a:noFill/>
          </a:ln>
        </p:spPr>
        <p:style>
          <a:lnRef idx="0"/>
          <a:fillRef idx="0"/>
          <a:effectRef idx="0"/>
          <a:fontRef idx="minor"/>
        </p:style>
        <p:txBody>
          <a:bodyPr lIns="0" rIns="0" tIns="0" bIns="0" anchor="ctr">
            <a:noAutofit/>
          </a:bodyPr>
          <a:p>
            <a:pPr algn="r">
              <a:lnSpc>
                <a:spcPct val="100000"/>
              </a:lnSpc>
              <a:buNone/>
              <a:tabLst>
                <a:tab algn="l" pos="0"/>
              </a:tabLst>
            </a:pPr>
            <a:r>
              <a:rPr b="1" lang="en-US" sz="1500" spc="-1" strike="noStrike">
                <a:solidFill>
                  <a:srgbClr val="10243a"/>
                </a:solidFill>
                <a:latin typeface="Arial"/>
                <a:ea typeface="Arial"/>
              </a:rPr>
              <a:t>countersign.</a:t>
            </a:r>
            <a:endParaRPr b="0" lang="en-US" sz="1500" spc="-1" strike="noStrike">
              <a:latin typeface="Arial"/>
            </a:endParaRPr>
          </a:p>
        </p:txBody>
      </p:sp>
      <p:sp>
        <p:nvSpPr>
          <p:cNvPr id="205" name="Shape 2"/>
          <p:cNvSpPr/>
          <p:nvPr/>
        </p:nvSpPr>
        <p:spPr>
          <a:xfrm>
            <a:off x="658080" y="6437160"/>
            <a:ext cx="10872360" cy="360"/>
          </a:xfrm>
          <a:prstGeom prst="line">
            <a:avLst/>
          </a:prstGeom>
          <a:ln w="8890">
            <a:solidFill>
              <a:srgbClr val="dce4ee"/>
            </a:solidFill>
            <a:round/>
          </a:ln>
        </p:spPr>
        <p:style>
          <a:lnRef idx="0"/>
          <a:fillRef idx="0"/>
          <a:effectRef idx="0"/>
          <a:fontRef idx="minor"/>
        </p:style>
      </p:sp>
      <p:sp>
        <p:nvSpPr>
          <p:cNvPr id="206" name="Text 3"/>
          <p:cNvSpPr/>
          <p:nvPr/>
        </p:nvSpPr>
        <p:spPr>
          <a:xfrm>
            <a:off x="676800" y="6537960"/>
            <a:ext cx="8412120" cy="1458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850" spc="109" strike="noStrike">
                <a:solidFill>
                  <a:srgbClr val="54647b"/>
                </a:solidFill>
                <a:latin typeface="Arial"/>
                <a:ea typeface="Arial"/>
              </a:rPr>
              <a:t>HUMAN VERIFICATION FOR WEB APPS</a:t>
            </a:r>
            <a:endParaRPr b="0" lang="en-US" sz="850" spc="-1" strike="noStrike">
              <a:latin typeface="Arial"/>
            </a:endParaRPr>
          </a:p>
        </p:txBody>
      </p:sp>
      <p:sp>
        <p:nvSpPr>
          <p:cNvPr id="207" name="Text 4"/>
          <p:cNvSpPr/>
          <p:nvPr/>
        </p:nvSpPr>
        <p:spPr>
          <a:xfrm>
            <a:off x="11027520" y="6519600"/>
            <a:ext cx="475200" cy="182520"/>
          </a:xfrm>
          <a:prstGeom prst="rect">
            <a:avLst/>
          </a:prstGeom>
          <a:noFill/>
          <a:ln w="0">
            <a:noFill/>
          </a:ln>
        </p:spPr>
        <p:style>
          <a:lnRef idx="0"/>
          <a:fillRef idx="0"/>
          <a:effectRef idx="0"/>
          <a:fontRef idx="minor"/>
        </p:style>
        <p:txBody>
          <a:bodyPr lIns="0" rIns="0" tIns="0" bIns="0" anchor="ctr">
            <a:noAutofit/>
          </a:bodyPr>
          <a:p>
            <a:pPr algn="r">
              <a:lnSpc>
                <a:spcPct val="100000"/>
              </a:lnSpc>
              <a:buNone/>
              <a:tabLst>
                <a:tab algn="l" pos="0"/>
              </a:tabLst>
            </a:pPr>
            <a:r>
              <a:rPr b="0" lang="en-US" sz="1000" spc="-1" strike="noStrike">
                <a:solidFill>
                  <a:srgbClr val="54647b"/>
                </a:solidFill>
                <a:latin typeface="Arial"/>
                <a:ea typeface="Arial"/>
              </a:rPr>
              <a:t>06</a:t>
            </a:r>
            <a:endParaRPr b="0" lang="en-US" sz="1000" spc="-1" strike="noStrike">
              <a:latin typeface="Arial"/>
            </a:endParaRPr>
          </a:p>
        </p:txBody>
      </p:sp>
      <p:sp>
        <p:nvSpPr>
          <p:cNvPr id="208" name="Text 5"/>
          <p:cNvSpPr/>
          <p:nvPr/>
        </p:nvSpPr>
        <p:spPr>
          <a:xfrm>
            <a:off x="658440" y="969120"/>
            <a:ext cx="10926720" cy="7038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4100" spc="-1" strike="noStrike">
                <a:solidFill>
                  <a:srgbClr val="10243a"/>
                </a:solidFill>
                <a:latin typeface="Arial"/>
                <a:ea typeface="Arial"/>
              </a:rPr>
              <a:t>AI drafts. People approve.</a:t>
            </a:r>
            <a:endParaRPr b="0" lang="en-US" sz="4100" spc="-1" strike="noStrike">
              <a:latin typeface="Arial"/>
            </a:endParaRPr>
          </a:p>
        </p:txBody>
      </p:sp>
      <p:sp>
        <p:nvSpPr>
          <p:cNvPr id="209" name="Shape 6"/>
          <p:cNvSpPr/>
          <p:nvPr/>
        </p:nvSpPr>
        <p:spPr>
          <a:xfrm>
            <a:off x="3108960" y="2935080"/>
            <a:ext cx="264960" cy="360"/>
          </a:xfrm>
          <a:prstGeom prst="line">
            <a:avLst/>
          </a:prstGeom>
          <a:ln w="22860">
            <a:solidFill>
              <a:srgbClr val="006d68"/>
            </a:solidFill>
            <a:round/>
            <a:tailEnd len="med" type="triangle" w="med"/>
          </a:ln>
        </p:spPr>
        <p:style>
          <a:lnRef idx="0"/>
          <a:fillRef idx="0"/>
          <a:effectRef idx="0"/>
          <a:fontRef idx="minor"/>
        </p:style>
      </p:sp>
      <p:sp>
        <p:nvSpPr>
          <p:cNvPr id="210" name="Shape 7"/>
          <p:cNvSpPr/>
          <p:nvPr/>
        </p:nvSpPr>
        <p:spPr>
          <a:xfrm>
            <a:off x="5870160" y="2935080"/>
            <a:ext cx="265320" cy="360"/>
          </a:xfrm>
          <a:prstGeom prst="line">
            <a:avLst/>
          </a:prstGeom>
          <a:ln w="22860">
            <a:solidFill>
              <a:srgbClr val="006d68"/>
            </a:solidFill>
            <a:round/>
            <a:tailEnd len="med" type="triangle" w="med"/>
          </a:ln>
        </p:spPr>
        <p:style>
          <a:lnRef idx="0"/>
          <a:fillRef idx="0"/>
          <a:effectRef idx="0"/>
          <a:fontRef idx="minor"/>
        </p:style>
      </p:sp>
      <p:sp>
        <p:nvSpPr>
          <p:cNvPr id="211" name="Shape 8"/>
          <p:cNvSpPr/>
          <p:nvPr/>
        </p:nvSpPr>
        <p:spPr>
          <a:xfrm>
            <a:off x="8631720" y="2935080"/>
            <a:ext cx="265320" cy="360"/>
          </a:xfrm>
          <a:prstGeom prst="line">
            <a:avLst/>
          </a:prstGeom>
          <a:ln w="22860">
            <a:solidFill>
              <a:srgbClr val="006d68"/>
            </a:solidFill>
            <a:round/>
            <a:tailEnd len="med" type="triangle" w="med"/>
          </a:ln>
        </p:spPr>
        <p:style>
          <a:lnRef idx="0"/>
          <a:fillRef idx="0"/>
          <a:effectRef idx="0"/>
          <a:fontRef idx="minor"/>
        </p:style>
      </p:sp>
      <p:sp>
        <p:nvSpPr>
          <p:cNvPr id="212" name="Shape 9"/>
          <p:cNvSpPr/>
          <p:nvPr/>
        </p:nvSpPr>
        <p:spPr>
          <a:xfrm>
            <a:off x="694800" y="2194560"/>
            <a:ext cx="2514240" cy="1682280"/>
          </a:xfrm>
          <a:prstGeom prst="roundRect">
            <a:avLst>
              <a:gd name="adj" fmla="val 6522"/>
            </a:avLst>
          </a:prstGeom>
          <a:solidFill>
            <a:srgbClr val="ffffff"/>
          </a:solidFill>
          <a:ln w="12700">
            <a:solidFill>
              <a:srgbClr val="dce4ee"/>
            </a:solidFill>
            <a:round/>
          </a:ln>
        </p:spPr>
        <p:style>
          <a:lnRef idx="0"/>
          <a:fillRef idx="0"/>
          <a:effectRef idx="0"/>
          <a:fontRef idx="minor"/>
        </p:style>
      </p:sp>
      <p:sp>
        <p:nvSpPr>
          <p:cNvPr id="213" name="Shape 10"/>
          <p:cNvSpPr/>
          <p:nvPr/>
        </p:nvSpPr>
        <p:spPr>
          <a:xfrm>
            <a:off x="1721160" y="2495880"/>
            <a:ext cx="397800" cy="518760"/>
          </a:xfrm>
          <a:prstGeom prst="roundRect">
            <a:avLst>
              <a:gd name="adj" fmla="val 27548"/>
            </a:avLst>
          </a:prstGeom>
          <a:solidFill>
            <a:srgbClr val="ffffff"/>
          </a:solidFill>
          <a:ln w="25400">
            <a:solidFill>
              <a:srgbClr val="006d68"/>
            </a:solidFill>
            <a:round/>
          </a:ln>
        </p:spPr>
        <p:style>
          <a:lnRef idx="0"/>
          <a:fillRef idx="0"/>
          <a:effectRef idx="0"/>
          <a:fontRef idx="minor"/>
        </p:style>
      </p:sp>
      <p:sp>
        <p:nvSpPr>
          <p:cNvPr id="214" name="Shape 11"/>
          <p:cNvSpPr/>
          <p:nvPr/>
        </p:nvSpPr>
        <p:spPr>
          <a:xfrm>
            <a:off x="1805400" y="2640600"/>
            <a:ext cx="223200" cy="360"/>
          </a:xfrm>
          <a:prstGeom prst="line">
            <a:avLst/>
          </a:prstGeom>
          <a:ln w="25400">
            <a:solidFill>
              <a:srgbClr val="006d68"/>
            </a:solidFill>
            <a:round/>
          </a:ln>
        </p:spPr>
        <p:style>
          <a:lnRef idx="0"/>
          <a:fillRef idx="0"/>
          <a:effectRef idx="0"/>
          <a:fontRef idx="minor"/>
        </p:style>
      </p:sp>
      <p:sp>
        <p:nvSpPr>
          <p:cNvPr id="215" name="Shape 12"/>
          <p:cNvSpPr/>
          <p:nvPr/>
        </p:nvSpPr>
        <p:spPr>
          <a:xfrm>
            <a:off x="1805400" y="2755440"/>
            <a:ext cx="223200" cy="360"/>
          </a:xfrm>
          <a:prstGeom prst="line">
            <a:avLst/>
          </a:prstGeom>
          <a:ln w="25400">
            <a:solidFill>
              <a:srgbClr val="006d68"/>
            </a:solidFill>
            <a:round/>
          </a:ln>
        </p:spPr>
        <p:style>
          <a:lnRef idx="0"/>
          <a:fillRef idx="0"/>
          <a:effectRef idx="0"/>
          <a:fontRef idx="minor"/>
        </p:style>
      </p:sp>
      <p:sp>
        <p:nvSpPr>
          <p:cNvPr id="216" name="Shape 13"/>
          <p:cNvSpPr/>
          <p:nvPr/>
        </p:nvSpPr>
        <p:spPr>
          <a:xfrm>
            <a:off x="1805400" y="2869920"/>
            <a:ext cx="223200" cy="360"/>
          </a:xfrm>
          <a:prstGeom prst="line">
            <a:avLst/>
          </a:prstGeom>
          <a:ln w="25400">
            <a:solidFill>
              <a:srgbClr val="006d68"/>
            </a:solidFill>
            <a:round/>
          </a:ln>
        </p:spPr>
        <p:style>
          <a:lnRef idx="0"/>
          <a:fillRef idx="0"/>
          <a:effectRef idx="0"/>
          <a:fontRef idx="minor"/>
        </p:style>
      </p:sp>
      <p:sp>
        <p:nvSpPr>
          <p:cNvPr id="217" name="Text 14"/>
          <p:cNvSpPr/>
          <p:nvPr/>
        </p:nvSpPr>
        <p:spPr>
          <a:xfrm>
            <a:off x="786240" y="3319200"/>
            <a:ext cx="2331360" cy="29232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1920" spc="-1" strike="noStrike">
                <a:solidFill>
                  <a:srgbClr val="006d68"/>
                </a:solidFill>
                <a:latin typeface="Arial"/>
                <a:ea typeface="Arial"/>
              </a:rPr>
              <a:t>App pages</a:t>
            </a:r>
            <a:endParaRPr b="0" lang="en-US" sz="1920" spc="-1" strike="noStrike">
              <a:latin typeface="Arial"/>
            </a:endParaRPr>
          </a:p>
        </p:txBody>
      </p:sp>
      <p:sp>
        <p:nvSpPr>
          <p:cNvPr id="218" name="Shape 15"/>
          <p:cNvSpPr/>
          <p:nvPr/>
        </p:nvSpPr>
        <p:spPr>
          <a:xfrm>
            <a:off x="3456360" y="2194560"/>
            <a:ext cx="2514240" cy="1682280"/>
          </a:xfrm>
          <a:prstGeom prst="roundRect">
            <a:avLst>
              <a:gd name="adj" fmla="val 6522"/>
            </a:avLst>
          </a:prstGeom>
          <a:solidFill>
            <a:srgbClr val="ffffff"/>
          </a:solidFill>
          <a:ln w="12700">
            <a:solidFill>
              <a:srgbClr val="dce4ee"/>
            </a:solidFill>
            <a:round/>
          </a:ln>
        </p:spPr>
        <p:style>
          <a:lnRef idx="0"/>
          <a:fillRef idx="0"/>
          <a:effectRef idx="0"/>
          <a:fontRef idx="minor"/>
        </p:style>
      </p:sp>
      <p:sp>
        <p:nvSpPr>
          <p:cNvPr id="219" name="Shape 16"/>
          <p:cNvSpPr/>
          <p:nvPr/>
        </p:nvSpPr>
        <p:spPr>
          <a:xfrm>
            <a:off x="4681440" y="2483640"/>
            <a:ext cx="72360" cy="193320"/>
          </a:xfrm>
          <a:prstGeom prst="line">
            <a:avLst/>
          </a:prstGeom>
          <a:ln w="25400">
            <a:solidFill>
              <a:srgbClr val="006d68"/>
            </a:solidFill>
            <a:round/>
          </a:ln>
        </p:spPr>
        <p:style>
          <a:lnRef idx="0"/>
          <a:fillRef idx="0"/>
          <a:effectRef idx="0"/>
          <a:fontRef idx="minor"/>
        </p:style>
      </p:sp>
      <p:sp>
        <p:nvSpPr>
          <p:cNvPr id="220" name="Shape 17"/>
          <p:cNvSpPr/>
          <p:nvPr/>
        </p:nvSpPr>
        <p:spPr>
          <a:xfrm>
            <a:off x="4753800" y="2676960"/>
            <a:ext cx="193320" cy="72360"/>
          </a:xfrm>
          <a:prstGeom prst="line">
            <a:avLst/>
          </a:prstGeom>
          <a:ln w="25400">
            <a:solidFill>
              <a:srgbClr val="006d68"/>
            </a:solidFill>
            <a:round/>
          </a:ln>
        </p:spPr>
        <p:style>
          <a:lnRef idx="0"/>
          <a:fillRef idx="0"/>
          <a:effectRef idx="0"/>
          <a:fontRef idx="minor"/>
        </p:style>
      </p:sp>
      <p:sp>
        <p:nvSpPr>
          <p:cNvPr id="221" name="Shape 18"/>
          <p:cNvSpPr/>
          <p:nvPr/>
        </p:nvSpPr>
        <p:spPr>
          <a:xfrm flipH="1">
            <a:off x="4753800" y="2749320"/>
            <a:ext cx="193320" cy="72360"/>
          </a:xfrm>
          <a:prstGeom prst="line">
            <a:avLst/>
          </a:prstGeom>
          <a:ln w="25400">
            <a:solidFill>
              <a:srgbClr val="006d68"/>
            </a:solidFill>
            <a:round/>
          </a:ln>
        </p:spPr>
        <p:style>
          <a:lnRef idx="0"/>
          <a:fillRef idx="0"/>
          <a:effectRef idx="0"/>
          <a:fontRef idx="minor"/>
        </p:style>
      </p:sp>
      <p:sp>
        <p:nvSpPr>
          <p:cNvPr id="222" name="Shape 19"/>
          <p:cNvSpPr/>
          <p:nvPr/>
        </p:nvSpPr>
        <p:spPr>
          <a:xfrm flipH="1">
            <a:off x="4681440" y="2821680"/>
            <a:ext cx="72360" cy="199080"/>
          </a:xfrm>
          <a:prstGeom prst="line">
            <a:avLst/>
          </a:prstGeom>
          <a:ln w="25400">
            <a:solidFill>
              <a:srgbClr val="006d68"/>
            </a:solidFill>
            <a:round/>
          </a:ln>
        </p:spPr>
        <p:style>
          <a:lnRef idx="0"/>
          <a:fillRef idx="0"/>
          <a:effectRef idx="0"/>
          <a:fontRef idx="minor"/>
        </p:style>
      </p:sp>
      <p:sp>
        <p:nvSpPr>
          <p:cNvPr id="223" name="Shape 20"/>
          <p:cNvSpPr/>
          <p:nvPr/>
        </p:nvSpPr>
        <p:spPr>
          <a:xfrm flipH="1" flipV="1">
            <a:off x="4609080" y="2821680"/>
            <a:ext cx="72360" cy="199080"/>
          </a:xfrm>
          <a:prstGeom prst="line">
            <a:avLst/>
          </a:prstGeom>
          <a:ln w="25400">
            <a:solidFill>
              <a:srgbClr val="006d68"/>
            </a:solidFill>
            <a:round/>
          </a:ln>
        </p:spPr>
        <p:style>
          <a:lnRef idx="0"/>
          <a:fillRef idx="0"/>
          <a:effectRef idx="0"/>
          <a:fontRef idx="minor"/>
        </p:style>
      </p:sp>
      <p:sp>
        <p:nvSpPr>
          <p:cNvPr id="224" name="Shape 21"/>
          <p:cNvSpPr/>
          <p:nvPr/>
        </p:nvSpPr>
        <p:spPr>
          <a:xfrm flipH="1" flipV="1">
            <a:off x="4416120" y="2749320"/>
            <a:ext cx="192960" cy="72360"/>
          </a:xfrm>
          <a:prstGeom prst="line">
            <a:avLst/>
          </a:prstGeom>
          <a:ln w="25400">
            <a:solidFill>
              <a:srgbClr val="006d68"/>
            </a:solidFill>
            <a:round/>
          </a:ln>
        </p:spPr>
        <p:style>
          <a:lnRef idx="0"/>
          <a:fillRef idx="0"/>
          <a:effectRef idx="0"/>
          <a:fontRef idx="minor"/>
        </p:style>
      </p:sp>
      <p:sp>
        <p:nvSpPr>
          <p:cNvPr id="225" name="Shape 22"/>
          <p:cNvSpPr/>
          <p:nvPr/>
        </p:nvSpPr>
        <p:spPr>
          <a:xfrm flipV="1">
            <a:off x="4416120" y="2676960"/>
            <a:ext cx="192960" cy="72360"/>
          </a:xfrm>
          <a:prstGeom prst="line">
            <a:avLst/>
          </a:prstGeom>
          <a:ln w="25400">
            <a:solidFill>
              <a:srgbClr val="006d68"/>
            </a:solidFill>
            <a:round/>
          </a:ln>
        </p:spPr>
        <p:style>
          <a:lnRef idx="0"/>
          <a:fillRef idx="0"/>
          <a:effectRef idx="0"/>
          <a:fontRef idx="minor"/>
        </p:style>
      </p:sp>
      <p:sp>
        <p:nvSpPr>
          <p:cNvPr id="226" name="Shape 23"/>
          <p:cNvSpPr/>
          <p:nvPr/>
        </p:nvSpPr>
        <p:spPr>
          <a:xfrm flipV="1">
            <a:off x="4609080" y="2483640"/>
            <a:ext cx="72360" cy="193320"/>
          </a:xfrm>
          <a:prstGeom prst="line">
            <a:avLst/>
          </a:prstGeom>
          <a:ln w="25400">
            <a:solidFill>
              <a:srgbClr val="006d68"/>
            </a:solidFill>
            <a:round/>
          </a:ln>
        </p:spPr>
        <p:style>
          <a:lnRef idx="0"/>
          <a:fillRef idx="0"/>
          <a:effectRef idx="0"/>
          <a:fontRef idx="minor"/>
        </p:style>
      </p:sp>
      <p:sp>
        <p:nvSpPr>
          <p:cNvPr id="227" name="Text 24"/>
          <p:cNvSpPr/>
          <p:nvPr/>
        </p:nvSpPr>
        <p:spPr>
          <a:xfrm>
            <a:off x="3547800" y="3319200"/>
            <a:ext cx="2331360" cy="29232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1920" spc="-1" strike="noStrike">
                <a:solidFill>
                  <a:srgbClr val="006d68"/>
                </a:solidFill>
                <a:latin typeface="Arial"/>
                <a:ea typeface="Arial"/>
              </a:rPr>
              <a:t>AI draft</a:t>
            </a:r>
            <a:endParaRPr b="0" lang="en-US" sz="1920" spc="-1" strike="noStrike">
              <a:latin typeface="Arial"/>
            </a:endParaRPr>
          </a:p>
        </p:txBody>
      </p:sp>
      <p:sp>
        <p:nvSpPr>
          <p:cNvPr id="228" name="Shape 25"/>
          <p:cNvSpPr/>
          <p:nvPr/>
        </p:nvSpPr>
        <p:spPr>
          <a:xfrm>
            <a:off x="6217920" y="2194560"/>
            <a:ext cx="2514240" cy="1682280"/>
          </a:xfrm>
          <a:prstGeom prst="roundRect">
            <a:avLst>
              <a:gd name="adj" fmla="val 6522"/>
            </a:avLst>
          </a:prstGeom>
          <a:solidFill>
            <a:srgbClr val="bcf58a"/>
          </a:solidFill>
          <a:ln w="12700">
            <a:solidFill>
              <a:srgbClr val="bcf58a"/>
            </a:solidFill>
            <a:round/>
          </a:ln>
        </p:spPr>
        <p:style>
          <a:lnRef idx="0"/>
          <a:fillRef idx="0"/>
          <a:effectRef idx="0"/>
          <a:fontRef idx="minor"/>
        </p:style>
      </p:sp>
      <p:sp>
        <p:nvSpPr>
          <p:cNvPr id="229" name="Shape 26"/>
          <p:cNvSpPr/>
          <p:nvPr/>
        </p:nvSpPr>
        <p:spPr>
          <a:xfrm>
            <a:off x="7340760" y="2484000"/>
            <a:ext cx="204840" cy="204840"/>
          </a:xfrm>
          <a:prstGeom prst="ellipse">
            <a:avLst/>
          </a:prstGeom>
          <a:solidFill>
            <a:srgbClr val="bcf58a"/>
          </a:solidFill>
          <a:ln w="25400">
            <a:solidFill>
              <a:srgbClr val="10243a"/>
            </a:solidFill>
            <a:round/>
          </a:ln>
        </p:spPr>
        <p:style>
          <a:lnRef idx="0"/>
          <a:fillRef idx="0"/>
          <a:effectRef idx="0"/>
          <a:fontRef idx="minor"/>
        </p:style>
      </p:sp>
      <p:sp>
        <p:nvSpPr>
          <p:cNvPr id="230" name="Shape 27"/>
          <p:cNvSpPr/>
          <p:nvPr/>
        </p:nvSpPr>
        <p:spPr>
          <a:xfrm flipV="1">
            <a:off x="7225920" y="2906280"/>
            <a:ext cx="360" cy="102600"/>
          </a:xfrm>
          <a:prstGeom prst="line">
            <a:avLst/>
          </a:prstGeom>
          <a:ln w="25400">
            <a:solidFill>
              <a:srgbClr val="10243a"/>
            </a:solidFill>
            <a:round/>
          </a:ln>
        </p:spPr>
        <p:style>
          <a:lnRef idx="0"/>
          <a:fillRef idx="0"/>
          <a:effectRef idx="0"/>
          <a:fontRef idx="minor"/>
        </p:style>
      </p:sp>
      <p:sp>
        <p:nvSpPr>
          <p:cNvPr id="231" name="Shape 28"/>
          <p:cNvSpPr/>
          <p:nvPr/>
        </p:nvSpPr>
        <p:spPr>
          <a:xfrm flipV="1">
            <a:off x="7225920" y="2791440"/>
            <a:ext cx="102600" cy="114840"/>
          </a:xfrm>
          <a:prstGeom prst="line">
            <a:avLst/>
          </a:prstGeom>
          <a:ln w="25400">
            <a:solidFill>
              <a:srgbClr val="10243a"/>
            </a:solidFill>
            <a:round/>
          </a:ln>
        </p:spPr>
        <p:style>
          <a:lnRef idx="0"/>
          <a:fillRef idx="0"/>
          <a:effectRef idx="0"/>
          <a:fontRef idx="minor"/>
        </p:style>
      </p:sp>
      <p:sp>
        <p:nvSpPr>
          <p:cNvPr id="232" name="Shape 29"/>
          <p:cNvSpPr/>
          <p:nvPr/>
        </p:nvSpPr>
        <p:spPr>
          <a:xfrm>
            <a:off x="7328520" y="2791440"/>
            <a:ext cx="229320" cy="360"/>
          </a:xfrm>
          <a:prstGeom prst="line">
            <a:avLst/>
          </a:prstGeom>
          <a:ln w="25400">
            <a:solidFill>
              <a:srgbClr val="10243a"/>
            </a:solidFill>
            <a:round/>
          </a:ln>
        </p:spPr>
        <p:style>
          <a:lnRef idx="0"/>
          <a:fillRef idx="0"/>
          <a:effectRef idx="0"/>
          <a:fontRef idx="minor"/>
        </p:style>
      </p:sp>
      <p:sp>
        <p:nvSpPr>
          <p:cNvPr id="233" name="Shape 30"/>
          <p:cNvSpPr/>
          <p:nvPr/>
        </p:nvSpPr>
        <p:spPr>
          <a:xfrm>
            <a:off x="7557840" y="2791440"/>
            <a:ext cx="102600" cy="114840"/>
          </a:xfrm>
          <a:prstGeom prst="line">
            <a:avLst/>
          </a:prstGeom>
          <a:ln w="25400">
            <a:solidFill>
              <a:srgbClr val="10243a"/>
            </a:solidFill>
            <a:round/>
          </a:ln>
        </p:spPr>
        <p:style>
          <a:lnRef idx="0"/>
          <a:fillRef idx="0"/>
          <a:effectRef idx="0"/>
          <a:fontRef idx="minor"/>
        </p:style>
      </p:sp>
      <p:sp>
        <p:nvSpPr>
          <p:cNvPr id="234" name="Shape 31"/>
          <p:cNvSpPr/>
          <p:nvPr/>
        </p:nvSpPr>
        <p:spPr>
          <a:xfrm>
            <a:off x="7660440" y="2906280"/>
            <a:ext cx="360" cy="102600"/>
          </a:xfrm>
          <a:prstGeom prst="line">
            <a:avLst/>
          </a:prstGeom>
          <a:ln w="25400">
            <a:solidFill>
              <a:srgbClr val="10243a"/>
            </a:solidFill>
            <a:round/>
          </a:ln>
        </p:spPr>
        <p:style>
          <a:lnRef idx="0"/>
          <a:fillRef idx="0"/>
          <a:effectRef idx="0"/>
          <a:fontRef idx="minor"/>
        </p:style>
      </p:sp>
      <p:sp>
        <p:nvSpPr>
          <p:cNvPr id="235" name="Text 32"/>
          <p:cNvSpPr/>
          <p:nvPr/>
        </p:nvSpPr>
        <p:spPr>
          <a:xfrm>
            <a:off x="6309360" y="3319200"/>
            <a:ext cx="2331360" cy="29232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1920" spc="-1" strike="noStrike">
                <a:solidFill>
                  <a:srgbClr val="10243a"/>
                </a:solidFill>
                <a:latin typeface="Arial"/>
                <a:ea typeface="Arial"/>
              </a:rPr>
              <a:t>Human review</a:t>
            </a:r>
            <a:endParaRPr b="0" lang="en-US" sz="1920" spc="-1" strike="noStrike">
              <a:latin typeface="Arial"/>
            </a:endParaRPr>
          </a:p>
        </p:txBody>
      </p:sp>
      <p:sp>
        <p:nvSpPr>
          <p:cNvPr id="236" name="Shape 33"/>
          <p:cNvSpPr/>
          <p:nvPr/>
        </p:nvSpPr>
        <p:spPr>
          <a:xfrm>
            <a:off x="8979480" y="2194560"/>
            <a:ext cx="2514240" cy="1682280"/>
          </a:xfrm>
          <a:prstGeom prst="roundRect">
            <a:avLst>
              <a:gd name="adj" fmla="val 6522"/>
            </a:avLst>
          </a:prstGeom>
          <a:solidFill>
            <a:srgbClr val="ffffff"/>
          </a:solidFill>
          <a:ln w="12700">
            <a:solidFill>
              <a:srgbClr val="dce4ee"/>
            </a:solidFill>
            <a:round/>
          </a:ln>
        </p:spPr>
        <p:style>
          <a:lnRef idx="0"/>
          <a:fillRef idx="0"/>
          <a:effectRef idx="0"/>
          <a:fontRef idx="minor"/>
        </p:style>
      </p:sp>
      <p:sp>
        <p:nvSpPr>
          <p:cNvPr id="237" name="Shape 34"/>
          <p:cNvSpPr/>
          <p:nvPr/>
        </p:nvSpPr>
        <p:spPr>
          <a:xfrm>
            <a:off x="9975240" y="2761200"/>
            <a:ext cx="168840" cy="169200"/>
          </a:xfrm>
          <a:prstGeom prst="line">
            <a:avLst/>
          </a:prstGeom>
          <a:ln w="38100">
            <a:solidFill>
              <a:srgbClr val="006d68"/>
            </a:solidFill>
            <a:round/>
          </a:ln>
        </p:spPr>
        <p:style>
          <a:lnRef idx="0"/>
          <a:fillRef idx="0"/>
          <a:effectRef idx="0"/>
          <a:fontRef idx="minor"/>
        </p:style>
      </p:sp>
      <p:sp>
        <p:nvSpPr>
          <p:cNvPr id="238" name="Shape 35"/>
          <p:cNvSpPr/>
          <p:nvPr/>
        </p:nvSpPr>
        <p:spPr>
          <a:xfrm flipV="1">
            <a:off x="10144080" y="2544120"/>
            <a:ext cx="313920" cy="386280"/>
          </a:xfrm>
          <a:prstGeom prst="line">
            <a:avLst/>
          </a:prstGeom>
          <a:ln w="38100">
            <a:solidFill>
              <a:srgbClr val="006d68"/>
            </a:solidFill>
            <a:round/>
          </a:ln>
        </p:spPr>
        <p:style>
          <a:lnRef idx="0"/>
          <a:fillRef idx="0"/>
          <a:effectRef idx="0"/>
          <a:fontRef idx="minor"/>
        </p:style>
      </p:sp>
      <p:sp>
        <p:nvSpPr>
          <p:cNvPr id="239" name="Text 36"/>
          <p:cNvSpPr/>
          <p:nvPr/>
        </p:nvSpPr>
        <p:spPr>
          <a:xfrm>
            <a:off x="9070920" y="3319200"/>
            <a:ext cx="2331360" cy="29232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1920" spc="-1" strike="noStrike">
                <a:solidFill>
                  <a:srgbClr val="006d68"/>
                </a:solidFill>
                <a:latin typeface="Arial"/>
                <a:ea typeface="Arial"/>
              </a:rPr>
              <a:t>Active policy</a:t>
            </a:r>
            <a:endParaRPr b="0" lang="en-US" sz="1920" spc="-1" strike="noStrike">
              <a:latin typeface="Arial"/>
            </a:endParaRPr>
          </a:p>
        </p:txBody>
      </p:sp>
      <p:sp>
        <p:nvSpPr>
          <p:cNvPr id="240" name="Shape 37"/>
          <p:cNvSpPr/>
          <p:nvPr/>
        </p:nvSpPr>
        <p:spPr>
          <a:xfrm>
            <a:off x="694800" y="4270320"/>
            <a:ext cx="10807920" cy="1737000"/>
          </a:xfrm>
          <a:prstGeom prst="roundRect">
            <a:avLst>
              <a:gd name="adj" fmla="val 6316"/>
            </a:avLst>
          </a:prstGeom>
          <a:solidFill>
            <a:srgbClr val="ffffff"/>
          </a:solidFill>
          <a:ln w="12700">
            <a:solidFill>
              <a:srgbClr val="dce4ee"/>
            </a:solidFill>
            <a:round/>
          </a:ln>
        </p:spPr>
        <p:style>
          <a:lnRef idx="0"/>
          <a:fillRef idx="0"/>
          <a:effectRef idx="0"/>
          <a:fontRef idx="minor"/>
        </p:style>
      </p:sp>
      <p:sp>
        <p:nvSpPr>
          <p:cNvPr id="241" name="Text 38"/>
          <p:cNvSpPr/>
          <p:nvPr/>
        </p:nvSpPr>
        <p:spPr>
          <a:xfrm>
            <a:off x="969120" y="4553640"/>
            <a:ext cx="5394600" cy="20088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150" spc="117" strike="noStrike">
                <a:solidFill>
                  <a:srgbClr val="006d68"/>
                </a:solidFill>
                <a:latin typeface="Arial"/>
                <a:ea typeface="Arial"/>
              </a:rPr>
              <a:t>THE ACTIVATION BOUNDARY</a:t>
            </a:r>
            <a:endParaRPr b="0" lang="en-US" sz="1150" spc="-1" strike="noStrike">
              <a:latin typeface="Arial"/>
            </a:endParaRPr>
          </a:p>
        </p:txBody>
      </p:sp>
      <p:sp>
        <p:nvSpPr>
          <p:cNvPr id="242" name="Text 39"/>
          <p:cNvSpPr/>
          <p:nvPr/>
        </p:nvSpPr>
        <p:spPr>
          <a:xfrm>
            <a:off x="969120" y="5020200"/>
            <a:ext cx="5120280" cy="5666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3300" spc="-1" strike="noStrike">
                <a:solidFill>
                  <a:srgbClr val="10243a"/>
                </a:solidFill>
                <a:latin typeface="Arial"/>
                <a:ea typeface="Arial"/>
              </a:rPr>
              <a:t>Draft ≠ active.</a:t>
            </a:r>
            <a:endParaRPr b="0" lang="en-US" sz="3300" spc="-1" strike="noStrike">
              <a:latin typeface="Arial"/>
            </a:endParaRPr>
          </a:p>
        </p:txBody>
      </p:sp>
      <p:pic>
        <p:nvPicPr>
          <p:cNvPr id="243" name="Image 0" descr="Real current quiz-policy title and route; current active and draft are identical."/>
          <p:cNvPicPr/>
          <p:nvPr/>
        </p:nvPicPr>
        <p:blipFill>
          <a:blip r:embed="rId1"/>
          <a:stretch/>
        </p:blipFill>
        <p:spPr>
          <a:xfrm>
            <a:off x="6574680" y="4563000"/>
            <a:ext cx="4516920" cy="544680"/>
          </a:xfrm>
          <a:prstGeom prst="rect">
            <a:avLst/>
          </a:prstGeom>
          <a:ln w="0">
            <a:noFill/>
          </a:ln>
        </p:spPr>
      </p:pic>
      <p:pic>
        <p:nvPicPr>
          <p:cNvPr id="244" name="Image 1" descr="Real Approve this rule control; no approval or new generation was performed for capture."/>
          <p:cNvPicPr/>
          <p:nvPr/>
        </p:nvPicPr>
        <p:blipFill>
          <a:blip r:embed="rId2"/>
          <a:stretch/>
        </p:blipFill>
        <p:spPr>
          <a:xfrm>
            <a:off x="7571160" y="5175360"/>
            <a:ext cx="2194200" cy="658080"/>
          </a:xfrm>
          <a:prstGeom prst="rect">
            <a:avLst/>
          </a:prstGeom>
          <a:ln w="0">
            <a:noFill/>
          </a:ln>
        </p:spPr>
      </p:pic>
      <p:sp>
        <p:nvSpPr>
          <p:cNvPr id="245" name="Text 40"/>
          <p:cNvSpPr/>
          <p:nvPr/>
        </p:nvSpPr>
        <p:spPr>
          <a:xfrm>
            <a:off x="6565320" y="6108120"/>
            <a:ext cx="4690440" cy="14580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0" lang="en-US" sz="950" spc="-1" strike="noStrike">
                <a:solidFill>
                  <a:srgbClr val="54647b"/>
                </a:solidFill>
                <a:latin typeface="Arial"/>
                <a:ea typeface="Arial"/>
              </a:rPr>
              <a:t>Policy-review UI · detail crops</a:t>
            </a:r>
            <a:endParaRPr b="0" lang="en-US" sz="950" spc="-1" strike="noStrike">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0243a"/>
        </a:solidFill>
      </p:bgPr>
    </p:bg>
    <p:spTree>
      <p:nvGrpSpPr>
        <p:cNvPr id="1" name=""/>
        <p:cNvGrpSpPr/>
        <p:nvPr/>
      </p:nvGrpSpPr>
      <p:grpSpPr>
        <a:xfrm>
          <a:off x="0" y="0"/>
          <a:ext cx="0" cy="0"/>
          <a:chOff x="0" y="0"/>
          <a:chExt cx="0" cy="0"/>
        </a:xfrm>
      </p:grpSpPr>
      <p:sp>
        <p:nvSpPr>
          <p:cNvPr id="246" name="Text 0"/>
          <p:cNvSpPr/>
          <p:nvPr/>
        </p:nvSpPr>
        <p:spPr>
          <a:xfrm>
            <a:off x="658440" y="384120"/>
            <a:ext cx="7772040" cy="20088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150" spc="117" strike="noStrike">
                <a:solidFill>
                  <a:srgbClr val="bcf58a"/>
                </a:solidFill>
                <a:latin typeface="Arial"/>
                <a:ea typeface="Arial"/>
              </a:rPr>
              <a:t>NOW WHAT / BEYOND TRAINING</a:t>
            </a:r>
            <a:endParaRPr b="0" lang="en-US" sz="1150" spc="-1" strike="noStrike">
              <a:latin typeface="Arial"/>
            </a:endParaRPr>
          </a:p>
        </p:txBody>
      </p:sp>
      <p:sp>
        <p:nvSpPr>
          <p:cNvPr id="247" name="Text 1"/>
          <p:cNvSpPr/>
          <p:nvPr/>
        </p:nvSpPr>
        <p:spPr>
          <a:xfrm>
            <a:off x="9464040" y="365760"/>
            <a:ext cx="2075400" cy="255600"/>
          </a:xfrm>
          <a:prstGeom prst="rect">
            <a:avLst/>
          </a:prstGeom>
          <a:noFill/>
          <a:ln w="0">
            <a:noFill/>
          </a:ln>
        </p:spPr>
        <p:style>
          <a:lnRef idx="0"/>
          <a:fillRef idx="0"/>
          <a:effectRef idx="0"/>
          <a:fontRef idx="minor"/>
        </p:style>
        <p:txBody>
          <a:bodyPr lIns="0" rIns="0" tIns="0" bIns="0" anchor="ctr">
            <a:noAutofit/>
          </a:bodyPr>
          <a:p>
            <a:pPr algn="r">
              <a:lnSpc>
                <a:spcPct val="100000"/>
              </a:lnSpc>
              <a:buNone/>
              <a:tabLst>
                <a:tab algn="l" pos="0"/>
              </a:tabLst>
            </a:pPr>
            <a:r>
              <a:rPr b="1" lang="en-US" sz="1500" spc="-1" strike="noStrike">
                <a:solidFill>
                  <a:srgbClr val="ffffff"/>
                </a:solidFill>
                <a:latin typeface="Arial"/>
                <a:ea typeface="Arial"/>
              </a:rPr>
              <a:t>countersign.</a:t>
            </a:r>
            <a:endParaRPr b="0" lang="en-US" sz="1500" spc="-1" strike="noStrike">
              <a:latin typeface="Arial"/>
            </a:endParaRPr>
          </a:p>
        </p:txBody>
      </p:sp>
      <p:sp>
        <p:nvSpPr>
          <p:cNvPr id="248" name="Shape 2"/>
          <p:cNvSpPr/>
          <p:nvPr/>
        </p:nvSpPr>
        <p:spPr>
          <a:xfrm>
            <a:off x="658080" y="6437160"/>
            <a:ext cx="10872360" cy="360"/>
          </a:xfrm>
          <a:prstGeom prst="line">
            <a:avLst/>
          </a:prstGeom>
          <a:ln w="8890">
            <a:solidFill>
              <a:srgbClr val="2d485a"/>
            </a:solidFill>
            <a:round/>
          </a:ln>
        </p:spPr>
        <p:style>
          <a:lnRef idx="0"/>
          <a:fillRef idx="0"/>
          <a:effectRef idx="0"/>
          <a:fontRef idx="minor"/>
        </p:style>
      </p:sp>
      <p:sp>
        <p:nvSpPr>
          <p:cNvPr id="249" name="Text 3"/>
          <p:cNvSpPr/>
          <p:nvPr/>
        </p:nvSpPr>
        <p:spPr>
          <a:xfrm>
            <a:off x="676800" y="6537960"/>
            <a:ext cx="8412120" cy="1458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850" spc="109" strike="noStrike">
                <a:solidFill>
                  <a:srgbClr val="8ca5b6"/>
                </a:solidFill>
                <a:latin typeface="Arial"/>
                <a:ea typeface="Arial"/>
              </a:rPr>
              <a:t>HUMAN VERIFICATION FOR WEB APPS</a:t>
            </a:r>
            <a:endParaRPr b="0" lang="en-US" sz="850" spc="-1" strike="noStrike">
              <a:latin typeface="Arial"/>
            </a:endParaRPr>
          </a:p>
        </p:txBody>
      </p:sp>
      <p:sp>
        <p:nvSpPr>
          <p:cNvPr id="250" name="Text 4"/>
          <p:cNvSpPr/>
          <p:nvPr/>
        </p:nvSpPr>
        <p:spPr>
          <a:xfrm>
            <a:off x="11027520" y="6519600"/>
            <a:ext cx="475200" cy="182520"/>
          </a:xfrm>
          <a:prstGeom prst="rect">
            <a:avLst/>
          </a:prstGeom>
          <a:noFill/>
          <a:ln w="0">
            <a:noFill/>
          </a:ln>
        </p:spPr>
        <p:style>
          <a:lnRef idx="0"/>
          <a:fillRef idx="0"/>
          <a:effectRef idx="0"/>
          <a:fontRef idx="minor"/>
        </p:style>
        <p:txBody>
          <a:bodyPr lIns="0" rIns="0" tIns="0" bIns="0" anchor="ctr">
            <a:noAutofit/>
          </a:bodyPr>
          <a:p>
            <a:pPr algn="r">
              <a:lnSpc>
                <a:spcPct val="100000"/>
              </a:lnSpc>
              <a:buNone/>
              <a:tabLst>
                <a:tab algn="l" pos="0"/>
              </a:tabLst>
            </a:pPr>
            <a:r>
              <a:rPr b="0" lang="en-US" sz="1000" spc="-1" strike="noStrike">
                <a:solidFill>
                  <a:srgbClr val="8ca5b6"/>
                </a:solidFill>
                <a:latin typeface="Arial"/>
                <a:ea typeface="Arial"/>
              </a:rPr>
              <a:t>07</a:t>
            </a:r>
            <a:endParaRPr b="0" lang="en-US" sz="1000" spc="-1" strike="noStrike">
              <a:latin typeface="Arial"/>
            </a:endParaRPr>
          </a:p>
        </p:txBody>
      </p:sp>
      <p:sp>
        <p:nvSpPr>
          <p:cNvPr id="251" name="Text 5"/>
          <p:cNvSpPr/>
          <p:nvPr/>
        </p:nvSpPr>
        <p:spPr>
          <a:xfrm>
            <a:off x="658440" y="969120"/>
            <a:ext cx="10926720" cy="7038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3800" spc="-1" strike="noStrike">
                <a:solidFill>
                  <a:srgbClr val="ffffff"/>
                </a:solidFill>
                <a:latin typeface="Arial"/>
                <a:ea typeface="Arial"/>
              </a:rPr>
              <a:t>Training is the starting point.</a:t>
            </a:r>
            <a:endParaRPr b="0" lang="en-US" sz="3800" spc="-1" strike="noStrike">
              <a:latin typeface="Arial"/>
            </a:endParaRPr>
          </a:p>
        </p:txBody>
      </p:sp>
      <p:sp>
        <p:nvSpPr>
          <p:cNvPr id="252" name="Text 6"/>
          <p:cNvSpPr/>
          <p:nvPr/>
        </p:nvSpPr>
        <p:spPr>
          <a:xfrm>
            <a:off x="731520" y="2030040"/>
            <a:ext cx="2486880" cy="20088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150" spc="117" strike="noStrike">
                <a:solidFill>
                  <a:srgbClr val="bcf58a"/>
                </a:solidFill>
                <a:latin typeface="Arial"/>
                <a:ea typeface="Arial"/>
              </a:rPr>
              <a:t>BUILT</a:t>
            </a:r>
            <a:endParaRPr b="0" lang="en-US" sz="1150" spc="-1" strike="noStrike">
              <a:latin typeface="Arial"/>
            </a:endParaRPr>
          </a:p>
        </p:txBody>
      </p:sp>
      <p:sp>
        <p:nvSpPr>
          <p:cNvPr id="253" name="Text 7"/>
          <p:cNvSpPr/>
          <p:nvPr/>
        </p:nvSpPr>
        <p:spPr>
          <a:xfrm>
            <a:off x="3502080" y="2030040"/>
            <a:ext cx="7772040" cy="20088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150" spc="117" strike="noStrike">
                <a:solidFill>
                  <a:srgbClr val="8ca5b6"/>
                </a:solidFill>
                <a:latin typeface="Arial"/>
                <a:ea typeface="Arial"/>
              </a:rPr>
              <a:t>POTENTIAL APPLICATIONS</a:t>
            </a:r>
            <a:endParaRPr b="0" lang="en-US" sz="1150" spc="-1" strike="noStrike">
              <a:latin typeface="Arial"/>
            </a:endParaRPr>
          </a:p>
        </p:txBody>
      </p:sp>
      <p:sp>
        <p:nvSpPr>
          <p:cNvPr id="254" name="Shape 8"/>
          <p:cNvSpPr/>
          <p:nvPr/>
        </p:nvSpPr>
        <p:spPr>
          <a:xfrm>
            <a:off x="704160" y="2496240"/>
            <a:ext cx="2468520" cy="3008160"/>
          </a:xfrm>
          <a:prstGeom prst="roundRect">
            <a:avLst>
              <a:gd name="adj" fmla="val 4444"/>
            </a:avLst>
          </a:prstGeom>
          <a:solidFill>
            <a:srgbClr val="bcf58a"/>
          </a:solidFill>
          <a:ln w="12700">
            <a:solidFill>
              <a:srgbClr val="bcf58a"/>
            </a:solidFill>
            <a:round/>
          </a:ln>
        </p:spPr>
        <p:style>
          <a:lnRef idx="0"/>
          <a:fillRef idx="0"/>
          <a:effectRef idx="0"/>
          <a:fontRef idx="minor"/>
        </p:style>
      </p:sp>
      <p:sp>
        <p:nvSpPr>
          <p:cNvPr id="255" name="Shape 9"/>
          <p:cNvSpPr/>
          <p:nvPr/>
        </p:nvSpPr>
        <p:spPr>
          <a:xfrm>
            <a:off x="1671480" y="2909880"/>
            <a:ext cx="524520" cy="683640"/>
          </a:xfrm>
          <a:prstGeom prst="roundRect">
            <a:avLst>
              <a:gd name="adj" fmla="val 20899"/>
            </a:avLst>
          </a:prstGeom>
          <a:solidFill>
            <a:srgbClr val="bcf58a"/>
          </a:solidFill>
          <a:ln w="25400">
            <a:solidFill>
              <a:srgbClr val="10243a"/>
            </a:solidFill>
            <a:round/>
          </a:ln>
        </p:spPr>
        <p:style>
          <a:lnRef idx="0"/>
          <a:fillRef idx="0"/>
          <a:effectRef idx="0"/>
          <a:fontRef idx="minor"/>
        </p:style>
      </p:sp>
      <p:sp>
        <p:nvSpPr>
          <p:cNvPr id="256" name="Shape 10"/>
          <p:cNvSpPr/>
          <p:nvPr/>
        </p:nvSpPr>
        <p:spPr>
          <a:xfrm>
            <a:off x="1782720" y="3100680"/>
            <a:ext cx="294120" cy="360"/>
          </a:xfrm>
          <a:prstGeom prst="line">
            <a:avLst/>
          </a:prstGeom>
          <a:ln w="25400">
            <a:solidFill>
              <a:srgbClr val="10243a"/>
            </a:solidFill>
            <a:round/>
          </a:ln>
        </p:spPr>
        <p:style>
          <a:lnRef idx="0"/>
          <a:fillRef idx="0"/>
          <a:effectRef idx="0"/>
          <a:fontRef idx="minor"/>
        </p:style>
      </p:sp>
      <p:sp>
        <p:nvSpPr>
          <p:cNvPr id="257" name="Shape 11"/>
          <p:cNvSpPr/>
          <p:nvPr/>
        </p:nvSpPr>
        <p:spPr>
          <a:xfrm>
            <a:off x="1782720" y="3251880"/>
            <a:ext cx="294120" cy="360"/>
          </a:xfrm>
          <a:prstGeom prst="line">
            <a:avLst/>
          </a:prstGeom>
          <a:ln w="25400">
            <a:solidFill>
              <a:srgbClr val="10243a"/>
            </a:solidFill>
            <a:round/>
          </a:ln>
        </p:spPr>
        <p:style>
          <a:lnRef idx="0"/>
          <a:fillRef idx="0"/>
          <a:effectRef idx="0"/>
          <a:fontRef idx="minor"/>
        </p:style>
      </p:sp>
      <p:sp>
        <p:nvSpPr>
          <p:cNvPr id="258" name="Shape 12"/>
          <p:cNvSpPr/>
          <p:nvPr/>
        </p:nvSpPr>
        <p:spPr>
          <a:xfrm>
            <a:off x="1782720" y="3402720"/>
            <a:ext cx="294120" cy="360"/>
          </a:xfrm>
          <a:prstGeom prst="line">
            <a:avLst/>
          </a:prstGeom>
          <a:ln w="25400">
            <a:solidFill>
              <a:srgbClr val="10243a"/>
            </a:solidFill>
            <a:round/>
          </a:ln>
        </p:spPr>
        <p:style>
          <a:lnRef idx="0"/>
          <a:fillRef idx="0"/>
          <a:effectRef idx="0"/>
          <a:fontRef idx="minor"/>
        </p:style>
      </p:sp>
      <p:sp>
        <p:nvSpPr>
          <p:cNvPr id="259" name="Text 13"/>
          <p:cNvSpPr/>
          <p:nvPr/>
        </p:nvSpPr>
        <p:spPr>
          <a:xfrm>
            <a:off x="859680" y="4032360"/>
            <a:ext cx="2157480" cy="35640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2200" spc="-1" strike="noStrike">
                <a:solidFill>
                  <a:srgbClr val="10243a"/>
                </a:solidFill>
                <a:latin typeface="Arial"/>
                <a:ea typeface="Arial"/>
              </a:rPr>
              <a:t>Training</a:t>
            </a:r>
            <a:endParaRPr b="0" lang="en-US" sz="2200" spc="-1" strike="noStrike">
              <a:latin typeface="Arial"/>
            </a:endParaRPr>
          </a:p>
        </p:txBody>
      </p:sp>
      <p:sp>
        <p:nvSpPr>
          <p:cNvPr id="260" name="Text 14"/>
          <p:cNvSpPr/>
          <p:nvPr/>
        </p:nvSpPr>
        <p:spPr>
          <a:xfrm>
            <a:off x="822960" y="4608720"/>
            <a:ext cx="2230920" cy="63072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0" lang="en-US" sz="1700" spc="-1" strike="noStrike">
                <a:solidFill>
                  <a:srgbClr val="10243a"/>
                </a:solidFill>
                <a:latin typeface="Arial"/>
                <a:ea typeface="Arial"/>
              </a:rPr>
              <a:t>Confirm</a:t>
            </a:r>
            <a:endParaRPr b="0" lang="en-US" sz="1700" spc="-1" strike="noStrike">
              <a:latin typeface="Arial"/>
            </a:endParaRPr>
          </a:p>
          <a:p>
            <a:pPr algn="ctr">
              <a:lnSpc>
                <a:spcPct val="100000"/>
              </a:lnSpc>
              <a:buNone/>
              <a:tabLst>
                <a:tab algn="l" pos="0"/>
              </a:tabLst>
            </a:pPr>
            <a:r>
              <a:rPr b="0" lang="en-US" sz="1700" spc="-1" strike="noStrike">
                <a:solidFill>
                  <a:srgbClr val="10243a"/>
                </a:solidFill>
                <a:latin typeface="Arial"/>
                <a:ea typeface="Arial"/>
              </a:rPr>
              <a:t>submission</a:t>
            </a:r>
            <a:endParaRPr b="0" lang="en-US" sz="1700" spc="-1" strike="noStrike">
              <a:latin typeface="Arial"/>
            </a:endParaRPr>
          </a:p>
        </p:txBody>
      </p:sp>
      <p:sp>
        <p:nvSpPr>
          <p:cNvPr id="261" name="Shape 15"/>
          <p:cNvSpPr/>
          <p:nvPr/>
        </p:nvSpPr>
        <p:spPr>
          <a:xfrm>
            <a:off x="3474720" y="2496240"/>
            <a:ext cx="2468520" cy="3008160"/>
          </a:xfrm>
          <a:prstGeom prst="roundRect">
            <a:avLst>
              <a:gd name="adj" fmla="val 4444"/>
            </a:avLst>
          </a:prstGeom>
          <a:solidFill>
            <a:srgbClr val="17354a"/>
          </a:solidFill>
          <a:ln w="12700">
            <a:solidFill>
              <a:srgbClr val="335368"/>
            </a:solidFill>
            <a:round/>
          </a:ln>
        </p:spPr>
        <p:style>
          <a:lnRef idx="0"/>
          <a:fillRef idx="0"/>
          <a:effectRef idx="0"/>
          <a:fontRef idx="minor"/>
        </p:style>
      </p:sp>
      <p:sp>
        <p:nvSpPr>
          <p:cNvPr id="262" name="Shape 16"/>
          <p:cNvSpPr/>
          <p:nvPr/>
        </p:nvSpPr>
        <p:spPr>
          <a:xfrm flipV="1">
            <a:off x="4362480" y="2909520"/>
            <a:ext cx="342000" cy="183240"/>
          </a:xfrm>
          <a:prstGeom prst="line">
            <a:avLst/>
          </a:prstGeom>
          <a:ln w="25400">
            <a:solidFill>
              <a:srgbClr val="bcf58a"/>
            </a:solidFill>
            <a:round/>
          </a:ln>
        </p:spPr>
        <p:style>
          <a:lnRef idx="0"/>
          <a:fillRef idx="0"/>
          <a:effectRef idx="0"/>
          <a:fontRef idx="minor"/>
        </p:style>
      </p:sp>
      <p:sp>
        <p:nvSpPr>
          <p:cNvPr id="263" name="Shape 17"/>
          <p:cNvSpPr/>
          <p:nvPr/>
        </p:nvSpPr>
        <p:spPr>
          <a:xfrm>
            <a:off x="4704480" y="2909520"/>
            <a:ext cx="342000" cy="183240"/>
          </a:xfrm>
          <a:prstGeom prst="line">
            <a:avLst/>
          </a:prstGeom>
          <a:ln w="25400">
            <a:solidFill>
              <a:srgbClr val="bcf58a"/>
            </a:solidFill>
            <a:round/>
          </a:ln>
        </p:spPr>
        <p:style>
          <a:lnRef idx="0"/>
          <a:fillRef idx="0"/>
          <a:effectRef idx="0"/>
          <a:fontRef idx="minor"/>
        </p:style>
      </p:sp>
      <p:sp>
        <p:nvSpPr>
          <p:cNvPr id="264" name="Shape 18"/>
          <p:cNvSpPr/>
          <p:nvPr/>
        </p:nvSpPr>
        <p:spPr>
          <a:xfrm>
            <a:off x="4362480" y="3116520"/>
            <a:ext cx="684000" cy="360"/>
          </a:xfrm>
          <a:prstGeom prst="line">
            <a:avLst/>
          </a:prstGeom>
          <a:ln w="25400">
            <a:solidFill>
              <a:srgbClr val="bcf58a"/>
            </a:solidFill>
            <a:round/>
          </a:ln>
        </p:spPr>
        <p:style>
          <a:lnRef idx="0"/>
          <a:fillRef idx="0"/>
          <a:effectRef idx="0"/>
          <a:fontRef idx="minor"/>
        </p:style>
      </p:sp>
      <p:sp>
        <p:nvSpPr>
          <p:cNvPr id="265" name="Shape 19"/>
          <p:cNvSpPr/>
          <p:nvPr/>
        </p:nvSpPr>
        <p:spPr>
          <a:xfrm>
            <a:off x="4481640" y="3180240"/>
            <a:ext cx="360" cy="318240"/>
          </a:xfrm>
          <a:prstGeom prst="line">
            <a:avLst/>
          </a:prstGeom>
          <a:ln w="25400">
            <a:solidFill>
              <a:srgbClr val="bcf58a"/>
            </a:solidFill>
            <a:round/>
          </a:ln>
        </p:spPr>
        <p:style>
          <a:lnRef idx="0"/>
          <a:fillRef idx="0"/>
          <a:effectRef idx="0"/>
          <a:fontRef idx="minor"/>
        </p:style>
      </p:sp>
      <p:sp>
        <p:nvSpPr>
          <p:cNvPr id="266" name="Shape 20"/>
          <p:cNvSpPr/>
          <p:nvPr/>
        </p:nvSpPr>
        <p:spPr>
          <a:xfrm>
            <a:off x="4704480" y="3180240"/>
            <a:ext cx="360" cy="318240"/>
          </a:xfrm>
          <a:prstGeom prst="line">
            <a:avLst/>
          </a:prstGeom>
          <a:ln w="25400">
            <a:solidFill>
              <a:srgbClr val="bcf58a"/>
            </a:solidFill>
            <a:round/>
          </a:ln>
        </p:spPr>
        <p:style>
          <a:lnRef idx="0"/>
          <a:fillRef idx="0"/>
          <a:effectRef idx="0"/>
          <a:fontRef idx="minor"/>
        </p:style>
      </p:sp>
      <p:sp>
        <p:nvSpPr>
          <p:cNvPr id="267" name="Shape 21"/>
          <p:cNvSpPr/>
          <p:nvPr/>
        </p:nvSpPr>
        <p:spPr>
          <a:xfrm>
            <a:off x="4927320" y="3180240"/>
            <a:ext cx="360" cy="318240"/>
          </a:xfrm>
          <a:prstGeom prst="line">
            <a:avLst/>
          </a:prstGeom>
          <a:ln w="25400">
            <a:solidFill>
              <a:srgbClr val="bcf58a"/>
            </a:solidFill>
            <a:round/>
          </a:ln>
        </p:spPr>
        <p:style>
          <a:lnRef idx="0"/>
          <a:fillRef idx="0"/>
          <a:effectRef idx="0"/>
          <a:fontRef idx="minor"/>
        </p:style>
      </p:sp>
      <p:sp>
        <p:nvSpPr>
          <p:cNvPr id="268" name="Shape 22"/>
          <p:cNvSpPr/>
          <p:nvPr/>
        </p:nvSpPr>
        <p:spPr>
          <a:xfrm>
            <a:off x="4354200" y="3578040"/>
            <a:ext cx="700200" cy="360"/>
          </a:xfrm>
          <a:prstGeom prst="line">
            <a:avLst/>
          </a:prstGeom>
          <a:ln w="25400">
            <a:solidFill>
              <a:srgbClr val="bcf58a"/>
            </a:solidFill>
            <a:round/>
          </a:ln>
        </p:spPr>
        <p:style>
          <a:lnRef idx="0"/>
          <a:fillRef idx="0"/>
          <a:effectRef idx="0"/>
          <a:fontRef idx="minor"/>
        </p:style>
      </p:sp>
      <p:sp>
        <p:nvSpPr>
          <p:cNvPr id="269" name="Shape 23"/>
          <p:cNvSpPr/>
          <p:nvPr/>
        </p:nvSpPr>
        <p:spPr>
          <a:xfrm>
            <a:off x="4417920" y="3514320"/>
            <a:ext cx="572760" cy="360"/>
          </a:xfrm>
          <a:prstGeom prst="line">
            <a:avLst/>
          </a:prstGeom>
          <a:ln w="25400">
            <a:solidFill>
              <a:srgbClr val="bcf58a"/>
            </a:solidFill>
            <a:round/>
          </a:ln>
        </p:spPr>
        <p:style>
          <a:lnRef idx="0"/>
          <a:fillRef idx="0"/>
          <a:effectRef idx="0"/>
          <a:fontRef idx="minor"/>
        </p:style>
      </p:sp>
      <p:sp>
        <p:nvSpPr>
          <p:cNvPr id="270" name="Text 24"/>
          <p:cNvSpPr/>
          <p:nvPr/>
        </p:nvSpPr>
        <p:spPr>
          <a:xfrm>
            <a:off x="3630240" y="4032360"/>
            <a:ext cx="2157480" cy="35640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2200" spc="-1" strike="noStrike">
                <a:solidFill>
                  <a:srgbClr val="ffffff"/>
                </a:solidFill>
                <a:latin typeface="Arial"/>
                <a:ea typeface="Arial"/>
              </a:rPr>
              <a:t>Finance</a:t>
            </a:r>
            <a:endParaRPr b="0" lang="en-US" sz="2200" spc="-1" strike="noStrike">
              <a:latin typeface="Arial"/>
            </a:endParaRPr>
          </a:p>
        </p:txBody>
      </p:sp>
      <p:sp>
        <p:nvSpPr>
          <p:cNvPr id="271" name="Text 25"/>
          <p:cNvSpPr/>
          <p:nvPr/>
        </p:nvSpPr>
        <p:spPr>
          <a:xfrm>
            <a:off x="3593520" y="4608720"/>
            <a:ext cx="2230920" cy="63072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0" lang="en-US" sz="1700" spc="-1" strike="noStrike">
                <a:solidFill>
                  <a:srgbClr val="8ca5b6"/>
                </a:solidFill>
                <a:latin typeface="Arial"/>
                <a:ea typeface="Arial"/>
              </a:rPr>
              <a:t>Release</a:t>
            </a:r>
            <a:endParaRPr b="0" lang="en-US" sz="1700" spc="-1" strike="noStrike">
              <a:latin typeface="Arial"/>
            </a:endParaRPr>
          </a:p>
          <a:p>
            <a:pPr algn="ctr">
              <a:lnSpc>
                <a:spcPct val="100000"/>
              </a:lnSpc>
              <a:buNone/>
              <a:tabLst>
                <a:tab algn="l" pos="0"/>
              </a:tabLst>
            </a:pPr>
            <a:r>
              <a:rPr b="0" lang="en-US" sz="1700" spc="-1" strike="noStrike">
                <a:solidFill>
                  <a:srgbClr val="8ca5b6"/>
                </a:solidFill>
                <a:latin typeface="Arial"/>
                <a:ea typeface="Arial"/>
              </a:rPr>
              <a:t>payment</a:t>
            </a:r>
            <a:endParaRPr b="0" lang="en-US" sz="1700" spc="-1" strike="noStrike">
              <a:latin typeface="Arial"/>
            </a:endParaRPr>
          </a:p>
        </p:txBody>
      </p:sp>
      <p:sp>
        <p:nvSpPr>
          <p:cNvPr id="272" name="Shape 26"/>
          <p:cNvSpPr/>
          <p:nvPr/>
        </p:nvSpPr>
        <p:spPr>
          <a:xfrm>
            <a:off x="6245280" y="2496240"/>
            <a:ext cx="2468520" cy="3008160"/>
          </a:xfrm>
          <a:prstGeom prst="roundRect">
            <a:avLst>
              <a:gd name="adj" fmla="val 4444"/>
            </a:avLst>
          </a:prstGeom>
          <a:solidFill>
            <a:srgbClr val="17354a"/>
          </a:solidFill>
          <a:ln w="12700">
            <a:solidFill>
              <a:srgbClr val="335368"/>
            </a:solidFill>
            <a:round/>
          </a:ln>
        </p:spPr>
        <p:style>
          <a:lnRef idx="0"/>
          <a:fillRef idx="0"/>
          <a:effectRef idx="0"/>
          <a:fontRef idx="minor"/>
        </p:style>
      </p:sp>
      <p:sp>
        <p:nvSpPr>
          <p:cNvPr id="273" name="Shape 27"/>
          <p:cNvSpPr/>
          <p:nvPr/>
        </p:nvSpPr>
        <p:spPr>
          <a:xfrm flipV="1">
            <a:off x="7300080" y="3036960"/>
            <a:ext cx="360" cy="167040"/>
          </a:xfrm>
          <a:prstGeom prst="line">
            <a:avLst/>
          </a:prstGeom>
          <a:ln w="25400">
            <a:solidFill>
              <a:srgbClr val="bcf58a"/>
            </a:solidFill>
            <a:round/>
          </a:ln>
        </p:spPr>
        <p:style>
          <a:lnRef idx="0"/>
          <a:fillRef idx="0"/>
          <a:effectRef idx="0"/>
          <a:fontRef idx="minor"/>
        </p:style>
      </p:sp>
      <p:sp>
        <p:nvSpPr>
          <p:cNvPr id="274" name="Shape 28"/>
          <p:cNvSpPr/>
          <p:nvPr/>
        </p:nvSpPr>
        <p:spPr>
          <a:xfrm flipV="1">
            <a:off x="7300080" y="2941560"/>
            <a:ext cx="79560" cy="95400"/>
          </a:xfrm>
          <a:prstGeom prst="line">
            <a:avLst/>
          </a:prstGeom>
          <a:ln w="25400">
            <a:solidFill>
              <a:srgbClr val="bcf58a"/>
            </a:solidFill>
            <a:round/>
          </a:ln>
        </p:spPr>
        <p:style>
          <a:lnRef idx="0"/>
          <a:fillRef idx="0"/>
          <a:effectRef idx="0"/>
          <a:fontRef idx="minor"/>
        </p:style>
      </p:sp>
      <p:sp>
        <p:nvSpPr>
          <p:cNvPr id="275" name="Shape 29"/>
          <p:cNvSpPr/>
          <p:nvPr/>
        </p:nvSpPr>
        <p:spPr>
          <a:xfrm>
            <a:off x="7379640" y="2941560"/>
            <a:ext cx="190800" cy="360"/>
          </a:xfrm>
          <a:prstGeom prst="line">
            <a:avLst/>
          </a:prstGeom>
          <a:ln w="25400">
            <a:solidFill>
              <a:srgbClr val="bcf58a"/>
            </a:solidFill>
            <a:round/>
          </a:ln>
        </p:spPr>
        <p:style>
          <a:lnRef idx="0"/>
          <a:fillRef idx="0"/>
          <a:effectRef idx="0"/>
          <a:fontRef idx="minor"/>
        </p:style>
      </p:sp>
      <p:sp>
        <p:nvSpPr>
          <p:cNvPr id="276" name="Shape 30"/>
          <p:cNvSpPr/>
          <p:nvPr/>
        </p:nvSpPr>
        <p:spPr>
          <a:xfrm>
            <a:off x="7570440" y="2941560"/>
            <a:ext cx="79560" cy="95400"/>
          </a:xfrm>
          <a:prstGeom prst="line">
            <a:avLst/>
          </a:prstGeom>
          <a:ln w="25400">
            <a:solidFill>
              <a:srgbClr val="bcf58a"/>
            </a:solidFill>
            <a:round/>
          </a:ln>
        </p:spPr>
        <p:style>
          <a:lnRef idx="0"/>
          <a:fillRef idx="0"/>
          <a:effectRef idx="0"/>
          <a:fontRef idx="minor"/>
        </p:style>
      </p:sp>
      <p:sp>
        <p:nvSpPr>
          <p:cNvPr id="277" name="Shape 31"/>
          <p:cNvSpPr/>
          <p:nvPr/>
        </p:nvSpPr>
        <p:spPr>
          <a:xfrm>
            <a:off x="7650000" y="3036960"/>
            <a:ext cx="360" cy="167040"/>
          </a:xfrm>
          <a:prstGeom prst="line">
            <a:avLst/>
          </a:prstGeom>
          <a:ln w="25400">
            <a:solidFill>
              <a:srgbClr val="bcf58a"/>
            </a:solidFill>
            <a:round/>
          </a:ln>
        </p:spPr>
        <p:style>
          <a:lnRef idx="0"/>
          <a:fillRef idx="0"/>
          <a:effectRef idx="0"/>
          <a:fontRef idx="minor"/>
        </p:style>
      </p:sp>
      <p:sp>
        <p:nvSpPr>
          <p:cNvPr id="278" name="Shape 32"/>
          <p:cNvSpPr/>
          <p:nvPr/>
        </p:nvSpPr>
        <p:spPr>
          <a:xfrm>
            <a:off x="7180920" y="3188160"/>
            <a:ext cx="588240" cy="389520"/>
          </a:xfrm>
          <a:prstGeom prst="roundRect">
            <a:avLst>
              <a:gd name="adj" fmla="val 28149"/>
            </a:avLst>
          </a:prstGeom>
          <a:solidFill>
            <a:srgbClr val="17354a"/>
          </a:solidFill>
          <a:ln w="25400">
            <a:solidFill>
              <a:srgbClr val="bcf58a"/>
            </a:solidFill>
            <a:round/>
          </a:ln>
        </p:spPr>
        <p:style>
          <a:lnRef idx="0"/>
          <a:fillRef idx="0"/>
          <a:effectRef idx="0"/>
          <a:fontRef idx="minor"/>
        </p:style>
      </p:sp>
      <p:sp>
        <p:nvSpPr>
          <p:cNvPr id="279" name="Shape 33"/>
          <p:cNvSpPr/>
          <p:nvPr/>
        </p:nvSpPr>
        <p:spPr>
          <a:xfrm>
            <a:off x="7475040" y="3323160"/>
            <a:ext cx="360" cy="119520"/>
          </a:xfrm>
          <a:prstGeom prst="line">
            <a:avLst/>
          </a:prstGeom>
          <a:ln w="25400">
            <a:solidFill>
              <a:srgbClr val="bcf58a"/>
            </a:solidFill>
            <a:round/>
          </a:ln>
        </p:spPr>
        <p:style>
          <a:lnRef idx="0"/>
          <a:fillRef idx="0"/>
          <a:effectRef idx="0"/>
          <a:fontRef idx="minor"/>
        </p:style>
      </p:sp>
      <p:sp>
        <p:nvSpPr>
          <p:cNvPr id="280" name="Text 34"/>
          <p:cNvSpPr/>
          <p:nvPr/>
        </p:nvSpPr>
        <p:spPr>
          <a:xfrm>
            <a:off x="6400800" y="4032360"/>
            <a:ext cx="2157480" cy="35640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2200" spc="-1" strike="noStrike">
                <a:solidFill>
                  <a:srgbClr val="ffffff"/>
                </a:solidFill>
                <a:latin typeface="Arial"/>
                <a:ea typeface="Arial"/>
              </a:rPr>
              <a:t>Access</a:t>
            </a:r>
            <a:endParaRPr b="0" lang="en-US" sz="2200" spc="-1" strike="noStrike">
              <a:latin typeface="Arial"/>
            </a:endParaRPr>
          </a:p>
        </p:txBody>
      </p:sp>
      <p:sp>
        <p:nvSpPr>
          <p:cNvPr id="281" name="Text 35"/>
          <p:cNvSpPr/>
          <p:nvPr/>
        </p:nvSpPr>
        <p:spPr>
          <a:xfrm>
            <a:off x="6364080" y="4608720"/>
            <a:ext cx="2230920" cy="63072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0" lang="en-US" sz="1700" spc="-1" strike="noStrike">
                <a:solidFill>
                  <a:srgbClr val="8ca5b6"/>
                </a:solidFill>
                <a:latin typeface="Arial"/>
                <a:ea typeface="Arial"/>
              </a:rPr>
              <a:t>Grant</a:t>
            </a:r>
            <a:endParaRPr b="0" lang="en-US" sz="1700" spc="-1" strike="noStrike">
              <a:latin typeface="Arial"/>
            </a:endParaRPr>
          </a:p>
          <a:p>
            <a:pPr algn="ctr">
              <a:lnSpc>
                <a:spcPct val="100000"/>
              </a:lnSpc>
              <a:buNone/>
              <a:tabLst>
                <a:tab algn="l" pos="0"/>
              </a:tabLst>
            </a:pPr>
            <a:r>
              <a:rPr b="0" lang="en-US" sz="1700" spc="-1" strike="noStrike">
                <a:solidFill>
                  <a:srgbClr val="8ca5b6"/>
                </a:solidFill>
                <a:latin typeface="Arial"/>
                <a:ea typeface="Arial"/>
              </a:rPr>
              <a:t>privilege</a:t>
            </a:r>
            <a:endParaRPr b="0" lang="en-US" sz="1700" spc="-1" strike="noStrike">
              <a:latin typeface="Arial"/>
            </a:endParaRPr>
          </a:p>
        </p:txBody>
      </p:sp>
      <p:sp>
        <p:nvSpPr>
          <p:cNvPr id="282" name="Shape 36"/>
          <p:cNvSpPr/>
          <p:nvPr/>
        </p:nvSpPr>
        <p:spPr>
          <a:xfrm>
            <a:off x="9015840" y="2496240"/>
            <a:ext cx="2468520" cy="3008160"/>
          </a:xfrm>
          <a:prstGeom prst="roundRect">
            <a:avLst>
              <a:gd name="adj" fmla="val 4444"/>
            </a:avLst>
          </a:prstGeom>
          <a:solidFill>
            <a:srgbClr val="17354a"/>
          </a:solidFill>
          <a:ln w="12700">
            <a:solidFill>
              <a:srgbClr val="335368"/>
            </a:solidFill>
            <a:round/>
          </a:ln>
        </p:spPr>
        <p:style>
          <a:lnRef idx="0"/>
          <a:fillRef idx="0"/>
          <a:effectRef idx="0"/>
          <a:fontRef idx="minor"/>
        </p:style>
      </p:sp>
      <p:sp>
        <p:nvSpPr>
          <p:cNvPr id="283" name="Shape 37"/>
          <p:cNvSpPr/>
          <p:nvPr/>
        </p:nvSpPr>
        <p:spPr>
          <a:xfrm>
            <a:off x="9911880" y="2957400"/>
            <a:ext cx="667800" cy="230400"/>
          </a:xfrm>
          <a:prstGeom prst="roundRect">
            <a:avLst>
              <a:gd name="adj" fmla="val 47562"/>
            </a:avLst>
          </a:prstGeom>
          <a:solidFill>
            <a:srgbClr val="17354a"/>
          </a:solidFill>
          <a:ln w="25400">
            <a:solidFill>
              <a:srgbClr val="bcf58a"/>
            </a:solidFill>
            <a:round/>
          </a:ln>
        </p:spPr>
        <p:style>
          <a:lnRef idx="0"/>
          <a:fillRef idx="0"/>
          <a:effectRef idx="0"/>
          <a:fontRef idx="minor"/>
        </p:style>
      </p:sp>
      <p:sp>
        <p:nvSpPr>
          <p:cNvPr id="284" name="Shape 38"/>
          <p:cNvSpPr/>
          <p:nvPr/>
        </p:nvSpPr>
        <p:spPr>
          <a:xfrm>
            <a:off x="10022760" y="3072600"/>
            <a:ext cx="32040" cy="360"/>
          </a:xfrm>
          <a:prstGeom prst="line">
            <a:avLst/>
          </a:prstGeom>
          <a:ln w="38100">
            <a:solidFill>
              <a:srgbClr val="bcf58a"/>
            </a:solidFill>
            <a:round/>
          </a:ln>
        </p:spPr>
        <p:style>
          <a:lnRef idx="0"/>
          <a:fillRef idx="0"/>
          <a:effectRef idx="0"/>
          <a:fontRef idx="minor"/>
        </p:style>
      </p:sp>
      <p:sp>
        <p:nvSpPr>
          <p:cNvPr id="285" name="Shape 39"/>
          <p:cNvSpPr/>
          <p:nvPr/>
        </p:nvSpPr>
        <p:spPr>
          <a:xfrm>
            <a:off x="10173960" y="3072600"/>
            <a:ext cx="286560" cy="360"/>
          </a:xfrm>
          <a:prstGeom prst="line">
            <a:avLst/>
          </a:prstGeom>
          <a:ln w="25400">
            <a:solidFill>
              <a:srgbClr val="bcf58a"/>
            </a:solidFill>
            <a:round/>
          </a:ln>
        </p:spPr>
        <p:style>
          <a:lnRef idx="0"/>
          <a:fillRef idx="0"/>
          <a:effectRef idx="0"/>
          <a:fontRef idx="minor"/>
        </p:style>
      </p:sp>
      <p:sp>
        <p:nvSpPr>
          <p:cNvPr id="286" name="Shape 40"/>
          <p:cNvSpPr/>
          <p:nvPr/>
        </p:nvSpPr>
        <p:spPr>
          <a:xfrm>
            <a:off x="9911880" y="3315600"/>
            <a:ext cx="667800" cy="230400"/>
          </a:xfrm>
          <a:prstGeom prst="roundRect">
            <a:avLst>
              <a:gd name="adj" fmla="val 47562"/>
            </a:avLst>
          </a:prstGeom>
          <a:solidFill>
            <a:srgbClr val="17354a"/>
          </a:solidFill>
          <a:ln w="25400">
            <a:solidFill>
              <a:srgbClr val="bcf58a"/>
            </a:solidFill>
            <a:round/>
          </a:ln>
        </p:spPr>
        <p:style>
          <a:lnRef idx="0"/>
          <a:fillRef idx="0"/>
          <a:effectRef idx="0"/>
          <a:fontRef idx="minor"/>
        </p:style>
      </p:sp>
      <p:sp>
        <p:nvSpPr>
          <p:cNvPr id="287" name="Shape 41"/>
          <p:cNvSpPr/>
          <p:nvPr/>
        </p:nvSpPr>
        <p:spPr>
          <a:xfrm>
            <a:off x="10022760" y="3430800"/>
            <a:ext cx="32040" cy="360"/>
          </a:xfrm>
          <a:prstGeom prst="line">
            <a:avLst/>
          </a:prstGeom>
          <a:ln w="38100">
            <a:solidFill>
              <a:srgbClr val="bcf58a"/>
            </a:solidFill>
            <a:round/>
          </a:ln>
        </p:spPr>
        <p:style>
          <a:lnRef idx="0"/>
          <a:fillRef idx="0"/>
          <a:effectRef idx="0"/>
          <a:fontRef idx="minor"/>
        </p:style>
      </p:sp>
      <p:sp>
        <p:nvSpPr>
          <p:cNvPr id="288" name="Shape 42"/>
          <p:cNvSpPr/>
          <p:nvPr/>
        </p:nvSpPr>
        <p:spPr>
          <a:xfrm>
            <a:off x="10173960" y="3430800"/>
            <a:ext cx="286560" cy="360"/>
          </a:xfrm>
          <a:prstGeom prst="line">
            <a:avLst/>
          </a:prstGeom>
          <a:ln w="25400">
            <a:solidFill>
              <a:srgbClr val="bcf58a"/>
            </a:solidFill>
            <a:round/>
          </a:ln>
        </p:spPr>
        <p:style>
          <a:lnRef idx="0"/>
          <a:fillRef idx="0"/>
          <a:effectRef idx="0"/>
          <a:fontRef idx="minor"/>
        </p:style>
      </p:sp>
      <p:sp>
        <p:nvSpPr>
          <p:cNvPr id="289" name="Text 43"/>
          <p:cNvSpPr/>
          <p:nvPr/>
        </p:nvSpPr>
        <p:spPr>
          <a:xfrm>
            <a:off x="9171360" y="4032360"/>
            <a:ext cx="2157480" cy="35640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2200" spc="-1" strike="noStrike">
                <a:solidFill>
                  <a:srgbClr val="ffffff"/>
                </a:solidFill>
                <a:latin typeface="Arial"/>
                <a:ea typeface="Arial"/>
              </a:rPr>
              <a:t>Operations</a:t>
            </a:r>
            <a:endParaRPr b="0" lang="en-US" sz="2200" spc="-1" strike="noStrike">
              <a:latin typeface="Arial"/>
            </a:endParaRPr>
          </a:p>
        </p:txBody>
      </p:sp>
      <p:sp>
        <p:nvSpPr>
          <p:cNvPr id="290" name="Text 44"/>
          <p:cNvSpPr/>
          <p:nvPr/>
        </p:nvSpPr>
        <p:spPr>
          <a:xfrm>
            <a:off x="9135000" y="4608720"/>
            <a:ext cx="2230920" cy="63072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0" lang="en-US" sz="1700" spc="-1" strike="noStrike">
                <a:solidFill>
                  <a:srgbClr val="8ca5b6"/>
                </a:solidFill>
                <a:latin typeface="Arial"/>
                <a:ea typeface="Arial"/>
              </a:rPr>
              <a:t>Authorize</a:t>
            </a:r>
            <a:endParaRPr b="0" lang="en-US" sz="1700" spc="-1" strike="noStrike">
              <a:latin typeface="Arial"/>
            </a:endParaRPr>
          </a:p>
          <a:p>
            <a:pPr algn="ctr">
              <a:lnSpc>
                <a:spcPct val="100000"/>
              </a:lnSpc>
              <a:buNone/>
              <a:tabLst>
                <a:tab algn="l" pos="0"/>
              </a:tabLst>
            </a:pPr>
            <a:r>
              <a:rPr b="0" lang="en-US" sz="1700" spc="-1" strike="noStrike">
                <a:solidFill>
                  <a:srgbClr val="8ca5b6"/>
                </a:solidFill>
                <a:latin typeface="Arial"/>
                <a:ea typeface="Arial"/>
              </a:rPr>
              <a:t>production change</a:t>
            </a:r>
            <a:endParaRPr b="0" lang="en-US" sz="1700" spc="-1" strike="noStrike">
              <a:latin typeface="Arial"/>
            </a:endParaRPr>
          </a:p>
        </p:txBody>
      </p:sp>
      <p:sp>
        <p:nvSpPr>
          <p:cNvPr id="291" name="Text 45"/>
          <p:cNvSpPr/>
          <p:nvPr/>
        </p:nvSpPr>
        <p:spPr>
          <a:xfrm>
            <a:off x="713160" y="5961960"/>
            <a:ext cx="10789560" cy="2649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1900" spc="-1" strike="noStrike">
                <a:solidFill>
                  <a:srgbClr val="ffffff"/>
                </a:solidFill>
                <a:latin typeface="Arial"/>
                <a:ea typeface="Arial"/>
              </a:rPr>
              <a:t>Same checkpoint. Higher stakes.</a:t>
            </a:r>
            <a:endParaRPr b="0" lang="en-US" sz="1900" spc="-1" strike="noStrike">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0243a"/>
        </a:solidFill>
      </p:bgPr>
    </p:bg>
    <p:spTree>
      <p:nvGrpSpPr>
        <p:cNvPr id="1" name=""/>
        <p:cNvGrpSpPr/>
        <p:nvPr/>
      </p:nvGrpSpPr>
      <p:grpSpPr>
        <a:xfrm>
          <a:off x="0" y="0"/>
          <a:ext cx="0" cy="0"/>
          <a:chOff x="0" y="0"/>
          <a:chExt cx="0" cy="0"/>
        </a:xfrm>
      </p:grpSpPr>
      <p:sp>
        <p:nvSpPr>
          <p:cNvPr id="292" name="Text 0"/>
          <p:cNvSpPr/>
          <p:nvPr/>
        </p:nvSpPr>
        <p:spPr>
          <a:xfrm>
            <a:off x="658440" y="384120"/>
            <a:ext cx="7772040" cy="20088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150" spc="117" strike="noStrike">
                <a:solidFill>
                  <a:srgbClr val="bcf58a"/>
                </a:solidFill>
                <a:latin typeface="Arial"/>
                <a:ea typeface="Arial"/>
              </a:rPr>
              <a:t>NOW WHAT / YOUR FIRST COUNTERSIGN</a:t>
            </a:r>
            <a:endParaRPr b="0" lang="en-US" sz="1150" spc="-1" strike="noStrike">
              <a:latin typeface="Arial"/>
            </a:endParaRPr>
          </a:p>
        </p:txBody>
      </p:sp>
      <p:sp>
        <p:nvSpPr>
          <p:cNvPr id="293" name="Text 1"/>
          <p:cNvSpPr/>
          <p:nvPr/>
        </p:nvSpPr>
        <p:spPr>
          <a:xfrm>
            <a:off x="9464040" y="365760"/>
            <a:ext cx="2075400" cy="255600"/>
          </a:xfrm>
          <a:prstGeom prst="rect">
            <a:avLst/>
          </a:prstGeom>
          <a:noFill/>
          <a:ln w="0">
            <a:noFill/>
          </a:ln>
        </p:spPr>
        <p:style>
          <a:lnRef idx="0"/>
          <a:fillRef idx="0"/>
          <a:effectRef idx="0"/>
          <a:fontRef idx="minor"/>
        </p:style>
        <p:txBody>
          <a:bodyPr lIns="0" rIns="0" tIns="0" bIns="0" anchor="ctr">
            <a:noAutofit/>
          </a:bodyPr>
          <a:p>
            <a:pPr algn="r">
              <a:lnSpc>
                <a:spcPct val="100000"/>
              </a:lnSpc>
              <a:buNone/>
              <a:tabLst>
                <a:tab algn="l" pos="0"/>
              </a:tabLst>
            </a:pPr>
            <a:r>
              <a:rPr b="1" lang="en-US" sz="1500" spc="-1" strike="noStrike">
                <a:solidFill>
                  <a:srgbClr val="ffffff"/>
                </a:solidFill>
                <a:latin typeface="Arial"/>
                <a:ea typeface="Arial"/>
              </a:rPr>
              <a:t>countersign.</a:t>
            </a:r>
            <a:endParaRPr b="0" lang="en-US" sz="1500" spc="-1" strike="noStrike">
              <a:latin typeface="Arial"/>
            </a:endParaRPr>
          </a:p>
        </p:txBody>
      </p:sp>
      <p:sp>
        <p:nvSpPr>
          <p:cNvPr id="294" name="Shape 2"/>
          <p:cNvSpPr/>
          <p:nvPr/>
        </p:nvSpPr>
        <p:spPr>
          <a:xfrm>
            <a:off x="658080" y="6437160"/>
            <a:ext cx="10872360" cy="360"/>
          </a:xfrm>
          <a:prstGeom prst="line">
            <a:avLst/>
          </a:prstGeom>
          <a:ln w="8890">
            <a:solidFill>
              <a:srgbClr val="2d485a"/>
            </a:solidFill>
            <a:round/>
          </a:ln>
        </p:spPr>
        <p:style>
          <a:lnRef idx="0"/>
          <a:fillRef idx="0"/>
          <a:effectRef idx="0"/>
          <a:fontRef idx="minor"/>
        </p:style>
      </p:sp>
      <p:sp>
        <p:nvSpPr>
          <p:cNvPr id="295" name="Text 3"/>
          <p:cNvSpPr/>
          <p:nvPr/>
        </p:nvSpPr>
        <p:spPr>
          <a:xfrm>
            <a:off x="676800" y="6537960"/>
            <a:ext cx="8412120" cy="1458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850" spc="109" strike="noStrike">
                <a:solidFill>
                  <a:srgbClr val="8ca5b6"/>
                </a:solidFill>
                <a:latin typeface="Arial"/>
                <a:ea typeface="Arial"/>
              </a:rPr>
              <a:t>HUMAN VERIFICATION FOR WEB APPS</a:t>
            </a:r>
            <a:endParaRPr b="0" lang="en-US" sz="850" spc="-1" strike="noStrike">
              <a:latin typeface="Arial"/>
            </a:endParaRPr>
          </a:p>
        </p:txBody>
      </p:sp>
      <p:sp>
        <p:nvSpPr>
          <p:cNvPr id="296" name="Text 4"/>
          <p:cNvSpPr/>
          <p:nvPr/>
        </p:nvSpPr>
        <p:spPr>
          <a:xfrm>
            <a:off x="11027520" y="6519600"/>
            <a:ext cx="475200" cy="182520"/>
          </a:xfrm>
          <a:prstGeom prst="rect">
            <a:avLst/>
          </a:prstGeom>
          <a:noFill/>
          <a:ln w="0">
            <a:noFill/>
          </a:ln>
        </p:spPr>
        <p:style>
          <a:lnRef idx="0"/>
          <a:fillRef idx="0"/>
          <a:effectRef idx="0"/>
          <a:fontRef idx="minor"/>
        </p:style>
        <p:txBody>
          <a:bodyPr lIns="0" rIns="0" tIns="0" bIns="0" anchor="ctr">
            <a:noAutofit/>
          </a:bodyPr>
          <a:p>
            <a:pPr algn="r">
              <a:lnSpc>
                <a:spcPct val="100000"/>
              </a:lnSpc>
              <a:buNone/>
              <a:tabLst>
                <a:tab algn="l" pos="0"/>
              </a:tabLst>
            </a:pPr>
            <a:r>
              <a:rPr b="0" lang="en-US" sz="1000" spc="-1" strike="noStrike">
                <a:solidFill>
                  <a:srgbClr val="8ca5b6"/>
                </a:solidFill>
                <a:latin typeface="Arial"/>
                <a:ea typeface="Arial"/>
              </a:rPr>
              <a:t>08</a:t>
            </a:r>
            <a:endParaRPr b="0" lang="en-US" sz="1000" spc="-1" strike="noStrike">
              <a:latin typeface="Arial"/>
            </a:endParaRPr>
          </a:p>
        </p:txBody>
      </p:sp>
      <p:sp>
        <p:nvSpPr>
          <p:cNvPr id="297" name="Text 5"/>
          <p:cNvSpPr/>
          <p:nvPr/>
        </p:nvSpPr>
        <p:spPr>
          <a:xfrm>
            <a:off x="694800" y="1271160"/>
            <a:ext cx="8229240" cy="9507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2400" spc="-1" strike="noStrike">
                <a:solidFill>
                  <a:srgbClr val="8ca5b6"/>
                </a:solidFill>
                <a:latin typeface="Arial"/>
                <a:ea typeface="Arial"/>
              </a:rPr>
              <a:t>Which action in your application</a:t>
            </a:r>
            <a:endParaRPr b="0" lang="en-US" sz="2400" spc="-1" strike="noStrike">
              <a:latin typeface="Arial"/>
            </a:endParaRPr>
          </a:p>
          <a:p>
            <a:pPr>
              <a:lnSpc>
                <a:spcPct val="100000"/>
              </a:lnSpc>
              <a:buNone/>
              <a:tabLst>
                <a:tab algn="l" pos="0"/>
              </a:tabLst>
            </a:pPr>
            <a:r>
              <a:rPr b="0" lang="en-US" sz="2400" spc="-1" strike="noStrike">
                <a:solidFill>
                  <a:srgbClr val="8ca5b6"/>
                </a:solidFill>
                <a:latin typeface="Arial"/>
                <a:ea typeface="Arial"/>
              </a:rPr>
              <a:t>needs a human’s confirmation?</a:t>
            </a:r>
            <a:endParaRPr b="0" lang="en-US" sz="2400" spc="-1" strike="noStrike">
              <a:latin typeface="Arial"/>
            </a:endParaRPr>
          </a:p>
        </p:txBody>
      </p:sp>
      <p:sp>
        <p:nvSpPr>
          <p:cNvPr id="298" name="Text 6"/>
          <p:cNvSpPr/>
          <p:nvPr/>
        </p:nvSpPr>
        <p:spPr>
          <a:xfrm>
            <a:off x="676800" y="2853000"/>
            <a:ext cx="8229240" cy="74952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4200" spc="-1" strike="noStrike">
                <a:solidFill>
                  <a:srgbClr val="ffffff"/>
                </a:solidFill>
                <a:latin typeface="Arial"/>
                <a:ea typeface="Arial"/>
              </a:rPr>
              <a:t>Choose one action.</a:t>
            </a:r>
            <a:endParaRPr b="0" lang="en-US" sz="4200" spc="-1" strike="noStrike">
              <a:latin typeface="Arial"/>
            </a:endParaRPr>
          </a:p>
        </p:txBody>
      </p:sp>
      <p:sp>
        <p:nvSpPr>
          <p:cNvPr id="299" name="Text 7"/>
          <p:cNvSpPr/>
          <p:nvPr/>
        </p:nvSpPr>
        <p:spPr>
          <a:xfrm>
            <a:off x="676800" y="3694320"/>
            <a:ext cx="8869320" cy="75852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4200" spc="-1" strike="noStrike">
                <a:solidFill>
                  <a:srgbClr val="bcf58a"/>
                </a:solidFill>
                <a:latin typeface="Arial"/>
                <a:ea typeface="Arial"/>
              </a:rPr>
              <a:t>Require a countersign.</a:t>
            </a:r>
            <a:endParaRPr b="0" lang="en-US" sz="4200" spc="-1" strike="noStrike">
              <a:latin typeface="Arial"/>
            </a:endParaRPr>
          </a:p>
        </p:txBody>
      </p:sp>
      <p:sp>
        <p:nvSpPr>
          <p:cNvPr id="300" name="Shape 8"/>
          <p:cNvSpPr/>
          <p:nvPr/>
        </p:nvSpPr>
        <p:spPr>
          <a:xfrm>
            <a:off x="9153000" y="2322720"/>
            <a:ext cx="2340360" cy="2340360"/>
          </a:xfrm>
          <a:prstGeom prst="ellipse">
            <a:avLst/>
          </a:prstGeom>
          <a:solidFill>
            <a:srgbClr val="17354a"/>
          </a:solidFill>
          <a:ln w="12700">
            <a:solidFill>
              <a:srgbClr val="335368"/>
            </a:solidFill>
            <a:round/>
          </a:ln>
        </p:spPr>
        <p:style>
          <a:lnRef idx="0"/>
          <a:fillRef idx="0"/>
          <a:effectRef idx="0"/>
          <a:fontRef idx="minor"/>
        </p:style>
      </p:sp>
      <p:sp>
        <p:nvSpPr>
          <p:cNvPr id="301" name="Shape 9"/>
          <p:cNvSpPr/>
          <p:nvPr/>
        </p:nvSpPr>
        <p:spPr>
          <a:xfrm>
            <a:off x="10337040" y="2815560"/>
            <a:ext cx="491040" cy="203760"/>
          </a:xfrm>
          <a:prstGeom prst="line">
            <a:avLst/>
          </a:prstGeom>
          <a:ln w="30480">
            <a:solidFill>
              <a:srgbClr val="bcf58a"/>
            </a:solidFill>
            <a:round/>
          </a:ln>
        </p:spPr>
        <p:style>
          <a:lnRef idx="0"/>
          <a:fillRef idx="0"/>
          <a:effectRef idx="0"/>
          <a:fontRef idx="minor"/>
        </p:style>
      </p:sp>
      <p:sp>
        <p:nvSpPr>
          <p:cNvPr id="302" name="Shape 10"/>
          <p:cNvSpPr/>
          <p:nvPr/>
        </p:nvSpPr>
        <p:spPr>
          <a:xfrm flipH="1">
            <a:off x="10768320" y="3019320"/>
            <a:ext cx="59760" cy="550800"/>
          </a:xfrm>
          <a:prstGeom prst="line">
            <a:avLst/>
          </a:prstGeom>
          <a:ln w="30480">
            <a:solidFill>
              <a:srgbClr val="bcf58a"/>
            </a:solidFill>
            <a:round/>
          </a:ln>
        </p:spPr>
        <p:style>
          <a:lnRef idx="0"/>
          <a:fillRef idx="0"/>
          <a:effectRef idx="0"/>
          <a:fontRef idx="minor"/>
        </p:style>
      </p:sp>
      <p:sp>
        <p:nvSpPr>
          <p:cNvPr id="303" name="Shape 11"/>
          <p:cNvSpPr/>
          <p:nvPr/>
        </p:nvSpPr>
        <p:spPr>
          <a:xfrm flipH="1">
            <a:off x="10576800" y="3570120"/>
            <a:ext cx="191520" cy="215640"/>
          </a:xfrm>
          <a:prstGeom prst="line">
            <a:avLst/>
          </a:prstGeom>
          <a:ln w="30480">
            <a:solidFill>
              <a:srgbClr val="bcf58a"/>
            </a:solidFill>
            <a:round/>
          </a:ln>
        </p:spPr>
        <p:style>
          <a:lnRef idx="0"/>
          <a:fillRef idx="0"/>
          <a:effectRef idx="0"/>
          <a:fontRef idx="minor"/>
        </p:style>
      </p:sp>
      <p:sp>
        <p:nvSpPr>
          <p:cNvPr id="304" name="Shape 12"/>
          <p:cNvSpPr/>
          <p:nvPr/>
        </p:nvSpPr>
        <p:spPr>
          <a:xfrm flipH="1">
            <a:off x="10337040" y="3785760"/>
            <a:ext cx="239760" cy="179640"/>
          </a:xfrm>
          <a:prstGeom prst="line">
            <a:avLst/>
          </a:prstGeom>
          <a:ln w="30480">
            <a:solidFill>
              <a:srgbClr val="bcf58a"/>
            </a:solidFill>
            <a:round/>
          </a:ln>
        </p:spPr>
        <p:style>
          <a:lnRef idx="0"/>
          <a:fillRef idx="0"/>
          <a:effectRef idx="0"/>
          <a:fontRef idx="minor"/>
        </p:style>
      </p:sp>
      <p:sp>
        <p:nvSpPr>
          <p:cNvPr id="305" name="Shape 13"/>
          <p:cNvSpPr/>
          <p:nvPr/>
        </p:nvSpPr>
        <p:spPr>
          <a:xfrm flipH="1" flipV="1">
            <a:off x="10097640" y="3785760"/>
            <a:ext cx="239400" cy="179640"/>
          </a:xfrm>
          <a:prstGeom prst="line">
            <a:avLst/>
          </a:prstGeom>
          <a:ln w="30480">
            <a:solidFill>
              <a:srgbClr val="bcf58a"/>
            </a:solidFill>
            <a:round/>
          </a:ln>
        </p:spPr>
        <p:style>
          <a:lnRef idx="0"/>
          <a:fillRef idx="0"/>
          <a:effectRef idx="0"/>
          <a:fontRef idx="minor"/>
        </p:style>
      </p:sp>
      <p:sp>
        <p:nvSpPr>
          <p:cNvPr id="306" name="Shape 14"/>
          <p:cNvSpPr/>
          <p:nvPr/>
        </p:nvSpPr>
        <p:spPr>
          <a:xfrm flipH="1" flipV="1">
            <a:off x="9905760" y="3570120"/>
            <a:ext cx="191880" cy="215640"/>
          </a:xfrm>
          <a:prstGeom prst="line">
            <a:avLst/>
          </a:prstGeom>
          <a:ln w="30480">
            <a:solidFill>
              <a:srgbClr val="bcf58a"/>
            </a:solidFill>
            <a:round/>
          </a:ln>
        </p:spPr>
        <p:style>
          <a:lnRef idx="0"/>
          <a:fillRef idx="0"/>
          <a:effectRef idx="0"/>
          <a:fontRef idx="minor"/>
        </p:style>
      </p:sp>
      <p:sp>
        <p:nvSpPr>
          <p:cNvPr id="307" name="Shape 15"/>
          <p:cNvSpPr/>
          <p:nvPr/>
        </p:nvSpPr>
        <p:spPr>
          <a:xfrm flipH="1" flipV="1">
            <a:off x="9846000" y="3019320"/>
            <a:ext cx="59760" cy="550800"/>
          </a:xfrm>
          <a:prstGeom prst="line">
            <a:avLst/>
          </a:prstGeom>
          <a:ln w="30480">
            <a:solidFill>
              <a:srgbClr val="bcf58a"/>
            </a:solidFill>
            <a:round/>
          </a:ln>
        </p:spPr>
        <p:style>
          <a:lnRef idx="0"/>
          <a:fillRef idx="0"/>
          <a:effectRef idx="0"/>
          <a:fontRef idx="minor"/>
        </p:style>
      </p:sp>
      <p:sp>
        <p:nvSpPr>
          <p:cNvPr id="308" name="Shape 16"/>
          <p:cNvSpPr/>
          <p:nvPr/>
        </p:nvSpPr>
        <p:spPr>
          <a:xfrm flipV="1">
            <a:off x="9846000" y="2815560"/>
            <a:ext cx="491040" cy="203760"/>
          </a:xfrm>
          <a:prstGeom prst="line">
            <a:avLst/>
          </a:prstGeom>
          <a:ln w="30480">
            <a:solidFill>
              <a:srgbClr val="bcf58a"/>
            </a:solidFill>
            <a:round/>
          </a:ln>
        </p:spPr>
        <p:style>
          <a:lnRef idx="0"/>
          <a:fillRef idx="0"/>
          <a:effectRef idx="0"/>
          <a:fontRef idx="minor"/>
        </p:style>
      </p:sp>
      <p:sp>
        <p:nvSpPr>
          <p:cNvPr id="309" name="Shape 17"/>
          <p:cNvSpPr/>
          <p:nvPr/>
        </p:nvSpPr>
        <p:spPr>
          <a:xfrm>
            <a:off x="10097640" y="3390480"/>
            <a:ext cx="179640" cy="191520"/>
          </a:xfrm>
          <a:prstGeom prst="line">
            <a:avLst/>
          </a:prstGeom>
          <a:ln w="33020">
            <a:solidFill>
              <a:srgbClr val="bcf58a"/>
            </a:solidFill>
            <a:round/>
          </a:ln>
        </p:spPr>
        <p:style>
          <a:lnRef idx="0"/>
          <a:fillRef idx="0"/>
          <a:effectRef idx="0"/>
          <a:fontRef idx="minor"/>
        </p:style>
      </p:sp>
      <p:sp>
        <p:nvSpPr>
          <p:cNvPr id="310" name="Shape 18"/>
          <p:cNvSpPr/>
          <p:nvPr/>
        </p:nvSpPr>
        <p:spPr>
          <a:xfrm flipV="1">
            <a:off x="10277280" y="3210840"/>
            <a:ext cx="335520" cy="371160"/>
          </a:xfrm>
          <a:prstGeom prst="line">
            <a:avLst/>
          </a:prstGeom>
          <a:ln w="33020">
            <a:solidFill>
              <a:srgbClr val="bcf58a"/>
            </a:solidFill>
            <a:round/>
          </a:ln>
        </p:spPr>
        <p:style>
          <a:lnRef idx="0"/>
          <a:fillRef idx="0"/>
          <a:effectRef idx="0"/>
          <a:fontRef idx="minor"/>
        </p:style>
      </p:sp>
      <p:sp>
        <p:nvSpPr>
          <p:cNvPr id="311" name="Text 19"/>
          <p:cNvSpPr/>
          <p:nvPr/>
        </p:nvSpPr>
        <p:spPr>
          <a:xfrm>
            <a:off x="722520" y="5815440"/>
            <a:ext cx="10698120" cy="31068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1950" spc="-1" strike="noStrike">
                <a:solidFill>
                  <a:srgbClr val="ffffff"/>
                </a:solidFill>
                <a:latin typeface="Arial"/>
                <a:ea typeface="Arial"/>
              </a:rPr>
              <a:t>AI where it helps. Humans where it matters.</a:t>
            </a:r>
            <a:endParaRPr b="0" lang="en-US" sz="1950" spc="-1" strike="noStrike">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13</TotalTime>
  <Application>LibreOffice/7.3.6.2$Windows_X86_64 LibreOffice_project/c28ca90fd6e1a19e189fc16c05f8f8924961e12e</Application>
  <AppVersion>15.0000</AppVersion>
  <Words>0</Words>
  <Paragraphs>0</Paragraphs>
  <Company>Countersign</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2026-09-17T05:16:06Z</dcterms:created>
  <dc:creator>Countersign team</dc:creator>
  <dc:description/>
  <dc:language>en-US</dc:language>
  <cp:lastModifiedBy/>
  <dcterms:modified xsi:type="dcterms:W3CDTF">2026-09-17T09:59:31Z</dcterms:modified>
  <cp:revision>3</cp:revision>
  <dc:subject>Seven-minute hackathon pitch with three-minute Q&amp;A</dc:subject>
  <dc:title>Countersign — AI where it helps. Humans where it matters.</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8</vt:i4>
  </property>
  <property fmtid="{D5CDD505-2E9C-101B-9397-08002B2CF9AE}" pid="3" name="PresentationFormat">
    <vt:lpwstr>On-screen Show (16:9)</vt:lpwstr>
  </property>
  <property fmtid="{D5CDD505-2E9C-101B-9397-08002B2CF9AE}" pid="4" name="Slides">
    <vt:i4>8</vt:i4>
  </property>
</Properties>
</file>